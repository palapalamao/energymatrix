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08" r:id="rId1"/>
  </p:sldMasterIdLst>
  <p:notesMasterIdLst>
    <p:notesMasterId r:id="rId5"/>
  </p:notesMasterIdLst>
  <p:sldIdLst>
    <p:sldId id="1315" r:id="rId2"/>
    <p:sldId id="1316" r:id="rId3"/>
    <p:sldId id="1317" r:id="rId4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C5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8" autoAdjust="0"/>
    <p:restoredTop sz="96247" autoAdjust="0"/>
  </p:normalViewPr>
  <p:slideViewPr>
    <p:cSldViewPr snapToGrid="0" showGuides="1">
      <p:cViewPr varScale="1">
        <p:scale>
          <a:sx n="122" d="100"/>
          <a:sy n="122" d="100"/>
        </p:scale>
        <p:origin x="21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CED01-ED67-46D9-9682-0293BE4BADA8}" type="datetimeFigureOut">
              <a:rPr lang="en-US" smtClean="0"/>
              <a:t>2026-09-16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796868-164E-47A4-847C-9A8F5C97E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36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DFD1C-C05A-CFF4-E909-9EF37B75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5E44A-F6EC-19E8-3D01-584B80C71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234648-CD74-98BD-262C-1249D6196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F7E50-3CF8-1A87-BFEF-BE7598540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96868-164E-47A4-847C-9A8F5C97EA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119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3BC03-D914-453B-F893-C56C5F888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DCAE68-C0D2-771D-F098-79F2ABD27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781DE-5C45-CC41-2C96-8D2D6767A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5861A-ED3E-C577-B64E-A7DAC2DDD1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96868-164E-47A4-847C-9A8F5C97EA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25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AAFAE-7481-3B50-E936-837B29380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677273-A957-83D9-DEF7-2E4852BA06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6EF265-CB16-4318-6D58-B41DA4553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743A1-0E0F-1E3C-2707-0DE5B72F86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96868-164E-47A4-847C-9A8F5C97EA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04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28838" y="6359568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it-IT"/>
              <a:t>Restricted | © Siemens 2026 | SI B CN Vertical | 2026-10</a:t>
            </a:r>
            <a:endParaRPr lang="en-US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266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A662849-0939-203D-3076-600363E806C7}"/>
              </a:ext>
            </a:extLst>
          </p:cNvPr>
          <p:cNvGraphicFramePr>
            <a:graphicFrameLocks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8121663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4" imgW="306" imgH="306" progId="TCLayout.ActiveDocument.1">
                  <p:embed/>
                </p:oleObj>
              </mc:Choice>
              <mc:Fallback>
                <p:oleObj name="thinkcell Slide" r:id="rId4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62849-0939-203D-3076-600363E806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" descr="Slide headline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" descr="Content text frame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it-IT"/>
              <a:t>Restricted | © Siemens 2026 | SI B CN Vertical | 2026-10</a:t>
            </a:r>
            <a:endParaRPr lang="en-US"/>
          </a:p>
        </p:txBody>
      </p:sp>
      <p:sp>
        <p:nvSpPr>
          <p:cNvPr id="6" name="Slide Number Placeholder" descr="Page numb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black"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79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6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C4F78-EF82-C575-C8C0-919AF0BF5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2FEEE6C-0550-7E83-B678-D22C125DD2F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4" imgW="639" imgH="642" progId="TCLayout.ActiveDocument.1">
                  <p:embed/>
                </p:oleObj>
              </mc:Choice>
              <mc:Fallback>
                <p:oleObj name="thinkcell Slide" r:id="rId4" imgW="639" imgH="642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58E784-9F28-C460-56EF-8504D97901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0281701-FC9D-9815-F4D1-7257E5702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324000"/>
          <a:lstStyle/>
          <a:p>
            <a:r>
              <a:rPr lang="zh-CN" altLang="en-US" dirty="0"/>
              <a:t>医疗行业应用介绍（</a:t>
            </a:r>
            <a:r>
              <a:rPr lang="en-US" altLang="zh-CN" dirty="0"/>
              <a:t>3/4</a:t>
            </a:r>
            <a:r>
              <a:rPr lang="zh-CN" altLang="en-US" dirty="0"/>
              <a:t>）</a:t>
            </a:r>
            <a:r>
              <a:rPr lang="en-US" altLang="zh-CN" dirty="0"/>
              <a:t>— </a:t>
            </a:r>
            <a:r>
              <a:rPr lang="zh-CN" altLang="en-US" dirty="0">
                <a:solidFill>
                  <a:srgbClr val="FF9000"/>
                </a:solidFill>
              </a:rPr>
              <a:t>后勤运维管理平台能源管理功能</a:t>
            </a:r>
            <a:r>
              <a:rPr lang="en-US" dirty="0">
                <a:solidFill>
                  <a:srgbClr val="FF9000"/>
                </a:solidFill>
              </a:rPr>
              <a:t> 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74654A-E2C6-2027-0ED1-BF884858C2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it-IT"/>
              <a:t>Restricted | © Siemens 2026 | SI B CN Vertical | 2026-10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D99A2-DEA3-1F47-3514-6B4001498F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Abgerundetes Rechteck 37">
            <a:extLst>
              <a:ext uri="{FF2B5EF4-FFF2-40B4-BE49-F238E27FC236}">
                <a16:creationId xmlns:a16="http://schemas.microsoft.com/office/drawing/2014/main" id="{1A5430CE-347B-6ACE-D082-8D5601FFCBA9}"/>
              </a:ext>
            </a:extLst>
          </p:cNvPr>
          <p:cNvSpPr>
            <a:spLocks/>
          </p:cNvSpPr>
          <p:nvPr/>
        </p:nvSpPr>
        <p:spPr bwMode="gray">
          <a:xfrm>
            <a:off x="410400" y="1148580"/>
            <a:ext cx="2546346" cy="1664954"/>
          </a:xfrm>
          <a:prstGeom prst="rect">
            <a:avLst/>
          </a:prstGeom>
          <a:solidFill>
            <a:srgbClr val="33335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44" tIns="71963" rIns="107944" bIns="71963" rtlCol="0" anchor="t"/>
          <a:lstStyle/>
          <a:p>
            <a:pPr>
              <a:spcBef>
                <a:spcPts val="300"/>
              </a:spcBef>
            </a:pPr>
            <a:r>
              <a:rPr lang="zh-CN" altLang="en-US" sz="1600" b="1" dirty="0">
                <a:solidFill>
                  <a:srgbClr val="F3F3F0"/>
                </a:solidFill>
                <a:latin typeface="Arial"/>
              </a:rPr>
              <a:t>原先的解决方案</a:t>
            </a:r>
            <a:endParaRPr lang="en-US" sz="1600" b="1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r>
              <a:rPr lang="zh-CN" altLang="en-US" sz="1000" i="1" dirty="0">
                <a:solidFill>
                  <a:srgbClr val="F3F3F0"/>
                </a:solidFill>
                <a:latin typeface="Arial"/>
              </a:rPr>
              <a:t>客户当前如何完成这些需求任务？</a:t>
            </a:r>
            <a:endParaRPr lang="en-US" altLang="zh-CN" sz="1000" i="1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altLang="zh-CN" sz="1000" i="1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199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sz="1199" dirty="0">
              <a:solidFill>
                <a:srgbClr val="F3F3F0"/>
              </a:solidFill>
              <a:latin typeface="Arial"/>
            </a:endParaRPr>
          </a:p>
        </p:txBody>
      </p:sp>
      <p:sp>
        <p:nvSpPr>
          <p:cNvPr id="9" name="Abgerundetes Rechteck 59">
            <a:extLst>
              <a:ext uri="{FF2B5EF4-FFF2-40B4-BE49-F238E27FC236}">
                <a16:creationId xmlns:a16="http://schemas.microsoft.com/office/drawing/2014/main" id="{6A8DE107-41EA-ACE9-1E83-EE31882A9602}"/>
              </a:ext>
            </a:extLst>
          </p:cNvPr>
          <p:cNvSpPr>
            <a:spLocks/>
          </p:cNvSpPr>
          <p:nvPr/>
        </p:nvSpPr>
        <p:spPr bwMode="gray">
          <a:xfrm>
            <a:off x="3080736" y="2874660"/>
            <a:ext cx="2546346" cy="1659658"/>
          </a:xfrm>
          <a:prstGeom prst="rect">
            <a:avLst/>
          </a:prstGeom>
          <a:solidFill>
            <a:srgbClr val="33335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44" tIns="71963" rIns="107944" bIns="71963" rtlCol="0" anchor="t"/>
          <a:lstStyle/>
          <a:p>
            <a:pPr>
              <a:spcBef>
                <a:spcPts val="300"/>
              </a:spcBef>
            </a:pPr>
            <a:r>
              <a:rPr lang="zh-CN" altLang="en-US" sz="1600" b="1" dirty="0">
                <a:solidFill>
                  <a:srgbClr val="F3F3F0"/>
                </a:solidFill>
                <a:latin typeface="Arial"/>
              </a:rPr>
              <a:t>收益与价值</a:t>
            </a:r>
            <a:endParaRPr lang="en-US" sz="1600" b="1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r>
              <a:rPr lang="zh-CN" altLang="en-US" sz="1000" i="1" dirty="0">
                <a:solidFill>
                  <a:srgbClr val="F3F3F0"/>
                </a:solidFill>
                <a:latin typeface="Arial"/>
              </a:rPr>
              <a:t>客户如何获得预期的收益与价值？</a:t>
            </a:r>
            <a:endParaRPr lang="en-US" altLang="zh-CN" sz="1000" i="1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altLang="zh-CN" sz="1000" dirty="0">
              <a:solidFill>
                <a:srgbClr val="F3F3F0"/>
              </a:solidFill>
              <a:latin typeface="Arial"/>
            </a:endParaRPr>
          </a:p>
        </p:txBody>
      </p:sp>
      <p:sp>
        <p:nvSpPr>
          <p:cNvPr id="11" name="Abgerundetes Rechteck 62">
            <a:extLst>
              <a:ext uri="{FF2B5EF4-FFF2-40B4-BE49-F238E27FC236}">
                <a16:creationId xmlns:a16="http://schemas.microsoft.com/office/drawing/2014/main" id="{C6EEC760-FA1A-97C8-A16B-1A4001BA6A5B}"/>
              </a:ext>
            </a:extLst>
          </p:cNvPr>
          <p:cNvSpPr>
            <a:spLocks/>
          </p:cNvSpPr>
          <p:nvPr/>
        </p:nvSpPr>
        <p:spPr bwMode="gray">
          <a:xfrm>
            <a:off x="410400" y="2874660"/>
            <a:ext cx="2546346" cy="1659658"/>
          </a:xfrm>
          <a:prstGeom prst="rect">
            <a:avLst/>
          </a:prstGeom>
          <a:solidFill>
            <a:srgbClr val="33335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44" tIns="71963" rIns="107944" bIns="71963" rtlCol="0" anchor="t"/>
          <a:lstStyle/>
          <a:p>
            <a:pPr>
              <a:spcBef>
                <a:spcPts val="300"/>
              </a:spcBef>
            </a:pPr>
            <a:r>
              <a:rPr lang="zh-CN" altLang="en-US" sz="1600" b="1" dirty="0">
                <a:solidFill>
                  <a:srgbClr val="F3F3F0"/>
                </a:solidFill>
                <a:latin typeface="Arial"/>
              </a:rPr>
              <a:t>痛点与挑战</a:t>
            </a:r>
            <a:endParaRPr lang="en-US" sz="1600" b="1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r>
              <a:rPr lang="zh-CN" altLang="en-US" sz="1000" i="1" dirty="0">
                <a:solidFill>
                  <a:srgbClr val="F3F3F0"/>
                </a:solidFill>
                <a:latin typeface="Arial"/>
              </a:rPr>
              <a:t>客户的痛点和障碍是什么？</a:t>
            </a:r>
            <a:endParaRPr lang="en-US" altLang="zh-CN" sz="1000" i="1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altLang="zh-CN" sz="1000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199" dirty="0">
              <a:solidFill>
                <a:srgbClr val="F3F3F0"/>
              </a:solidFill>
              <a:latin typeface="Arial"/>
            </a:endParaRPr>
          </a:p>
          <a:p>
            <a:pPr algn="ctr">
              <a:spcBef>
                <a:spcPts val="300"/>
              </a:spcBef>
            </a:pPr>
            <a:endParaRPr lang="en-US" sz="1199" b="1" dirty="0">
              <a:solidFill>
                <a:srgbClr val="F3F3F0"/>
              </a:solidFill>
              <a:latin typeface="Arial"/>
            </a:endParaRPr>
          </a:p>
        </p:txBody>
      </p:sp>
      <p:sp>
        <p:nvSpPr>
          <p:cNvPr id="13" name="Abgerundetes Rechteck 59">
            <a:extLst>
              <a:ext uri="{FF2B5EF4-FFF2-40B4-BE49-F238E27FC236}">
                <a16:creationId xmlns:a16="http://schemas.microsoft.com/office/drawing/2014/main" id="{7EE65ECE-8504-8614-98B6-FFCDA43C4E9A}"/>
              </a:ext>
            </a:extLst>
          </p:cNvPr>
          <p:cNvSpPr>
            <a:spLocks/>
          </p:cNvSpPr>
          <p:nvPr/>
        </p:nvSpPr>
        <p:spPr bwMode="gray">
          <a:xfrm>
            <a:off x="3080736" y="1148580"/>
            <a:ext cx="2546346" cy="1664954"/>
          </a:xfrm>
          <a:prstGeom prst="rect">
            <a:avLst/>
          </a:prstGeom>
          <a:solidFill>
            <a:srgbClr val="33335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44" tIns="71963" rIns="107944" bIns="71963" rtlCol="0" anchor="t"/>
          <a:lstStyle/>
          <a:p>
            <a:pPr>
              <a:spcBef>
                <a:spcPts val="300"/>
              </a:spcBef>
            </a:pPr>
            <a:r>
              <a:rPr lang="zh-CN" altLang="en-US" sz="1600" b="1" dirty="0">
                <a:solidFill>
                  <a:srgbClr val="F3F3F0"/>
                </a:solidFill>
                <a:latin typeface="Arial"/>
              </a:rPr>
              <a:t>新的行业解决方案</a:t>
            </a:r>
            <a:endParaRPr lang="en-US" sz="1600" b="1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r>
              <a:rPr lang="zh-CN" altLang="en-US" sz="1000" i="1" dirty="0">
                <a:solidFill>
                  <a:srgbClr val="F3F3F0"/>
                </a:solidFill>
                <a:latin typeface="Arial"/>
              </a:rPr>
              <a:t>新的解决方案的特点？</a:t>
            </a:r>
            <a:endParaRPr lang="en-US" altLang="zh-CN" sz="1000" i="1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altLang="zh-CN" sz="1000" i="1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sz="1199" dirty="0">
              <a:solidFill>
                <a:srgbClr val="F3F3F0"/>
              </a:solidFill>
              <a:latin typeface="Arial"/>
            </a:endParaRPr>
          </a:p>
        </p:txBody>
      </p:sp>
      <p:sp>
        <p:nvSpPr>
          <p:cNvPr id="29" name="Arrow: Chevron 28">
            <a:extLst>
              <a:ext uri="{FF2B5EF4-FFF2-40B4-BE49-F238E27FC236}">
                <a16:creationId xmlns:a16="http://schemas.microsoft.com/office/drawing/2014/main" id="{1018D922-675F-B46B-0CF6-C1D048D9045C}"/>
              </a:ext>
            </a:extLst>
          </p:cNvPr>
          <p:cNvSpPr/>
          <p:nvPr/>
        </p:nvSpPr>
        <p:spPr>
          <a:xfrm>
            <a:off x="410400" y="4755900"/>
            <a:ext cx="3869714" cy="473892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FY26 Q4</a:t>
            </a:r>
          </a:p>
        </p:txBody>
      </p:sp>
      <p:sp>
        <p:nvSpPr>
          <p:cNvPr id="31" name="Arrow: Chevron 30">
            <a:extLst>
              <a:ext uri="{FF2B5EF4-FFF2-40B4-BE49-F238E27FC236}">
                <a16:creationId xmlns:a16="http://schemas.microsoft.com/office/drawing/2014/main" id="{EFE95794-D9CC-9A17-7416-30CC56CC0F26}"/>
              </a:ext>
            </a:extLst>
          </p:cNvPr>
          <p:cNvSpPr/>
          <p:nvPr/>
        </p:nvSpPr>
        <p:spPr>
          <a:xfrm>
            <a:off x="4157786" y="4753054"/>
            <a:ext cx="3869714" cy="473892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FY27 Q1</a:t>
            </a: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393D3AC0-7C79-7089-03A7-A1D849FEC85A}"/>
              </a:ext>
            </a:extLst>
          </p:cNvPr>
          <p:cNvSpPr/>
          <p:nvPr/>
        </p:nvSpPr>
        <p:spPr>
          <a:xfrm>
            <a:off x="7893539" y="4753054"/>
            <a:ext cx="3852394" cy="473892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FY27 Q2</a:t>
            </a:r>
          </a:p>
        </p:txBody>
      </p:sp>
      <p:sp>
        <p:nvSpPr>
          <p:cNvPr id="36" name="Abgerundetes Rechteck 59">
            <a:extLst>
              <a:ext uri="{FF2B5EF4-FFF2-40B4-BE49-F238E27FC236}">
                <a16:creationId xmlns:a16="http://schemas.microsoft.com/office/drawing/2014/main" id="{05B37851-37A7-3E8F-0969-089417CBCB39}"/>
              </a:ext>
            </a:extLst>
          </p:cNvPr>
          <p:cNvSpPr>
            <a:spLocks/>
          </p:cNvSpPr>
          <p:nvPr/>
        </p:nvSpPr>
        <p:spPr bwMode="gray">
          <a:xfrm>
            <a:off x="6205414" y="1148580"/>
            <a:ext cx="5576185" cy="3385738"/>
          </a:xfrm>
          <a:prstGeom prst="rect">
            <a:avLst/>
          </a:prstGeom>
          <a:solidFill>
            <a:srgbClr val="33335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44" tIns="71963" rIns="107944" bIns="71963" rtlCol="0" anchor="t"/>
          <a:lstStyle/>
          <a:p>
            <a:pPr>
              <a:spcBef>
                <a:spcPts val="300"/>
              </a:spcBef>
            </a:pPr>
            <a:r>
              <a:rPr lang="zh-CN" altLang="en-US" sz="1600" b="1" dirty="0">
                <a:solidFill>
                  <a:srgbClr val="F3F3F0"/>
                </a:solidFill>
                <a:latin typeface="Arial"/>
              </a:rPr>
              <a:t>后勤运维管理平台能源管理功能：</a:t>
            </a:r>
            <a:endParaRPr lang="en-US" altLang="zh-CN" sz="1600" b="1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altLang="zh-CN" sz="1600" b="1" dirty="0">
              <a:solidFill>
                <a:srgbClr val="F3F3F0"/>
              </a:solidFill>
              <a:latin typeface="Arial"/>
            </a:endParaRP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zh-CN" sz="1600" b="1" dirty="0">
                <a:solidFill>
                  <a:srgbClr val="F3F3F0"/>
                </a:solidFill>
                <a:latin typeface="Arial"/>
              </a:rPr>
              <a:t>1</a:t>
            </a: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zh-CN" sz="1600" b="1" dirty="0">
                <a:solidFill>
                  <a:srgbClr val="F3F3F0"/>
                </a:solidFill>
                <a:latin typeface="Arial"/>
              </a:rPr>
              <a:t>2</a:t>
            </a: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zh-CN" sz="1600" b="1" dirty="0">
                <a:solidFill>
                  <a:srgbClr val="F3F3F0"/>
                </a:solidFill>
                <a:latin typeface="Arial"/>
              </a:rPr>
              <a:t>3</a:t>
            </a: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zh-CN" sz="1600" b="1" dirty="0">
                <a:solidFill>
                  <a:srgbClr val="F3F3F0"/>
                </a:solidFill>
                <a:latin typeface="Arial"/>
              </a:rPr>
              <a:t>4</a:t>
            </a:r>
          </a:p>
          <a:p>
            <a:pPr>
              <a:spcBef>
                <a:spcPts val="300"/>
              </a:spcBef>
            </a:pPr>
            <a:endParaRPr lang="en-US" altLang="zh-CN" sz="1199" dirty="0">
              <a:solidFill>
                <a:srgbClr val="FF9000"/>
              </a:solidFill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</a:endParaRPr>
          </a:p>
          <a:p>
            <a:pPr>
              <a:spcBef>
                <a:spcPts val="300"/>
              </a:spcBef>
            </a:pPr>
            <a:endParaRPr lang="en-US" sz="1199" dirty="0">
              <a:solidFill>
                <a:srgbClr val="F3F3F0"/>
              </a:solidFill>
              <a:latin typeface="Arial"/>
            </a:endParaRPr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3AB0D72F-989C-1165-FF0A-F4DB447B8B5F}"/>
              </a:ext>
            </a:extLst>
          </p:cNvPr>
          <p:cNvSpPr/>
          <p:nvPr/>
        </p:nvSpPr>
        <p:spPr>
          <a:xfrm rot="5400000">
            <a:off x="4223379" y="2710543"/>
            <a:ext cx="3385739" cy="261813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39" name="Abgerundetes Rechteck 37">
            <a:extLst>
              <a:ext uri="{FF2B5EF4-FFF2-40B4-BE49-F238E27FC236}">
                <a16:creationId xmlns:a16="http://schemas.microsoft.com/office/drawing/2014/main" id="{6E086FDC-0091-C6AB-F574-5D7C236F908B}"/>
              </a:ext>
            </a:extLst>
          </p:cNvPr>
          <p:cNvSpPr>
            <a:spLocks/>
          </p:cNvSpPr>
          <p:nvPr/>
        </p:nvSpPr>
        <p:spPr bwMode="gray">
          <a:xfrm>
            <a:off x="433987" y="5277890"/>
            <a:ext cx="3606790" cy="1014220"/>
          </a:xfrm>
          <a:prstGeom prst="rect">
            <a:avLst/>
          </a:prstGeom>
          <a:solidFill>
            <a:srgbClr val="33335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44" tIns="71963" rIns="107944" bIns="71963" rtlCol="0" anchor="t"/>
          <a:lstStyle/>
          <a:p>
            <a:pPr>
              <a:spcBef>
                <a:spcPts val="300"/>
              </a:spcBef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199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sz="1199" dirty="0">
              <a:solidFill>
                <a:srgbClr val="F3F3F0"/>
              </a:solidFill>
              <a:latin typeface="Arial"/>
            </a:endParaRPr>
          </a:p>
        </p:txBody>
      </p:sp>
      <p:sp>
        <p:nvSpPr>
          <p:cNvPr id="43" name="Abgerundetes Rechteck 37">
            <a:extLst>
              <a:ext uri="{FF2B5EF4-FFF2-40B4-BE49-F238E27FC236}">
                <a16:creationId xmlns:a16="http://schemas.microsoft.com/office/drawing/2014/main" id="{1DACC576-7DD0-2D4F-7BCB-C7AFE13B94B2}"/>
              </a:ext>
            </a:extLst>
          </p:cNvPr>
          <p:cNvSpPr>
            <a:spLocks/>
          </p:cNvSpPr>
          <p:nvPr/>
        </p:nvSpPr>
        <p:spPr bwMode="gray">
          <a:xfrm>
            <a:off x="4176032" y="5277890"/>
            <a:ext cx="3606790" cy="1014220"/>
          </a:xfrm>
          <a:prstGeom prst="rect">
            <a:avLst/>
          </a:prstGeom>
          <a:solidFill>
            <a:srgbClr val="33335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44" tIns="71963" rIns="107944" bIns="71963" rtlCol="0" anchor="t"/>
          <a:lstStyle/>
          <a:p>
            <a:pPr>
              <a:spcBef>
                <a:spcPts val="300"/>
              </a:spcBef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199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sz="1199" dirty="0">
              <a:solidFill>
                <a:srgbClr val="F3F3F0"/>
              </a:solidFill>
              <a:latin typeface="Arial"/>
            </a:endParaRPr>
          </a:p>
        </p:txBody>
      </p:sp>
      <p:sp>
        <p:nvSpPr>
          <p:cNvPr id="45" name="Abgerundetes Rechteck 37">
            <a:extLst>
              <a:ext uri="{FF2B5EF4-FFF2-40B4-BE49-F238E27FC236}">
                <a16:creationId xmlns:a16="http://schemas.microsoft.com/office/drawing/2014/main" id="{A45F7D42-826E-104C-AAB7-C82B84ABB2E1}"/>
              </a:ext>
            </a:extLst>
          </p:cNvPr>
          <p:cNvSpPr>
            <a:spLocks/>
          </p:cNvSpPr>
          <p:nvPr/>
        </p:nvSpPr>
        <p:spPr bwMode="gray">
          <a:xfrm>
            <a:off x="7929203" y="5277890"/>
            <a:ext cx="3852395" cy="1014220"/>
          </a:xfrm>
          <a:prstGeom prst="rect">
            <a:avLst/>
          </a:prstGeom>
          <a:solidFill>
            <a:srgbClr val="33335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44" tIns="71963" rIns="107944" bIns="71963" rtlCol="0" anchor="t"/>
          <a:lstStyle/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199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sz="1199" dirty="0">
              <a:solidFill>
                <a:srgbClr val="F3F3F0"/>
              </a:solidFill>
              <a:latin typeface="Arial"/>
            </a:endParaRPr>
          </a:p>
        </p:txBody>
      </p:sp>
      <p:pic>
        <p:nvPicPr>
          <p:cNvPr id="8" name="Picture 6" descr="A grey rectangular object with a green light&#10;&#10;Description automatically generated">
            <a:extLst>
              <a:ext uri="{FF2B5EF4-FFF2-40B4-BE49-F238E27FC236}">
                <a16:creationId xmlns:a16="http://schemas.microsoft.com/office/drawing/2014/main" id="{292991FB-B5B1-DA34-D3A0-2901CD4ABF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397" y="260833"/>
            <a:ext cx="1672014" cy="12129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169F51B-C88F-1292-CD3E-2F5AD4F6C6C9}"/>
              </a:ext>
            </a:extLst>
          </p:cNvPr>
          <p:cNvSpPr/>
          <p:nvPr/>
        </p:nvSpPr>
        <p:spPr>
          <a:xfrm>
            <a:off x="6385171" y="3122990"/>
            <a:ext cx="1172308" cy="12582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zh-CN" altLang="en-US" sz="1200" dirty="0"/>
              <a:t>示例图片</a:t>
            </a:r>
            <a:r>
              <a:rPr lang="en-US" altLang="zh-CN" sz="1200" dirty="0"/>
              <a:t>1</a:t>
            </a:r>
            <a:endParaRPr lang="en-US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666CF4-523C-5E3A-4A03-2E2881D1F18B}"/>
              </a:ext>
            </a:extLst>
          </p:cNvPr>
          <p:cNvSpPr/>
          <p:nvPr/>
        </p:nvSpPr>
        <p:spPr>
          <a:xfrm>
            <a:off x="7684680" y="3122989"/>
            <a:ext cx="1172308" cy="12582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zh-CN" altLang="en-US" sz="1200" dirty="0"/>
              <a:t>示例图片</a:t>
            </a:r>
            <a:r>
              <a:rPr lang="en-US" altLang="zh-CN" sz="1200" dirty="0"/>
              <a:t>2</a:t>
            </a:r>
            <a:endParaRPr lang="en-US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C8902B-99C5-9438-D9ED-9E29107EAFE5}"/>
              </a:ext>
            </a:extLst>
          </p:cNvPr>
          <p:cNvSpPr/>
          <p:nvPr/>
        </p:nvSpPr>
        <p:spPr>
          <a:xfrm>
            <a:off x="8984189" y="3122990"/>
            <a:ext cx="1172308" cy="12582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zh-CN" altLang="en-US" sz="1200" dirty="0"/>
              <a:t>示例图片</a:t>
            </a:r>
            <a:r>
              <a:rPr lang="en-US" altLang="zh-CN" sz="1200" dirty="0"/>
              <a:t>3</a:t>
            </a:r>
            <a:endParaRPr lang="en-US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A0E6FF-558F-7F13-8176-032FEC96304A}"/>
              </a:ext>
            </a:extLst>
          </p:cNvPr>
          <p:cNvSpPr/>
          <p:nvPr/>
        </p:nvSpPr>
        <p:spPr>
          <a:xfrm>
            <a:off x="10283698" y="3122989"/>
            <a:ext cx="1172308" cy="12582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zh-CN" altLang="en-US" sz="1200" dirty="0"/>
              <a:t>示例图片</a:t>
            </a:r>
            <a:r>
              <a:rPr lang="en-US" altLang="zh-CN" sz="1200" dirty="0"/>
              <a:t>4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73514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9AC98-9EE5-2DCF-B3A7-BC83822C8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7A2FAA9-3A44-F2BF-88F5-6FBDE59F306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4" imgW="639" imgH="642" progId="TCLayout.ActiveDocument.1">
                  <p:embed/>
                </p:oleObj>
              </mc:Choice>
              <mc:Fallback>
                <p:oleObj name="thinkcell Slide" r:id="rId4" imgW="639" imgH="642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FEEE6C-0550-7E83-B678-D22C125DD2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85306A4-3AD5-A933-D6B4-26DD1BF14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324000"/>
          <a:lstStyle/>
          <a:p>
            <a:r>
              <a:rPr lang="zh-CN" altLang="en-US" dirty="0"/>
              <a:t>医疗行业应用介绍（</a:t>
            </a:r>
            <a:r>
              <a:rPr lang="en-US" altLang="zh-CN" dirty="0"/>
              <a:t>4/4</a:t>
            </a:r>
            <a:r>
              <a:rPr lang="zh-CN" altLang="en-US" dirty="0"/>
              <a:t>）</a:t>
            </a:r>
            <a:r>
              <a:rPr lang="en-US" altLang="zh-CN" dirty="0"/>
              <a:t>— </a:t>
            </a:r>
            <a:r>
              <a:rPr lang="zh-CN" altLang="en-US" dirty="0">
                <a:solidFill>
                  <a:srgbClr val="FF9000"/>
                </a:solidFill>
              </a:rPr>
              <a:t>后勤运维管理平台设备管理功能</a:t>
            </a:r>
            <a:r>
              <a:rPr lang="en-US" dirty="0">
                <a:solidFill>
                  <a:srgbClr val="FF9000"/>
                </a:solidFill>
              </a:rPr>
              <a:t> 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2FF3D-2DC2-923E-4441-9C6C0BB418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it-IT"/>
              <a:t>Restricted | © Siemens 2026 | SI B CN Vertical | 2026-10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FBA5F-8FBC-B4B4-B39B-A5F3954351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Abgerundetes Rechteck 37">
            <a:extLst>
              <a:ext uri="{FF2B5EF4-FFF2-40B4-BE49-F238E27FC236}">
                <a16:creationId xmlns:a16="http://schemas.microsoft.com/office/drawing/2014/main" id="{13EDDD4D-5F5F-DFFD-8E62-6E72350D3E57}"/>
              </a:ext>
            </a:extLst>
          </p:cNvPr>
          <p:cNvSpPr>
            <a:spLocks/>
          </p:cNvSpPr>
          <p:nvPr/>
        </p:nvSpPr>
        <p:spPr bwMode="gray">
          <a:xfrm>
            <a:off x="410400" y="1148580"/>
            <a:ext cx="2546346" cy="1664954"/>
          </a:xfrm>
          <a:prstGeom prst="rect">
            <a:avLst/>
          </a:prstGeom>
          <a:solidFill>
            <a:srgbClr val="33335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44" tIns="71963" rIns="107944" bIns="71963" rtlCol="0" anchor="t"/>
          <a:lstStyle/>
          <a:p>
            <a:pPr>
              <a:spcBef>
                <a:spcPts val="300"/>
              </a:spcBef>
            </a:pPr>
            <a:r>
              <a:rPr lang="zh-CN" altLang="en-US" sz="1600" b="1" dirty="0">
                <a:solidFill>
                  <a:srgbClr val="F3F3F0"/>
                </a:solidFill>
                <a:latin typeface="Arial"/>
              </a:rPr>
              <a:t>原先的解决方案</a:t>
            </a:r>
            <a:endParaRPr lang="en-US" sz="1600" b="1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r>
              <a:rPr lang="zh-CN" altLang="en-US" sz="1000" i="1" dirty="0">
                <a:solidFill>
                  <a:srgbClr val="F3F3F0"/>
                </a:solidFill>
                <a:latin typeface="Arial"/>
              </a:rPr>
              <a:t>客户当前如何完成这些需求任务？</a:t>
            </a:r>
            <a:endParaRPr lang="en-US" altLang="zh-CN" sz="1000" i="1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altLang="zh-CN" sz="1000" i="1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199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sz="1199" dirty="0">
              <a:solidFill>
                <a:srgbClr val="F3F3F0"/>
              </a:solidFill>
              <a:latin typeface="Arial"/>
            </a:endParaRPr>
          </a:p>
        </p:txBody>
      </p:sp>
      <p:sp>
        <p:nvSpPr>
          <p:cNvPr id="9" name="Abgerundetes Rechteck 59">
            <a:extLst>
              <a:ext uri="{FF2B5EF4-FFF2-40B4-BE49-F238E27FC236}">
                <a16:creationId xmlns:a16="http://schemas.microsoft.com/office/drawing/2014/main" id="{9C4C6FB3-12E7-9473-F3C7-8D83B7284301}"/>
              </a:ext>
            </a:extLst>
          </p:cNvPr>
          <p:cNvSpPr>
            <a:spLocks/>
          </p:cNvSpPr>
          <p:nvPr/>
        </p:nvSpPr>
        <p:spPr bwMode="gray">
          <a:xfrm>
            <a:off x="3080736" y="2874660"/>
            <a:ext cx="2546346" cy="1659658"/>
          </a:xfrm>
          <a:prstGeom prst="rect">
            <a:avLst/>
          </a:prstGeom>
          <a:solidFill>
            <a:srgbClr val="33335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44" tIns="71963" rIns="107944" bIns="71963" rtlCol="0" anchor="t"/>
          <a:lstStyle/>
          <a:p>
            <a:pPr>
              <a:spcBef>
                <a:spcPts val="300"/>
              </a:spcBef>
            </a:pPr>
            <a:r>
              <a:rPr lang="zh-CN" altLang="en-US" sz="1600" b="1" dirty="0">
                <a:solidFill>
                  <a:srgbClr val="F3F3F0"/>
                </a:solidFill>
                <a:latin typeface="Arial"/>
              </a:rPr>
              <a:t>收益与价值</a:t>
            </a:r>
            <a:endParaRPr lang="en-US" sz="1600" b="1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r>
              <a:rPr lang="zh-CN" altLang="en-US" sz="1000" i="1" dirty="0">
                <a:solidFill>
                  <a:srgbClr val="F3F3F0"/>
                </a:solidFill>
                <a:latin typeface="Arial"/>
              </a:rPr>
              <a:t>客户如何获得预期的收益与价值？</a:t>
            </a:r>
            <a:endParaRPr lang="en-US" altLang="zh-CN" sz="1000" i="1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altLang="zh-CN" sz="1000" dirty="0">
              <a:solidFill>
                <a:srgbClr val="F3F3F0"/>
              </a:solidFill>
              <a:latin typeface="Arial"/>
            </a:endParaRPr>
          </a:p>
        </p:txBody>
      </p:sp>
      <p:sp>
        <p:nvSpPr>
          <p:cNvPr id="11" name="Abgerundetes Rechteck 62">
            <a:extLst>
              <a:ext uri="{FF2B5EF4-FFF2-40B4-BE49-F238E27FC236}">
                <a16:creationId xmlns:a16="http://schemas.microsoft.com/office/drawing/2014/main" id="{441D2624-51B4-FB1C-F046-F9CB4ECFA51A}"/>
              </a:ext>
            </a:extLst>
          </p:cNvPr>
          <p:cNvSpPr>
            <a:spLocks/>
          </p:cNvSpPr>
          <p:nvPr/>
        </p:nvSpPr>
        <p:spPr bwMode="gray">
          <a:xfrm>
            <a:off x="410400" y="2874660"/>
            <a:ext cx="2546346" cy="1659658"/>
          </a:xfrm>
          <a:prstGeom prst="rect">
            <a:avLst/>
          </a:prstGeom>
          <a:solidFill>
            <a:srgbClr val="33335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44" tIns="71963" rIns="107944" bIns="71963" rtlCol="0" anchor="t"/>
          <a:lstStyle/>
          <a:p>
            <a:pPr>
              <a:spcBef>
                <a:spcPts val="300"/>
              </a:spcBef>
            </a:pPr>
            <a:r>
              <a:rPr lang="zh-CN" altLang="en-US" sz="1600" b="1" dirty="0">
                <a:solidFill>
                  <a:srgbClr val="F3F3F0"/>
                </a:solidFill>
                <a:latin typeface="Arial"/>
              </a:rPr>
              <a:t>痛点与挑战</a:t>
            </a:r>
            <a:endParaRPr lang="en-US" sz="1600" b="1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r>
              <a:rPr lang="zh-CN" altLang="en-US" sz="1000" i="1" dirty="0">
                <a:solidFill>
                  <a:srgbClr val="F3F3F0"/>
                </a:solidFill>
                <a:latin typeface="Arial"/>
              </a:rPr>
              <a:t>客户的痛点和障碍是什么？</a:t>
            </a:r>
            <a:endParaRPr lang="en-US" altLang="zh-CN" sz="1000" i="1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altLang="zh-CN" sz="1000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199" dirty="0">
              <a:solidFill>
                <a:srgbClr val="F3F3F0"/>
              </a:solidFill>
              <a:latin typeface="Arial"/>
            </a:endParaRPr>
          </a:p>
          <a:p>
            <a:pPr algn="ctr">
              <a:spcBef>
                <a:spcPts val="300"/>
              </a:spcBef>
            </a:pPr>
            <a:endParaRPr lang="en-US" sz="1199" b="1" dirty="0">
              <a:solidFill>
                <a:srgbClr val="F3F3F0"/>
              </a:solidFill>
              <a:latin typeface="Arial"/>
            </a:endParaRPr>
          </a:p>
        </p:txBody>
      </p:sp>
      <p:sp>
        <p:nvSpPr>
          <p:cNvPr id="13" name="Abgerundetes Rechteck 59">
            <a:extLst>
              <a:ext uri="{FF2B5EF4-FFF2-40B4-BE49-F238E27FC236}">
                <a16:creationId xmlns:a16="http://schemas.microsoft.com/office/drawing/2014/main" id="{CF17E78B-8652-F495-7FE0-99EE1CDD9B8D}"/>
              </a:ext>
            </a:extLst>
          </p:cNvPr>
          <p:cNvSpPr>
            <a:spLocks/>
          </p:cNvSpPr>
          <p:nvPr/>
        </p:nvSpPr>
        <p:spPr bwMode="gray">
          <a:xfrm>
            <a:off x="3080736" y="1148580"/>
            <a:ext cx="2546346" cy="1664954"/>
          </a:xfrm>
          <a:prstGeom prst="rect">
            <a:avLst/>
          </a:prstGeom>
          <a:solidFill>
            <a:srgbClr val="33335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44" tIns="71963" rIns="107944" bIns="71963" rtlCol="0" anchor="t"/>
          <a:lstStyle/>
          <a:p>
            <a:pPr>
              <a:spcBef>
                <a:spcPts val="300"/>
              </a:spcBef>
            </a:pPr>
            <a:r>
              <a:rPr lang="zh-CN" altLang="en-US" sz="1600" b="1" dirty="0">
                <a:solidFill>
                  <a:srgbClr val="F3F3F0"/>
                </a:solidFill>
                <a:latin typeface="Arial"/>
              </a:rPr>
              <a:t>新的行业解决方案</a:t>
            </a:r>
            <a:endParaRPr lang="en-US" sz="1600" b="1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r>
              <a:rPr lang="zh-CN" altLang="en-US" sz="1000" i="1" dirty="0">
                <a:solidFill>
                  <a:srgbClr val="F3F3F0"/>
                </a:solidFill>
                <a:latin typeface="Arial"/>
              </a:rPr>
              <a:t>新的解决方案的特点？</a:t>
            </a:r>
            <a:endParaRPr lang="en-US" altLang="zh-CN" sz="1000" i="1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altLang="zh-CN" sz="1000" i="1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sz="1199" dirty="0">
              <a:solidFill>
                <a:srgbClr val="F3F3F0"/>
              </a:solidFill>
              <a:latin typeface="Arial"/>
            </a:endParaRPr>
          </a:p>
        </p:txBody>
      </p:sp>
      <p:sp>
        <p:nvSpPr>
          <p:cNvPr id="29" name="Arrow: Chevron 28">
            <a:extLst>
              <a:ext uri="{FF2B5EF4-FFF2-40B4-BE49-F238E27FC236}">
                <a16:creationId xmlns:a16="http://schemas.microsoft.com/office/drawing/2014/main" id="{0DF8F912-CCDC-36CD-0CEB-7D8359D44453}"/>
              </a:ext>
            </a:extLst>
          </p:cNvPr>
          <p:cNvSpPr/>
          <p:nvPr/>
        </p:nvSpPr>
        <p:spPr>
          <a:xfrm>
            <a:off x="410400" y="4755900"/>
            <a:ext cx="3869714" cy="473892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FY26 Q4</a:t>
            </a:r>
          </a:p>
        </p:txBody>
      </p:sp>
      <p:sp>
        <p:nvSpPr>
          <p:cNvPr id="31" name="Arrow: Chevron 30">
            <a:extLst>
              <a:ext uri="{FF2B5EF4-FFF2-40B4-BE49-F238E27FC236}">
                <a16:creationId xmlns:a16="http://schemas.microsoft.com/office/drawing/2014/main" id="{ABC2CDD8-3264-6C1D-5C58-CB08CC078393}"/>
              </a:ext>
            </a:extLst>
          </p:cNvPr>
          <p:cNvSpPr/>
          <p:nvPr/>
        </p:nvSpPr>
        <p:spPr>
          <a:xfrm>
            <a:off x="4157786" y="4753054"/>
            <a:ext cx="3869714" cy="473892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FY27 Q1</a:t>
            </a: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19EDBC10-A5BA-F95C-78BE-345308DB6850}"/>
              </a:ext>
            </a:extLst>
          </p:cNvPr>
          <p:cNvSpPr/>
          <p:nvPr/>
        </p:nvSpPr>
        <p:spPr>
          <a:xfrm>
            <a:off x="7893538" y="4753054"/>
            <a:ext cx="3888059" cy="473892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FY27 Q2</a:t>
            </a:r>
          </a:p>
        </p:txBody>
      </p:sp>
      <p:sp>
        <p:nvSpPr>
          <p:cNvPr id="36" name="Abgerundetes Rechteck 59">
            <a:extLst>
              <a:ext uri="{FF2B5EF4-FFF2-40B4-BE49-F238E27FC236}">
                <a16:creationId xmlns:a16="http://schemas.microsoft.com/office/drawing/2014/main" id="{187A92AA-593B-250F-C197-93F651BDFEC2}"/>
              </a:ext>
            </a:extLst>
          </p:cNvPr>
          <p:cNvSpPr>
            <a:spLocks/>
          </p:cNvSpPr>
          <p:nvPr/>
        </p:nvSpPr>
        <p:spPr bwMode="gray">
          <a:xfrm>
            <a:off x="6205414" y="1148580"/>
            <a:ext cx="5576185" cy="3385738"/>
          </a:xfrm>
          <a:prstGeom prst="rect">
            <a:avLst/>
          </a:prstGeom>
          <a:solidFill>
            <a:srgbClr val="33335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44" tIns="71963" rIns="107944" bIns="71963" rtlCol="0" anchor="t"/>
          <a:lstStyle/>
          <a:p>
            <a:pPr>
              <a:spcBef>
                <a:spcPts val="300"/>
              </a:spcBef>
            </a:pPr>
            <a:r>
              <a:rPr lang="zh-CN" altLang="en-US" sz="1600" b="1" dirty="0">
                <a:solidFill>
                  <a:srgbClr val="F3F3F0"/>
                </a:solidFill>
                <a:latin typeface="Arial"/>
              </a:rPr>
              <a:t>后勤运维管理平台设备管理功能：</a:t>
            </a:r>
            <a:endParaRPr lang="en-US" altLang="zh-CN" sz="1600" b="1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altLang="zh-CN" sz="1600" b="1" dirty="0">
              <a:solidFill>
                <a:srgbClr val="F3F3F0"/>
              </a:solidFill>
              <a:latin typeface="Arial"/>
            </a:endParaRP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zh-CN" sz="1600" b="1" dirty="0">
                <a:solidFill>
                  <a:srgbClr val="F3F3F0"/>
                </a:solidFill>
              </a:rPr>
              <a:t>1</a:t>
            </a: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zh-CN" sz="1600" b="1" dirty="0">
                <a:solidFill>
                  <a:srgbClr val="F3F3F0"/>
                </a:solidFill>
              </a:rPr>
              <a:t>2</a:t>
            </a: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zh-CN" sz="1600" b="1" dirty="0">
                <a:solidFill>
                  <a:srgbClr val="F3F3F0"/>
                </a:solidFill>
              </a:rPr>
              <a:t>3</a:t>
            </a:r>
          </a:p>
          <a:p>
            <a:pPr marL="285750" indent="-2857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zh-CN" sz="1600" b="1" dirty="0">
                <a:solidFill>
                  <a:srgbClr val="F3F3F0"/>
                </a:solidFill>
              </a:rPr>
              <a:t>4</a:t>
            </a:r>
          </a:p>
          <a:p>
            <a:pPr>
              <a:spcBef>
                <a:spcPts val="300"/>
              </a:spcBef>
            </a:pPr>
            <a:endParaRPr lang="en-US" altLang="zh-CN" sz="1600" b="1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altLang="zh-CN" sz="1199" dirty="0">
              <a:solidFill>
                <a:srgbClr val="FF9000"/>
              </a:solidFill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</a:endParaRPr>
          </a:p>
          <a:p>
            <a:pPr>
              <a:spcBef>
                <a:spcPts val="300"/>
              </a:spcBef>
            </a:pPr>
            <a:endParaRPr lang="en-US" sz="1199" dirty="0">
              <a:solidFill>
                <a:srgbClr val="F3F3F0"/>
              </a:solidFill>
              <a:latin typeface="Arial"/>
            </a:endParaRPr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129A9FF6-F44E-3142-B64F-2D421A26499D}"/>
              </a:ext>
            </a:extLst>
          </p:cNvPr>
          <p:cNvSpPr/>
          <p:nvPr/>
        </p:nvSpPr>
        <p:spPr>
          <a:xfrm rot="5400000">
            <a:off x="4223379" y="2710543"/>
            <a:ext cx="3385739" cy="261813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39" name="Abgerundetes Rechteck 37">
            <a:extLst>
              <a:ext uri="{FF2B5EF4-FFF2-40B4-BE49-F238E27FC236}">
                <a16:creationId xmlns:a16="http://schemas.microsoft.com/office/drawing/2014/main" id="{01236DDE-B3C6-AD32-8882-C60F3F0E984B}"/>
              </a:ext>
            </a:extLst>
          </p:cNvPr>
          <p:cNvSpPr>
            <a:spLocks/>
          </p:cNvSpPr>
          <p:nvPr/>
        </p:nvSpPr>
        <p:spPr bwMode="gray">
          <a:xfrm>
            <a:off x="433987" y="5277890"/>
            <a:ext cx="3606790" cy="1014220"/>
          </a:xfrm>
          <a:prstGeom prst="rect">
            <a:avLst/>
          </a:prstGeom>
          <a:solidFill>
            <a:srgbClr val="33335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44" tIns="71963" rIns="107944" bIns="71963" rtlCol="0" anchor="t"/>
          <a:lstStyle/>
          <a:p>
            <a:pPr>
              <a:spcBef>
                <a:spcPts val="300"/>
              </a:spcBef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199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sz="1199" dirty="0">
              <a:solidFill>
                <a:srgbClr val="F3F3F0"/>
              </a:solidFill>
              <a:latin typeface="Arial"/>
            </a:endParaRPr>
          </a:p>
        </p:txBody>
      </p:sp>
      <p:sp>
        <p:nvSpPr>
          <p:cNvPr id="43" name="Abgerundetes Rechteck 37">
            <a:extLst>
              <a:ext uri="{FF2B5EF4-FFF2-40B4-BE49-F238E27FC236}">
                <a16:creationId xmlns:a16="http://schemas.microsoft.com/office/drawing/2014/main" id="{03C551C6-64A0-88E0-0E35-EABB8596982F}"/>
              </a:ext>
            </a:extLst>
          </p:cNvPr>
          <p:cNvSpPr>
            <a:spLocks/>
          </p:cNvSpPr>
          <p:nvPr/>
        </p:nvSpPr>
        <p:spPr bwMode="gray">
          <a:xfrm>
            <a:off x="4176032" y="5277890"/>
            <a:ext cx="3606790" cy="1014220"/>
          </a:xfrm>
          <a:prstGeom prst="rect">
            <a:avLst/>
          </a:prstGeom>
          <a:solidFill>
            <a:srgbClr val="33335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44" tIns="71963" rIns="107944" bIns="71963" rtlCol="0" anchor="t"/>
          <a:lstStyle/>
          <a:p>
            <a:pPr>
              <a:spcBef>
                <a:spcPts val="300"/>
              </a:spcBef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199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sz="1199" dirty="0">
              <a:solidFill>
                <a:srgbClr val="F3F3F0"/>
              </a:solidFill>
              <a:latin typeface="Arial"/>
            </a:endParaRPr>
          </a:p>
        </p:txBody>
      </p:sp>
      <p:sp>
        <p:nvSpPr>
          <p:cNvPr id="45" name="Abgerundetes Rechteck 37">
            <a:extLst>
              <a:ext uri="{FF2B5EF4-FFF2-40B4-BE49-F238E27FC236}">
                <a16:creationId xmlns:a16="http://schemas.microsoft.com/office/drawing/2014/main" id="{6A65004E-DA70-E848-7685-FC03F02CD147}"/>
              </a:ext>
            </a:extLst>
          </p:cNvPr>
          <p:cNvSpPr>
            <a:spLocks/>
          </p:cNvSpPr>
          <p:nvPr/>
        </p:nvSpPr>
        <p:spPr bwMode="gray">
          <a:xfrm>
            <a:off x="7929203" y="5277890"/>
            <a:ext cx="3852395" cy="1014220"/>
          </a:xfrm>
          <a:prstGeom prst="rect">
            <a:avLst/>
          </a:prstGeom>
          <a:solidFill>
            <a:srgbClr val="33335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44" tIns="71963" rIns="107944" bIns="71963" rtlCol="0" anchor="t"/>
          <a:lstStyle/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199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sz="1199" dirty="0">
              <a:solidFill>
                <a:srgbClr val="F3F3F0"/>
              </a:solidFill>
              <a:latin typeface="Arial"/>
            </a:endParaRPr>
          </a:p>
        </p:txBody>
      </p:sp>
      <p:pic>
        <p:nvPicPr>
          <p:cNvPr id="12" name="Picture 6" descr="A grey rectangular object with a green light&#10;&#10;Description automatically generated">
            <a:extLst>
              <a:ext uri="{FF2B5EF4-FFF2-40B4-BE49-F238E27FC236}">
                <a16:creationId xmlns:a16="http://schemas.microsoft.com/office/drawing/2014/main" id="{3C6A3205-D225-403B-1DF4-6955C830FC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397" y="260833"/>
            <a:ext cx="1672014" cy="121297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78385C5-48F2-745C-5BCF-E28A5DDD1CB6}"/>
              </a:ext>
            </a:extLst>
          </p:cNvPr>
          <p:cNvSpPr/>
          <p:nvPr/>
        </p:nvSpPr>
        <p:spPr>
          <a:xfrm>
            <a:off x="6385171" y="3122990"/>
            <a:ext cx="1172308" cy="12582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zh-CN" altLang="en-US" sz="1200" dirty="0"/>
              <a:t>示例图片</a:t>
            </a:r>
            <a:r>
              <a:rPr lang="en-US" altLang="zh-CN" sz="1200" dirty="0"/>
              <a:t>1</a:t>
            </a:r>
            <a:endParaRPr 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05A9F0-B024-7817-663C-BDE9F1B2608B}"/>
              </a:ext>
            </a:extLst>
          </p:cNvPr>
          <p:cNvSpPr/>
          <p:nvPr/>
        </p:nvSpPr>
        <p:spPr>
          <a:xfrm>
            <a:off x="7684680" y="3122989"/>
            <a:ext cx="1172308" cy="12582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zh-CN" altLang="en-US" sz="1200" dirty="0"/>
              <a:t>示例图片</a:t>
            </a:r>
            <a:r>
              <a:rPr lang="en-US" altLang="zh-CN" sz="1200" dirty="0"/>
              <a:t>2</a:t>
            </a:r>
            <a:endParaRPr lang="en-US" sz="1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0F59DC-C608-A09F-3C0C-E85035DF1173}"/>
              </a:ext>
            </a:extLst>
          </p:cNvPr>
          <p:cNvSpPr/>
          <p:nvPr/>
        </p:nvSpPr>
        <p:spPr>
          <a:xfrm>
            <a:off x="8984189" y="3122990"/>
            <a:ext cx="1172308" cy="12582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zh-CN" altLang="en-US" sz="1200" dirty="0"/>
              <a:t>示例图片</a:t>
            </a:r>
            <a:r>
              <a:rPr lang="en-US" altLang="zh-CN" sz="1200" dirty="0"/>
              <a:t>3</a:t>
            </a:r>
            <a:endParaRPr lang="en-US" sz="1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8CD80E-D186-CB9C-5446-8B6760393A49}"/>
              </a:ext>
            </a:extLst>
          </p:cNvPr>
          <p:cNvSpPr/>
          <p:nvPr/>
        </p:nvSpPr>
        <p:spPr>
          <a:xfrm>
            <a:off x="10283698" y="3122989"/>
            <a:ext cx="1172308" cy="12582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zh-CN" altLang="en-US" sz="1200" dirty="0"/>
              <a:t>示例图片</a:t>
            </a:r>
            <a:r>
              <a:rPr lang="en-US" altLang="zh-CN" sz="1200" dirty="0"/>
              <a:t>4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01729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E7149-15FC-9C53-F525-F13256E95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4F7C20A-34B8-5DC7-2A63-AE73F3CBB1F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4" imgW="639" imgH="642" progId="TCLayout.ActiveDocument.1">
                  <p:embed/>
                </p:oleObj>
              </mc:Choice>
              <mc:Fallback>
                <p:oleObj name="thinkcell Slide" r:id="rId4" imgW="639" imgH="642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A2FAA9-3A44-F2BF-88F5-6FBDE59F30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321C7F1-1D3F-63BC-04EC-AA8B39B3E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324000"/>
          <a:lstStyle/>
          <a:p>
            <a:r>
              <a:rPr lang="zh-CN" altLang="en-US" dirty="0"/>
              <a:t>医疗行业应用介绍（</a:t>
            </a:r>
            <a:r>
              <a:rPr lang="en-US" altLang="zh-CN" dirty="0"/>
              <a:t>4/4</a:t>
            </a:r>
            <a:r>
              <a:rPr lang="zh-CN" altLang="en-US" dirty="0"/>
              <a:t>）</a:t>
            </a:r>
            <a:r>
              <a:rPr lang="en-US" altLang="zh-CN" dirty="0"/>
              <a:t>— </a:t>
            </a:r>
            <a:r>
              <a:rPr lang="zh-CN" altLang="en-US" dirty="0">
                <a:solidFill>
                  <a:srgbClr val="FF9000"/>
                </a:solidFill>
              </a:rPr>
              <a:t>后勤运维管理平台其他功能模块 敬请期待！！！</a:t>
            </a:r>
            <a:r>
              <a:rPr lang="en-US" dirty="0">
                <a:solidFill>
                  <a:srgbClr val="FF9000"/>
                </a:solidFill>
              </a:rPr>
              <a:t> 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CEE05D-4DF1-C6A2-77AA-7B31D51620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it-IT"/>
              <a:t>Restricted | © Siemens 2026 | SI B CN Vertical | 2026-10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A63AC-7A47-6DD8-D41E-BA6304CA3F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9" name="Arrow: Chevron 28">
            <a:extLst>
              <a:ext uri="{FF2B5EF4-FFF2-40B4-BE49-F238E27FC236}">
                <a16:creationId xmlns:a16="http://schemas.microsoft.com/office/drawing/2014/main" id="{67966970-134A-B246-7D8C-5D82A0521824}"/>
              </a:ext>
            </a:extLst>
          </p:cNvPr>
          <p:cNvSpPr/>
          <p:nvPr/>
        </p:nvSpPr>
        <p:spPr>
          <a:xfrm>
            <a:off x="410400" y="1592521"/>
            <a:ext cx="3869714" cy="473892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FY26 Q4</a:t>
            </a:r>
          </a:p>
        </p:txBody>
      </p:sp>
      <p:sp>
        <p:nvSpPr>
          <p:cNvPr id="31" name="Arrow: Chevron 30">
            <a:extLst>
              <a:ext uri="{FF2B5EF4-FFF2-40B4-BE49-F238E27FC236}">
                <a16:creationId xmlns:a16="http://schemas.microsoft.com/office/drawing/2014/main" id="{4EC237C7-CA84-B9B8-B114-49BF9A02C596}"/>
              </a:ext>
            </a:extLst>
          </p:cNvPr>
          <p:cNvSpPr/>
          <p:nvPr/>
        </p:nvSpPr>
        <p:spPr>
          <a:xfrm>
            <a:off x="4157786" y="1589675"/>
            <a:ext cx="3869714" cy="473892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FY27 Q1</a:t>
            </a: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55E83453-AEC3-1A40-B5CD-2832BB07B701}"/>
              </a:ext>
            </a:extLst>
          </p:cNvPr>
          <p:cNvSpPr/>
          <p:nvPr/>
        </p:nvSpPr>
        <p:spPr>
          <a:xfrm>
            <a:off x="7893538" y="1589675"/>
            <a:ext cx="3888059" cy="473892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FY27 Q2</a:t>
            </a:r>
          </a:p>
        </p:txBody>
      </p:sp>
      <p:sp>
        <p:nvSpPr>
          <p:cNvPr id="39" name="Abgerundetes Rechteck 37">
            <a:extLst>
              <a:ext uri="{FF2B5EF4-FFF2-40B4-BE49-F238E27FC236}">
                <a16:creationId xmlns:a16="http://schemas.microsoft.com/office/drawing/2014/main" id="{A71F29B0-F581-D513-5412-B7140CD8DFCD}"/>
              </a:ext>
            </a:extLst>
          </p:cNvPr>
          <p:cNvSpPr>
            <a:spLocks/>
          </p:cNvSpPr>
          <p:nvPr/>
        </p:nvSpPr>
        <p:spPr bwMode="gray">
          <a:xfrm>
            <a:off x="433987" y="2114511"/>
            <a:ext cx="3606790" cy="1014220"/>
          </a:xfrm>
          <a:prstGeom prst="rect">
            <a:avLst/>
          </a:prstGeom>
          <a:solidFill>
            <a:srgbClr val="33335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44" tIns="71963" rIns="107944" bIns="71963" rtlCol="0" anchor="t"/>
          <a:lstStyle/>
          <a:p>
            <a:pPr>
              <a:spcBef>
                <a:spcPts val="300"/>
              </a:spcBef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199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sz="1199" dirty="0">
              <a:solidFill>
                <a:srgbClr val="F3F3F0"/>
              </a:solidFill>
              <a:latin typeface="Arial"/>
            </a:endParaRPr>
          </a:p>
        </p:txBody>
      </p:sp>
      <p:sp>
        <p:nvSpPr>
          <p:cNvPr id="43" name="Abgerundetes Rechteck 37">
            <a:extLst>
              <a:ext uri="{FF2B5EF4-FFF2-40B4-BE49-F238E27FC236}">
                <a16:creationId xmlns:a16="http://schemas.microsoft.com/office/drawing/2014/main" id="{7291C6C5-616F-3540-794A-ED9913F2647A}"/>
              </a:ext>
            </a:extLst>
          </p:cNvPr>
          <p:cNvSpPr>
            <a:spLocks/>
          </p:cNvSpPr>
          <p:nvPr/>
        </p:nvSpPr>
        <p:spPr bwMode="gray">
          <a:xfrm>
            <a:off x="4176032" y="2114511"/>
            <a:ext cx="3606790" cy="1014220"/>
          </a:xfrm>
          <a:prstGeom prst="rect">
            <a:avLst/>
          </a:prstGeom>
          <a:solidFill>
            <a:srgbClr val="33335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44" tIns="71963" rIns="107944" bIns="71963" rtlCol="0" anchor="t"/>
          <a:lstStyle/>
          <a:p>
            <a:pPr>
              <a:spcBef>
                <a:spcPts val="300"/>
              </a:spcBef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199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sz="1199" dirty="0">
              <a:solidFill>
                <a:srgbClr val="F3F3F0"/>
              </a:solidFill>
              <a:latin typeface="Arial"/>
            </a:endParaRPr>
          </a:p>
        </p:txBody>
      </p:sp>
      <p:sp>
        <p:nvSpPr>
          <p:cNvPr id="45" name="Abgerundetes Rechteck 37">
            <a:extLst>
              <a:ext uri="{FF2B5EF4-FFF2-40B4-BE49-F238E27FC236}">
                <a16:creationId xmlns:a16="http://schemas.microsoft.com/office/drawing/2014/main" id="{2EB0C6AF-C58C-C659-9B9E-4CA4741C7131}"/>
              </a:ext>
            </a:extLst>
          </p:cNvPr>
          <p:cNvSpPr>
            <a:spLocks/>
          </p:cNvSpPr>
          <p:nvPr/>
        </p:nvSpPr>
        <p:spPr bwMode="gray">
          <a:xfrm>
            <a:off x="7929203" y="2114511"/>
            <a:ext cx="3852395" cy="1014220"/>
          </a:xfrm>
          <a:prstGeom prst="rect">
            <a:avLst/>
          </a:prstGeom>
          <a:solidFill>
            <a:srgbClr val="33335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7944" tIns="71963" rIns="107944" bIns="71963" rtlCol="0" anchor="t"/>
          <a:lstStyle/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altLang="zh-CN" sz="1199" dirty="0">
              <a:solidFill>
                <a:srgbClr val="F3F3F0"/>
              </a:solidFill>
              <a:latin typeface="Arial"/>
            </a:endParaRP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199" dirty="0">
              <a:solidFill>
                <a:srgbClr val="F3F3F0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endParaRPr lang="en-US" sz="1199" dirty="0">
              <a:solidFill>
                <a:srgbClr val="F3F3F0"/>
              </a:solidFill>
              <a:latin typeface="Arial"/>
            </a:endParaRPr>
          </a:p>
        </p:txBody>
      </p:sp>
      <p:pic>
        <p:nvPicPr>
          <p:cNvPr id="12" name="Picture 6" descr="A grey rectangular object with a green light&#10;&#10;Description automatically generated">
            <a:extLst>
              <a:ext uri="{FF2B5EF4-FFF2-40B4-BE49-F238E27FC236}">
                <a16:creationId xmlns:a16="http://schemas.microsoft.com/office/drawing/2014/main" id="{09053850-03C8-4B7A-084E-5E733B66D2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397" y="260833"/>
            <a:ext cx="1672014" cy="121297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9F11828-A2D5-16E5-0D97-C2DFBD7A1C0E}"/>
              </a:ext>
            </a:extLst>
          </p:cNvPr>
          <p:cNvSpPr/>
          <p:nvPr/>
        </p:nvSpPr>
        <p:spPr>
          <a:xfrm>
            <a:off x="473006" y="3535143"/>
            <a:ext cx="2270194" cy="2545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zh-CN" altLang="en-US" sz="1200" dirty="0"/>
              <a:t>示例图片</a:t>
            </a:r>
            <a:r>
              <a:rPr lang="en-US" altLang="zh-CN" sz="1200" dirty="0"/>
              <a:t>1</a:t>
            </a:r>
            <a:endParaRPr lang="en-US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BFCD37-D6B9-EA83-4575-37D2C86E7FEB}"/>
              </a:ext>
            </a:extLst>
          </p:cNvPr>
          <p:cNvSpPr/>
          <p:nvPr/>
        </p:nvSpPr>
        <p:spPr>
          <a:xfrm>
            <a:off x="3421269" y="3535143"/>
            <a:ext cx="2270194" cy="2545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zh-CN" altLang="en-US" sz="1200" dirty="0"/>
              <a:t>示例图片</a:t>
            </a:r>
            <a:r>
              <a:rPr lang="en-US" altLang="zh-CN" sz="1200" dirty="0"/>
              <a:t>2</a:t>
            </a:r>
            <a:endParaRPr lang="en-US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AB41EB-1549-B7F1-F77E-EF1979FD10D4}"/>
              </a:ext>
            </a:extLst>
          </p:cNvPr>
          <p:cNvSpPr/>
          <p:nvPr/>
        </p:nvSpPr>
        <p:spPr>
          <a:xfrm>
            <a:off x="6455733" y="3535143"/>
            <a:ext cx="2270194" cy="2545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zh-CN" altLang="en-US" sz="1200" dirty="0"/>
              <a:t>示例图片</a:t>
            </a:r>
            <a:r>
              <a:rPr lang="en-US" altLang="zh-CN" sz="1200" dirty="0"/>
              <a:t>3</a:t>
            </a:r>
            <a:endParaRPr lang="en-US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C1B395-CF49-0F93-4DAA-81D34873FABA}"/>
              </a:ext>
            </a:extLst>
          </p:cNvPr>
          <p:cNvSpPr/>
          <p:nvPr/>
        </p:nvSpPr>
        <p:spPr>
          <a:xfrm>
            <a:off x="9474330" y="3535143"/>
            <a:ext cx="2270194" cy="25452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 anchorCtr="0"/>
          <a:lstStyle/>
          <a:p>
            <a:pPr algn="ctr"/>
            <a:r>
              <a:rPr lang="zh-CN" altLang="en-US" sz="1200" dirty="0"/>
              <a:t>示例图片</a:t>
            </a:r>
            <a:r>
              <a:rPr lang="en-US" altLang="zh-CN" sz="1200" dirty="0"/>
              <a:t>4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750336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6bdbc8e-f81c-4748-99cc-bf771adff048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4_Siemens 2022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C1B6"/>
      </a:hlink>
      <a:folHlink>
        <a:srgbClr val="00C1B6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Siemens Petrol | 0 153 153">
      <a:srgbClr val="009999"/>
    </a:custClr>
    <a:custClr name="Light Petrol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sie-ppt-O365-16x9-standard-eng-v3-4-4.potx" id="{99EA5F69-8815-4072-9B7C-FC133107D0EC}" vid="{E9CECF10-083F-4B56-B889-306B0E9C0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59b6cd5-d141-4a33-8bf1-0ca04484304f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</Words>
  <Application>Microsoft Office PowerPoint</Application>
  <PresentationFormat>Widescreen</PresentationFormat>
  <Paragraphs>117</Paragraphs>
  <Slides>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Wingdings</vt:lpstr>
      <vt:lpstr>4_Siemens 2022</vt:lpstr>
      <vt:lpstr>thinkcell Slide</vt:lpstr>
      <vt:lpstr>医疗行业应用介绍（3/4）— 后勤运维管理平台能源管理功能 </vt:lpstr>
      <vt:lpstr>医疗行业应用介绍（4/4）— 后勤运维管理平台设备管理功能 </vt:lpstr>
      <vt:lpstr>医疗行业应用介绍（4/4）— 后勤运维管理平台其他功能模块 敬请期待！！！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医疗行业应用介绍</dc:title>
  <dc:creator>lei.fan@siemens.com</dc:creator>
  <cp:lastModifiedBy>Fan, Lei (RC-CN SI B S V APP)</cp:lastModifiedBy>
  <cp:revision>372</cp:revision>
  <dcterms:created xsi:type="dcterms:W3CDTF">2021-05-27T01:59:22Z</dcterms:created>
  <dcterms:modified xsi:type="dcterms:W3CDTF">2026-09-16T02:33:12Z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9b6cd5-d141-4a33-8bf1-0ca04484304f_Enabled">
    <vt:lpwstr>true</vt:lpwstr>
  </property>
  <property fmtid="{D5CDD505-2E9C-101B-9397-08002B2CF9AE}" pid="3" name="MSIP_Label_a59b6cd5-d141-4a33-8bf1-0ca04484304f_SetDate">
    <vt:lpwstr>2021-11-03T09:13:29Z</vt:lpwstr>
  </property>
  <property fmtid="{D5CDD505-2E9C-101B-9397-08002B2CF9AE}" pid="4" name="MSIP_Label_a59b6cd5-d141-4a33-8bf1-0ca04484304f_Method">
    <vt:lpwstr>Standard</vt:lpwstr>
  </property>
  <property fmtid="{D5CDD505-2E9C-101B-9397-08002B2CF9AE}" pid="5" name="MSIP_Label_a59b6cd5-d141-4a33-8bf1-0ca04484304f_Name">
    <vt:lpwstr>restricted-default</vt:lpwstr>
  </property>
  <property fmtid="{D5CDD505-2E9C-101B-9397-08002B2CF9AE}" pid="6" name="MSIP_Label_a59b6cd5-d141-4a33-8bf1-0ca04484304f_SiteId">
    <vt:lpwstr>38ae3bcd-9579-4fd4-adda-b42e1495d55a</vt:lpwstr>
  </property>
  <property fmtid="{D5CDD505-2E9C-101B-9397-08002B2CF9AE}" pid="7" name="MSIP_Label_a59b6cd5-d141-4a33-8bf1-0ca04484304f_ActionId">
    <vt:lpwstr>9b19bdac-e487-4069-a6f6-658e47acc2fa</vt:lpwstr>
  </property>
  <property fmtid="{D5CDD505-2E9C-101B-9397-08002B2CF9AE}" pid="8" name="MSIP_Label_a59b6cd5-d141-4a33-8bf1-0ca04484304f_ContentBits">
    <vt:lpwstr>0</vt:lpwstr>
  </property>
  <property fmtid="{D5CDD505-2E9C-101B-9397-08002B2CF9AE}" pid="9" name="Document_Confidentiality">
    <vt:lpwstr>Restricted</vt:lpwstr>
  </property>
</Properties>
</file>