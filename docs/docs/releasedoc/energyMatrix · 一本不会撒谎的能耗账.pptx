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fonts/font1.fntdata" ContentType="application/x-fontdata"/>
  <Override PartName="/ppt/fonts/font2.fntdata" ContentType="application/x-fontdata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</p:sldIdLst>
  <p:sldSz cx="12192000" cy="6858000"/>
  <p:notesSz cx="12192000" cy="6858000"/>
  <p:embeddedFontLst>
    <p:embeddedFont>
      <p:font typeface="Oranienbaum" panose="02000506080000020003"/>
      <p:regular r:id="rId15"/>
    </p:embeddedFont>
    <p:embeddedFont>
      <p:font typeface="MiSans" charset="-122"/>
      <p:regular r:id="rId16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6" Type="http://schemas.openxmlformats.org/officeDocument/2006/relationships/font" Target="fonts/font2.fntdata"/><Relationship Id="rId15" Type="http://schemas.openxmlformats.org/officeDocument/2006/relationships/font" Target="fonts/font1.fntdata"/><Relationship Id="rId14" Type="http://schemas.openxmlformats.org/officeDocument/2006/relationships/tableStyles" Target="tableStyles.xml"/><Relationship Id="rId13" Type="http://schemas.openxmlformats.org/officeDocument/2006/relationships/viewProps" Target="viewProps.xml"/><Relationship Id="rId12" Type="http://schemas.openxmlformats.org/officeDocument/2006/relationships/presProps" Target="presProps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/>
    <p:bodyStyle/>
    <p:otherStyle/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1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354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bg-texture"/>
          <p:cNvPicPr/>
          <p:nvPr/>
        </p:nvPicPr>
        <p:blipFill>
          <a:blip r:embed="rId1">
            <a:alphaModFix amt="14000"/>
          </a:blip>
          <a:srcRect t="5000" b="5000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</p:pic>
      <p:sp>
        <p:nvSpPr>
          <p:cNvPr id="3" name="watermark"/>
          <p:cNvSpPr txBox="1"/>
          <p:nvPr/>
        </p:nvSpPr>
        <p:spPr>
          <a:xfrm>
            <a:off x="9144000" y="558800"/>
            <a:ext cx="2540000" cy="1651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1000" noProof="1">
                <a:solidFill>
                  <a:srgbClr val="F3EDE0">
                    <a:alpha val="2549"/>
                  </a:srgbClr>
                </a:solidFill>
                <a:latin typeface="Oranienbaum" panose="02000506080000020003"/>
                <a:ea typeface="Oranienbaum" panose="02000506080000020003"/>
              </a:rPr>
              <a:t>Em</a:t>
            </a:r>
            <a:endParaRPr lang="en-US" sz="11000" noProof="1"/>
          </a:p>
        </p:txBody>
      </p:sp>
      <p:sp>
        <p:nvSpPr>
          <p:cNvPr id="4" name="top-rule"/>
          <p:cNvSpPr/>
          <p:nvPr/>
        </p:nvSpPr>
        <p:spPr>
          <a:xfrm>
            <a:off x="914400" y="812800"/>
            <a:ext cx="1524000" cy="25400"/>
          </a:xfrm>
          <a:prstGeom prst="rect">
            <a:avLst/>
          </a:prstGeom>
          <a:solidFill>
            <a:srgbClr val="B5651D"/>
          </a:solidFill>
          <a:ln>
            <a:noFill/>
          </a:ln>
        </p:spPr>
      </p:sp>
      <p:sp>
        <p:nvSpPr>
          <p:cNvPr id="5" name="kicker"/>
          <p:cNvSpPr txBox="1"/>
          <p:nvPr/>
        </p:nvSpPr>
        <p:spPr>
          <a:xfrm>
            <a:off x="914400" y="1016000"/>
            <a:ext cx="78740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100" kern="0" spc="300" noProof="1">
                <a:solidFill>
                  <a:srgbClr val="F3EDE0">
                    <a:alpha val="70196"/>
                  </a:srgbClr>
                </a:solidFill>
                <a:latin typeface="MiSans" charset="-122"/>
                <a:ea typeface="MiSans" charset="-122"/>
              </a:rPr>
              <a:t>ENERGYMATRIX · 医院能源管理数字孪生 POD</a:t>
            </a:r>
            <a:endParaRPr lang="en-US" sz="1100" noProof="1"/>
          </a:p>
        </p:txBody>
      </p:sp>
      <p:sp>
        <p:nvSpPr>
          <p:cNvPr id="6" name="title"/>
          <p:cNvSpPr txBox="1"/>
          <p:nvPr/>
        </p:nvSpPr>
        <p:spPr>
          <a:xfrm>
            <a:off x="914400" y="1905000"/>
            <a:ext cx="10363200" cy="965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4600" noProof="1">
                <a:solidFill>
                  <a:srgbClr val="F3EDE0"/>
                </a:solidFill>
                <a:latin typeface="Oranienbaum" panose="02000506080000020003"/>
                <a:ea typeface="思源宋体"/>
              </a:rPr>
              <a:t>一本</a:t>
            </a:r>
            <a:r>
              <a:rPr lang="en-US" sz="4600" noProof="1">
                <a:solidFill>
                  <a:srgbClr val="B5651D"/>
                </a:solidFill>
                <a:latin typeface="Oranienbaum" panose="02000506080000020003"/>
                <a:ea typeface="思源宋体"/>
              </a:rPr>
              <a:t>不会撒谎</a:t>
            </a:r>
            <a:r>
              <a:rPr lang="en-US" sz="4600" noProof="1">
                <a:solidFill>
                  <a:srgbClr val="F3EDE0"/>
                </a:solidFill>
                <a:latin typeface="Oranienbaum" panose="02000506080000020003"/>
                <a:ea typeface="思源宋体"/>
              </a:rPr>
              <a:t>的能耗账</a:t>
            </a:r>
            <a:endParaRPr lang="en-US" sz="4600" noProof="1"/>
          </a:p>
        </p:txBody>
      </p:sp>
      <p:sp>
        <p:nvSpPr>
          <p:cNvPr id="7" name="subtitle"/>
          <p:cNvSpPr txBox="1"/>
          <p:nvPr/>
        </p:nvSpPr>
        <p:spPr>
          <a:xfrm>
            <a:off x="914400" y="3048000"/>
            <a:ext cx="9906000" cy="711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80000"/>
              </a:lnSpc>
            </a:pPr>
            <a:r>
              <a:rPr lang="en-US" sz="1400" noProof="1">
                <a:solidFill>
                  <a:srgbClr val="F3EDE0">
                    <a:alpha val="70196"/>
                  </a:srgbClr>
                </a:solidFill>
                <a:latin typeface="MiSans" charset="-122"/>
                <a:ea typeface="MiSans" charset="-122"/>
              </a:rPr>
              <a:t>市面上的能耗系统都在回答「用了多少」；energyMatrix 回答的是——</a:t>
            </a:r>
            <a:endParaRPr lang="en-US" sz="1400" noProof="1"/>
          </a:p>
          <a:p>
            <a:pPr>
              <a:lnSpc>
                <a:spcPct val="180000"/>
              </a:lnSpc>
            </a:pPr>
            <a:r>
              <a:rPr lang="en-US" sz="1400" noProof="1">
                <a:solidFill>
                  <a:srgbClr val="F3EDE0">
                    <a:alpha val="70196"/>
                  </a:srgbClr>
                </a:solidFill>
                <a:latin typeface="MiSans" charset="-122"/>
                <a:ea typeface="MiSans" charset="-122"/>
              </a:rPr>
              <a:t>这个数，你敢不敢拿去结算、审计、付钱。</a:t>
            </a:r>
            <a:endParaRPr lang="en-US" sz="1400" noProof="1"/>
          </a:p>
        </p:txBody>
      </p:sp>
      <p:sp>
        <p:nvSpPr>
          <p:cNvPr id="8" name="kw1-rule"/>
          <p:cNvSpPr/>
          <p:nvPr/>
        </p:nvSpPr>
        <p:spPr>
          <a:xfrm>
            <a:off x="914400" y="5080000"/>
            <a:ext cx="2133600" cy="12700"/>
          </a:xfrm>
          <a:prstGeom prst="rect">
            <a:avLst/>
          </a:prstGeom>
          <a:solidFill>
            <a:srgbClr val="F3EDE0">
              <a:alpha val="30196"/>
            </a:srgbClr>
          </a:solidFill>
          <a:ln>
            <a:noFill/>
          </a:ln>
        </p:spPr>
      </p:sp>
      <p:sp>
        <p:nvSpPr>
          <p:cNvPr id="9" name="kw1-word"/>
          <p:cNvSpPr txBox="1"/>
          <p:nvPr/>
        </p:nvSpPr>
        <p:spPr>
          <a:xfrm>
            <a:off x="914400" y="5257800"/>
            <a:ext cx="2133600" cy="330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800" noProof="1">
                <a:solidFill>
                  <a:srgbClr val="B5651D"/>
                </a:solidFill>
                <a:latin typeface="Oranienbaum" panose="02000506080000020003"/>
                <a:ea typeface="思源宋体"/>
              </a:rPr>
              <a:t>装得快</a:t>
            </a:r>
            <a:endParaRPr lang="en-US" sz="1800" noProof="1"/>
          </a:p>
        </p:txBody>
      </p:sp>
      <p:sp>
        <p:nvSpPr>
          <p:cNvPr id="10" name="kw1-desc"/>
          <p:cNvSpPr txBox="1"/>
          <p:nvPr/>
        </p:nvSpPr>
        <p:spPr>
          <a:xfrm>
            <a:off x="914400" y="5613400"/>
            <a:ext cx="21336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050" noProof="1">
                <a:solidFill>
                  <a:srgbClr val="F3EDE0">
                    <a:alpha val="70196"/>
                  </a:srgbClr>
                </a:solidFill>
                <a:latin typeface="MiSans" charset="-122"/>
                <a:ea typeface="MiSans" charset="-122"/>
              </a:rPr>
              <a:t>即插即用的 Pod</a:t>
            </a:r>
            <a:endParaRPr lang="en-US" sz="1050" noProof="1"/>
          </a:p>
        </p:txBody>
      </p:sp>
      <p:sp>
        <p:nvSpPr>
          <p:cNvPr id="11" name="kw2-rule"/>
          <p:cNvSpPr/>
          <p:nvPr/>
        </p:nvSpPr>
        <p:spPr>
          <a:xfrm>
            <a:off x="3657600" y="5080000"/>
            <a:ext cx="2133600" cy="12700"/>
          </a:xfrm>
          <a:prstGeom prst="rect">
            <a:avLst/>
          </a:prstGeom>
          <a:solidFill>
            <a:srgbClr val="F3EDE0">
              <a:alpha val="30196"/>
            </a:srgbClr>
          </a:solidFill>
          <a:ln>
            <a:noFill/>
          </a:ln>
        </p:spPr>
      </p:sp>
      <p:sp>
        <p:nvSpPr>
          <p:cNvPr id="12" name="kw2-word"/>
          <p:cNvSpPr txBox="1"/>
          <p:nvPr/>
        </p:nvSpPr>
        <p:spPr>
          <a:xfrm>
            <a:off x="3657600" y="5257800"/>
            <a:ext cx="2133600" cy="330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800" noProof="1">
                <a:solidFill>
                  <a:srgbClr val="F3EDE0"/>
                </a:solidFill>
                <a:latin typeface="Oranienbaum" panose="02000506080000020003"/>
                <a:ea typeface="思源宋体"/>
              </a:rPr>
              <a:t>算得清</a:t>
            </a:r>
            <a:endParaRPr lang="en-US" sz="1800" noProof="1"/>
          </a:p>
        </p:txBody>
      </p:sp>
      <p:sp>
        <p:nvSpPr>
          <p:cNvPr id="13" name="kw2-desc"/>
          <p:cNvSpPr txBox="1"/>
          <p:nvPr/>
        </p:nvSpPr>
        <p:spPr>
          <a:xfrm>
            <a:off x="3657600" y="5613400"/>
            <a:ext cx="21336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050" noProof="1">
                <a:solidFill>
                  <a:srgbClr val="F3EDE0">
                    <a:alpha val="70196"/>
                  </a:srgbClr>
                </a:solidFill>
                <a:latin typeface="MiSans" charset="-122"/>
                <a:ea typeface="MiSans" charset="-122"/>
              </a:rPr>
              <a:t>五介质一本账</a:t>
            </a:r>
            <a:endParaRPr lang="en-US" sz="1050" noProof="1"/>
          </a:p>
        </p:txBody>
      </p:sp>
      <p:sp>
        <p:nvSpPr>
          <p:cNvPr id="14" name="kw3-rule"/>
          <p:cNvSpPr/>
          <p:nvPr/>
        </p:nvSpPr>
        <p:spPr>
          <a:xfrm>
            <a:off x="6400800" y="5080000"/>
            <a:ext cx="2133600" cy="12700"/>
          </a:xfrm>
          <a:prstGeom prst="rect">
            <a:avLst/>
          </a:prstGeom>
          <a:solidFill>
            <a:srgbClr val="F3EDE0">
              <a:alpha val="30196"/>
            </a:srgbClr>
          </a:solidFill>
          <a:ln>
            <a:noFill/>
          </a:ln>
        </p:spPr>
      </p:sp>
      <p:sp>
        <p:nvSpPr>
          <p:cNvPr id="15" name="kw3-word"/>
          <p:cNvSpPr txBox="1"/>
          <p:nvPr/>
        </p:nvSpPr>
        <p:spPr>
          <a:xfrm>
            <a:off x="6400800" y="5257800"/>
            <a:ext cx="2133600" cy="330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800" noProof="1">
                <a:solidFill>
                  <a:srgbClr val="F3EDE0"/>
                </a:solidFill>
                <a:latin typeface="Oranienbaum" panose="02000506080000020003"/>
                <a:ea typeface="思源宋体"/>
              </a:rPr>
              <a:t>藏不住</a:t>
            </a:r>
            <a:endParaRPr lang="en-US" sz="1800" noProof="1"/>
          </a:p>
        </p:txBody>
      </p:sp>
      <p:sp>
        <p:nvSpPr>
          <p:cNvPr id="16" name="kw3-desc"/>
          <p:cNvSpPr txBox="1"/>
          <p:nvPr/>
        </p:nvSpPr>
        <p:spPr>
          <a:xfrm>
            <a:off x="6400800" y="5613400"/>
            <a:ext cx="21336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050" noProof="1">
                <a:solidFill>
                  <a:srgbClr val="F3EDE0">
                    <a:alpha val="70196"/>
                  </a:srgbClr>
                </a:solidFill>
                <a:latin typeface="MiSans" charset="-122"/>
                <a:ea typeface="MiSans" charset="-122"/>
              </a:rPr>
              <a:t>有问题不装正常</a:t>
            </a:r>
            <a:endParaRPr lang="en-US" sz="1050" noProof="1"/>
          </a:p>
        </p:txBody>
      </p:sp>
      <p:sp>
        <p:nvSpPr>
          <p:cNvPr id="17" name="kw4-rule"/>
          <p:cNvSpPr/>
          <p:nvPr/>
        </p:nvSpPr>
        <p:spPr>
          <a:xfrm>
            <a:off x="9144000" y="5080000"/>
            <a:ext cx="2133600" cy="12700"/>
          </a:xfrm>
          <a:prstGeom prst="rect">
            <a:avLst/>
          </a:prstGeom>
          <a:solidFill>
            <a:srgbClr val="F3EDE0">
              <a:alpha val="30196"/>
            </a:srgbClr>
          </a:solidFill>
          <a:ln>
            <a:noFill/>
          </a:ln>
        </p:spPr>
      </p:sp>
      <p:sp>
        <p:nvSpPr>
          <p:cNvPr id="18" name="kw4-word"/>
          <p:cNvSpPr txBox="1"/>
          <p:nvPr/>
        </p:nvSpPr>
        <p:spPr>
          <a:xfrm>
            <a:off x="9144000" y="5257800"/>
            <a:ext cx="2133600" cy="330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800" noProof="1">
                <a:solidFill>
                  <a:srgbClr val="F3EDE0"/>
                </a:solidFill>
                <a:latin typeface="Oranienbaum" panose="02000506080000020003"/>
                <a:ea typeface="思源宋体"/>
              </a:rPr>
              <a:t>赖不掉</a:t>
            </a:r>
            <a:endParaRPr lang="en-US" sz="1800" noProof="1"/>
          </a:p>
        </p:txBody>
      </p:sp>
      <p:sp>
        <p:nvSpPr>
          <p:cNvPr id="19" name="kw4-desc"/>
          <p:cNvSpPr txBox="1"/>
          <p:nvPr/>
        </p:nvSpPr>
        <p:spPr>
          <a:xfrm>
            <a:off x="9144000" y="5613400"/>
            <a:ext cx="21336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050" noProof="1">
                <a:solidFill>
                  <a:srgbClr val="F3EDE0">
                    <a:alpha val="70196"/>
                  </a:srgbClr>
                </a:solidFill>
                <a:latin typeface="MiSans" charset="-122"/>
                <a:ea typeface="MiSans" charset="-122"/>
              </a:rPr>
              <a:t>改一笔留一痕</a:t>
            </a:r>
            <a:endParaRPr lang="en-US" sz="1050" noProof="1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EDE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914400" y="635000"/>
            <a:ext cx="63500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100" kern="0" spc="200" noProof="1">
                <a:solidFill>
                  <a:srgbClr val="B5651D"/>
                </a:solidFill>
                <a:latin typeface="MiSans" charset="-122"/>
                <a:ea typeface="MiSans" charset="-122"/>
              </a:rPr>
              <a:t>现状 · 似曾相识吗</a:t>
            </a:r>
            <a:endParaRPr lang="en-US" sz="1100" noProof="1"/>
          </a:p>
        </p:txBody>
      </p:sp>
      <p:sp>
        <p:nvSpPr>
          <p:cNvPr id="3" name="title"/>
          <p:cNvSpPr txBox="1"/>
          <p:nvPr/>
        </p:nvSpPr>
        <p:spPr>
          <a:xfrm>
            <a:off x="914400" y="965200"/>
            <a:ext cx="9144000" cy="558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2900" noProof="1">
                <a:solidFill>
                  <a:srgbClr val="0A3541"/>
                </a:solidFill>
                <a:latin typeface="Oranienbaum" panose="02000506080000020003"/>
                <a:ea typeface="思源宋体"/>
              </a:rPr>
              <a:t>医院后勤的能耗，难在三件小事</a:t>
            </a:r>
            <a:endParaRPr lang="en-US" sz="2900" noProof="1"/>
          </a:p>
        </p:txBody>
      </p:sp>
      <p:sp>
        <p:nvSpPr>
          <p:cNvPr id="4" name="p1-rule"/>
          <p:cNvSpPr/>
          <p:nvPr/>
        </p:nvSpPr>
        <p:spPr>
          <a:xfrm>
            <a:off x="914400" y="2032000"/>
            <a:ext cx="6096000" cy="12700"/>
          </a:xfrm>
          <a:prstGeom prst="rect">
            <a:avLst/>
          </a:prstGeom>
          <a:solidFill>
            <a:srgbClr val="D8CDB8"/>
          </a:solidFill>
          <a:ln>
            <a:noFill/>
          </a:ln>
        </p:spPr>
      </p:sp>
      <p:sp>
        <p:nvSpPr>
          <p:cNvPr id="5" name="p1"/>
          <p:cNvSpPr txBox="1"/>
          <p:nvPr/>
        </p:nvSpPr>
        <p:spPr>
          <a:xfrm>
            <a:off x="914400" y="2235200"/>
            <a:ext cx="6096000" cy="1066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55000"/>
              </a:lnSpc>
            </a:pPr>
            <a:r>
              <a:rPr lang="en-US" sz="1600" b="1" noProof="1">
                <a:solidFill>
                  <a:srgbClr val="0A3541"/>
                </a:solidFill>
                <a:latin typeface="MiSans" charset="-122"/>
                <a:ea typeface="MiSans" charset="-122"/>
              </a:rPr>
              <a:t>月底对账</a:t>
            </a:r>
            <a:endParaRPr lang="en-US" sz="1600" noProof="1"/>
          </a:p>
          <a:p>
            <a:pPr>
              <a:lnSpc>
                <a:spcPct val="155000"/>
              </a:lnSpc>
              <a:spcBef>
                <a:spcPts val="600"/>
              </a:spcBef>
            </a:pPr>
            <a:r>
              <a:rPr lang="en-US" sz="1250" noProof="1">
                <a:solidFill>
                  <a:srgbClr val="6E7B74"/>
                </a:solidFill>
                <a:latin typeface="MiSans" charset="-122"/>
                <a:ea typeface="MiSans" charset="-122"/>
              </a:rPr>
              <a:t>水电气热冷五种介质、几百块表，人工抄表加 Excel 拼账，科室分摊只能靠估。</a:t>
            </a:r>
            <a:endParaRPr lang="en-US" sz="1600" noProof="1"/>
          </a:p>
        </p:txBody>
      </p:sp>
      <p:sp>
        <p:nvSpPr>
          <p:cNvPr id="6" name="p2-rule"/>
          <p:cNvSpPr/>
          <p:nvPr/>
        </p:nvSpPr>
        <p:spPr>
          <a:xfrm>
            <a:off x="914400" y="3505200"/>
            <a:ext cx="6096000" cy="12700"/>
          </a:xfrm>
          <a:prstGeom prst="rect">
            <a:avLst/>
          </a:prstGeom>
          <a:solidFill>
            <a:srgbClr val="D8CDB8"/>
          </a:solidFill>
          <a:ln>
            <a:noFill/>
          </a:ln>
        </p:spPr>
      </p:sp>
      <p:sp>
        <p:nvSpPr>
          <p:cNvPr id="7" name="p2"/>
          <p:cNvSpPr txBox="1"/>
          <p:nvPr/>
        </p:nvSpPr>
        <p:spPr>
          <a:xfrm>
            <a:off x="914400" y="3708400"/>
            <a:ext cx="6096000" cy="1066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55000"/>
              </a:lnSpc>
            </a:pPr>
            <a:r>
              <a:rPr lang="en-US" sz="1600" b="1" noProof="1">
                <a:solidFill>
                  <a:srgbClr val="0A3541"/>
                </a:solidFill>
                <a:latin typeface="MiSans" charset="-122"/>
                <a:ea typeface="MiSans" charset="-122"/>
              </a:rPr>
              <a:t>表坏不知</a:t>
            </a:r>
            <a:endParaRPr lang="en-US" sz="1600" noProof="1"/>
          </a:p>
          <a:p>
            <a:pPr>
              <a:lnSpc>
                <a:spcPct val="155000"/>
              </a:lnSpc>
              <a:spcBef>
                <a:spcPts val="600"/>
              </a:spcBef>
            </a:pPr>
            <a:r>
              <a:rPr lang="en-US" sz="1250" noProof="1">
                <a:solidFill>
                  <a:srgbClr val="6E7B74"/>
                </a:solidFill>
                <a:latin typeface="MiSans" charset="-122"/>
                <a:ea typeface="MiSans" charset="-122"/>
              </a:rPr>
              <a:t>通信断了三个月没人发现，屏幕上一片「正常」，年底账对不上才开始翻。</a:t>
            </a:r>
            <a:endParaRPr lang="en-US" sz="1600" noProof="1"/>
          </a:p>
        </p:txBody>
      </p:sp>
      <p:sp>
        <p:nvSpPr>
          <p:cNvPr id="8" name="p3-rule"/>
          <p:cNvSpPr/>
          <p:nvPr/>
        </p:nvSpPr>
        <p:spPr>
          <a:xfrm>
            <a:off x="914400" y="4978400"/>
            <a:ext cx="6096000" cy="12700"/>
          </a:xfrm>
          <a:prstGeom prst="rect">
            <a:avLst/>
          </a:prstGeom>
          <a:solidFill>
            <a:srgbClr val="D8CDB8"/>
          </a:solidFill>
          <a:ln>
            <a:noFill/>
          </a:ln>
        </p:spPr>
      </p:sp>
      <p:sp>
        <p:nvSpPr>
          <p:cNvPr id="9" name="p3"/>
          <p:cNvSpPr txBox="1"/>
          <p:nvPr/>
        </p:nvSpPr>
        <p:spPr>
          <a:xfrm>
            <a:off x="914400" y="5181600"/>
            <a:ext cx="6096000" cy="1066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55000"/>
              </a:lnSpc>
            </a:pPr>
            <a:r>
              <a:rPr lang="en-US" sz="1600" b="1" noProof="1">
                <a:solidFill>
                  <a:srgbClr val="0A3541"/>
                </a:solidFill>
                <a:latin typeface="MiSans" charset="-122"/>
                <a:ea typeface="MiSans" charset="-122"/>
              </a:rPr>
              <a:t>节能扯皮</a:t>
            </a:r>
            <a:endParaRPr lang="en-US" sz="1600" noProof="1"/>
          </a:p>
          <a:p>
            <a:pPr>
              <a:lnSpc>
                <a:spcPct val="155000"/>
              </a:lnSpc>
              <a:spcBef>
                <a:spcPts val="600"/>
              </a:spcBef>
            </a:pPr>
            <a:r>
              <a:rPr lang="en-US" sz="1250" noProof="1">
                <a:solidFill>
                  <a:srgbClr val="6E7B74"/>
                </a:solidFill>
                <a:latin typeface="MiSans" charset="-122"/>
                <a:ea typeface="MiSans" charset="-122"/>
              </a:rPr>
              <a:t>节能公司说省了 80 万，业主怕多付——双方都认的核证依据，拿不出来。</a:t>
            </a:r>
            <a:endParaRPr lang="en-US" sz="1600" noProof="1"/>
          </a:p>
        </p:txBody>
      </p:sp>
      <p:sp>
        <p:nvSpPr>
          <p:cNvPr id="10" name="divider"/>
          <p:cNvSpPr/>
          <p:nvPr/>
        </p:nvSpPr>
        <p:spPr>
          <a:xfrm>
            <a:off x="7620000" y="2032000"/>
            <a:ext cx="12700" cy="4191000"/>
          </a:xfrm>
          <a:prstGeom prst="rect">
            <a:avLst/>
          </a:prstGeom>
          <a:solidFill>
            <a:srgbClr val="D8CDB8"/>
          </a:solidFill>
          <a:ln>
            <a:noFill/>
          </a:ln>
        </p:spPr>
      </p:sp>
      <p:sp>
        <p:nvSpPr>
          <p:cNvPr id="11" name="side-label"/>
          <p:cNvSpPr txBox="1"/>
          <p:nvPr/>
        </p:nvSpPr>
        <p:spPr>
          <a:xfrm>
            <a:off x="8128000" y="2235200"/>
            <a:ext cx="31496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100" kern="0" spc="200" noProof="1">
                <a:solidFill>
                  <a:srgbClr val="B5651D"/>
                </a:solidFill>
                <a:latin typeface="MiSans" charset="-122"/>
                <a:ea typeface="MiSans" charset="-122"/>
              </a:rPr>
              <a:t>还有一个硬约束</a:t>
            </a:r>
            <a:endParaRPr lang="en-US" sz="1100" noProof="1"/>
          </a:p>
        </p:txBody>
      </p:sp>
      <p:sp>
        <p:nvSpPr>
          <p:cNvPr id="12" name="side-big"/>
          <p:cNvSpPr txBox="1"/>
          <p:nvPr/>
        </p:nvSpPr>
        <p:spPr>
          <a:xfrm>
            <a:off x="8128000" y="2616200"/>
            <a:ext cx="3149600" cy="1397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45000"/>
              </a:lnSpc>
            </a:pPr>
            <a:r>
              <a:rPr lang="en-US" sz="2400" noProof="1">
                <a:solidFill>
                  <a:srgbClr val="B5651D"/>
                </a:solidFill>
                <a:latin typeface="Oranienbaum" panose="02000506080000020003"/>
                <a:ea typeface="思源宋体"/>
              </a:rPr>
              <a:t>万元收入能耗支出</a:t>
            </a:r>
            <a:endParaRPr lang="en-US" sz="2400" noProof="1"/>
          </a:p>
        </p:txBody>
      </p:sp>
      <p:sp>
        <p:nvSpPr>
          <p:cNvPr id="13" name="side-note"/>
          <p:cNvSpPr txBox="1"/>
          <p:nvPr/>
        </p:nvSpPr>
        <p:spPr>
          <a:xfrm>
            <a:off x="8128000" y="3327400"/>
            <a:ext cx="3149600" cy="127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70000"/>
              </a:lnSpc>
            </a:pPr>
            <a:r>
              <a:rPr lang="en-US" sz="1200" noProof="1">
                <a:solidFill>
                  <a:srgbClr val="6E7B74"/>
                </a:solidFill>
                <a:latin typeface="MiSans" charset="-122"/>
                <a:ea typeface="MiSans" charset="-122"/>
              </a:rPr>
              <a:t>三级公立医院绩效考核指标，年年要报、逐年要降。账算不清，指标就没有着落。</a:t>
            </a:r>
            <a:endParaRPr lang="en-US" sz="1200" noProof="1"/>
          </a:p>
        </p:txBody>
      </p:sp>
      <p:sp>
        <p:nvSpPr>
          <p:cNvPr id="14" name="footnote"/>
          <p:cNvSpPr txBox="1"/>
          <p:nvPr/>
        </p:nvSpPr>
        <p:spPr>
          <a:xfrm>
            <a:off x="914400" y="6477000"/>
            <a:ext cx="10363200" cy="203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950" noProof="1">
                <a:solidFill>
                  <a:srgbClr val="6E7B74"/>
                </a:solidFill>
                <a:latin typeface="MiSans" charset="-122"/>
                <a:ea typeface="MiSans" charset="-122"/>
              </a:rPr>
              <a:t>场景来自医院后勤能耗管理日常；指标名称见国家三级公立医院绩效考核体系</a:t>
            </a:r>
            <a:endParaRPr lang="en-US" sz="950" noProof="1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EDE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914400" y="635000"/>
            <a:ext cx="50800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100" kern="0" spc="200" noProof="1">
                <a:solidFill>
                  <a:srgbClr val="B5651D"/>
                </a:solidFill>
                <a:latin typeface="MiSans" charset="-122"/>
                <a:ea typeface="MiSans" charset="-122"/>
              </a:rPr>
              <a:t>开场 · 装得快</a:t>
            </a:r>
            <a:endParaRPr lang="en-US" sz="1100" noProof="1"/>
          </a:p>
        </p:txBody>
      </p:sp>
      <p:sp>
        <p:nvSpPr>
          <p:cNvPr id="3" name="title"/>
          <p:cNvSpPr txBox="1"/>
          <p:nvPr/>
        </p:nvSpPr>
        <p:spPr>
          <a:xfrm>
            <a:off x="914400" y="965200"/>
            <a:ext cx="6350000" cy="584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3000" noProof="1">
                <a:solidFill>
                  <a:srgbClr val="0A3541"/>
                </a:solidFill>
                <a:latin typeface="Oranienbaum" panose="02000506080000020003"/>
                <a:ea typeface="思源宋体"/>
              </a:rPr>
              <a:t>即插即用的 Pod</a:t>
            </a:r>
            <a:endParaRPr lang="en-US" sz="3000" noProof="1"/>
          </a:p>
        </p:txBody>
      </p:sp>
      <p:sp>
        <p:nvSpPr>
          <p:cNvPr id="4" name="usp"/>
          <p:cNvSpPr txBox="1"/>
          <p:nvPr/>
        </p:nvSpPr>
        <p:spPr>
          <a:xfrm>
            <a:off x="914400" y="1701800"/>
            <a:ext cx="6096000" cy="381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700" noProof="1">
                <a:solidFill>
                  <a:srgbClr val="B5651D"/>
                </a:solidFill>
                <a:latin typeface="Oranienbaum" panose="02000506080000020003"/>
                <a:ea typeface="思源宋体"/>
              </a:rPr>
              <a:t>上午装，下午见数。</a:t>
            </a:r>
            <a:endParaRPr lang="en-US" sz="1700" noProof="1"/>
          </a:p>
        </p:txBody>
      </p:sp>
      <p:sp>
        <p:nvSpPr>
          <p:cNvPr id="5" name="para"/>
          <p:cNvSpPr txBox="1"/>
          <p:nvPr/>
        </p:nvSpPr>
        <p:spPr>
          <a:xfrm>
            <a:off x="914400" y="2311400"/>
            <a:ext cx="6096000" cy="152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75000"/>
              </a:lnSpc>
            </a:pPr>
            <a:r>
              <a:rPr lang="en-US" sz="1200" noProof="1">
                <a:solidFill>
                  <a:srgbClr val="6E7B74"/>
                </a:solidFill>
                <a:latin typeface="MiSans" charset="-122"/>
                <a:ea typeface="MiSans" charset="-122"/>
              </a:rPr>
              <a:t>整个系统——后端逻辑、13 块屏幕、设备模板、语义定义——打包成单个 energyMatrix.pod，在 FIN 平台里安装即用。建一块表不是画点位表，是从 14 个模板里选一个填参数。</a:t>
            </a:r>
            <a:endParaRPr lang="en-US" sz="1200" noProof="1"/>
          </a:p>
        </p:txBody>
      </p:sp>
      <p:sp>
        <p:nvSpPr>
          <p:cNvPr id="6" name="note-line"/>
          <p:cNvSpPr/>
          <p:nvPr/>
        </p:nvSpPr>
        <p:spPr>
          <a:xfrm>
            <a:off x="914400" y="4191000"/>
            <a:ext cx="6096000" cy="12700"/>
          </a:xfrm>
          <a:prstGeom prst="rect">
            <a:avLst/>
          </a:prstGeom>
          <a:solidFill>
            <a:srgbClr val="D8CDB8"/>
          </a:solidFill>
          <a:ln>
            <a:noFill/>
          </a:ln>
        </p:spPr>
      </p:sp>
      <p:sp>
        <p:nvSpPr>
          <p:cNvPr id="7" name="note"/>
          <p:cNvSpPr txBox="1"/>
          <p:nvPr/>
        </p:nvSpPr>
        <p:spPr>
          <a:xfrm>
            <a:off x="914400" y="4394200"/>
            <a:ext cx="6096000" cy="762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65000"/>
              </a:lnSpc>
            </a:pPr>
            <a:r>
              <a:rPr lang="en-US" sz="1150" b="1" noProof="1">
                <a:solidFill>
                  <a:srgbClr val="6E7B74"/>
                </a:solidFill>
                <a:latin typeface="MiSans" charset="-122"/>
                <a:ea typeface="MiSans" charset="-122"/>
              </a:rPr>
              <a:t>边界说在前面</a:t>
            </a:r>
            <a:r>
              <a:rPr lang="en-US" sz="1150" noProof="1">
                <a:solidFill>
                  <a:srgbClr val="6E7B74"/>
                </a:solidFill>
                <a:latin typeface="MiSans" charset="-122"/>
                <a:ea typeface="MiSans" charset="-122"/>
              </a:rPr>
              <a:t>：它运行在 FIN Framework 5.3 之上，是 FIN 生态内的即插即用，不是独立软件——装完重启宿主即生效。</a:t>
            </a:r>
            <a:endParaRPr lang="en-US" sz="1150" noProof="1"/>
          </a:p>
        </p:txBody>
      </p:sp>
      <p:sp>
        <p:nvSpPr>
          <p:cNvPr id="8" name="c1-line"/>
          <p:cNvSpPr/>
          <p:nvPr/>
        </p:nvSpPr>
        <p:spPr>
          <a:xfrm>
            <a:off x="7620000" y="1651000"/>
            <a:ext cx="3657600" cy="12700"/>
          </a:xfrm>
          <a:prstGeom prst="rect">
            <a:avLst/>
          </a:prstGeom>
          <a:solidFill>
            <a:srgbClr val="D8CDB8"/>
          </a:solidFill>
          <a:ln>
            <a:noFill/>
          </a:ln>
        </p:spPr>
      </p:sp>
      <p:sp>
        <p:nvSpPr>
          <p:cNvPr id="9" name="c1-head"/>
          <p:cNvSpPr txBox="1"/>
          <p:nvPr/>
        </p:nvSpPr>
        <p:spPr>
          <a:xfrm>
            <a:off x="7620000" y="1803400"/>
            <a:ext cx="36576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100" kern="0" spc="100" noProof="1">
                <a:solidFill>
                  <a:srgbClr val="6E7B74"/>
                </a:solidFill>
                <a:latin typeface="MiSans" charset="-122"/>
                <a:ea typeface="MiSans" charset="-122"/>
              </a:rPr>
              <a:t>传统能耗项目</a:t>
            </a:r>
            <a:endParaRPr lang="en-US" sz="1100" noProof="1"/>
          </a:p>
        </p:txBody>
      </p:sp>
      <p:sp>
        <p:nvSpPr>
          <p:cNvPr id="10" name="c1-body"/>
          <p:cNvSpPr txBox="1"/>
          <p:nvPr/>
        </p:nvSpPr>
        <p:spPr>
          <a:xfrm>
            <a:off x="7620000" y="2108200"/>
            <a:ext cx="3657600" cy="965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70000"/>
              </a:lnSpc>
            </a:pPr>
            <a:r>
              <a:rPr lang="en-US" sz="1200" noProof="1">
                <a:solidFill>
                  <a:srgbClr val="6E7B74"/>
                </a:solidFill>
                <a:latin typeface="MiSans" charset="-122"/>
                <a:ea typeface="MiSans" charset="-122"/>
              </a:rPr>
              <a:t>点位表逐条核对，实施以月计；</a:t>
            </a:r>
            <a:endParaRPr lang="en-US" sz="1200" noProof="1"/>
          </a:p>
          <a:p>
            <a:pPr>
              <a:lnSpc>
                <a:spcPct val="170000"/>
              </a:lnSpc>
            </a:pPr>
            <a:r>
              <a:rPr lang="en-US" sz="1200" noProof="1">
                <a:solidFill>
                  <a:srgbClr val="6E7B74"/>
                </a:solidFill>
                <a:latin typeface="MiSans" charset="-122"/>
                <a:ea typeface="MiSans" charset="-122"/>
              </a:rPr>
              <a:t>演示环境还要另外搭。</a:t>
            </a:r>
            <a:endParaRPr lang="en-US" sz="1200" noProof="1"/>
          </a:p>
        </p:txBody>
      </p:sp>
      <p:sp>
        <p:nvSpPr>
          <p:cNvPr id="11" name="c2-line"/>
          <p:cNvSpPr/>
          <p:nvPr/>
        </p:nvSpPr>
        <p:spPr>
          <a:xfrm>
            <a:off x="7620000" y="3327400"/>
            <a:ext cx="3657600" cy="25400"/>
          </a:xfrm>
          <a:prstGeom prst="rect">
            <a:avLst/>
          </a:prstGeom>
          <a:solidFill>
            <a:srgbClr val="B5651D"/>
          </a:solidFill>
          <a:ln>
            <a:noFill/>
          </a:ln>
        </p:spPr>
      </p:sp>
      <p:sp>
        <p:nvSpPr>
          <p:cNvPr id="12" name="c2-head"/>
          <p:cNvSpPr txBox="1"/>
          <p:nvPr/>
        </p:nvSpPr>
        <p:spPr>
          <a:xfrm>
            <a:off x="7620000" y="3505200"/>
            <a:ext cx="36576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100" b="1" kern="0" spc="100" noProof="1">
                <a:solidFill>
                  <a:srgbClr val="B5651D"/>
                </a:solidFill>
                <a:latin typeface="MiSans" charset="-122"/>
                <a:ea typeface="MiSans" charset="-122"/>
              </a:rPr>
              <a:t>ENERGYMATRIX</a:t>
            </a:r>
            <a:endParaRPr lang="en-US" sz="1100" noProof="1"/>
          </a:p>
        </p:txBody>
      </p:sp>
      <p:sp>
        <p:nvSpPr>
          <p:cNvPr id="13" name="c2-body"/>
          <p:cNvSpPr txBox="1"/>
          <p:nvPr/>
        </p:nvSpPr>
        <p:spPr>
          <a:xfrm>
            <a:off x="7620000" y="3810000"/>
            <a:ext cx="3657600" cy="1320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70000"/>
              </a:lnSpc>
            </a:pPr>
            <a:r>
              <a:rPr lang="en-US" sz="1250" noProof="1">
                <a:solidFill>
                  <a:srgbClr val="1F2A28"/>
                </a:solidFill>
                <a:latin typeface="MiSans" charset="-122"/>
                <a:ea typeface="MiSans" charset="-122"/>
              </a:rPr>
              <a:t>单个 Pod 安装，重启即用；</a:t>
            </a:r>
            <a:endParaRPr lang="en-US" sz="1250" noProof="1"/>
          </a:p>
          <a:p>
            <a:pPr>
              <a:lnSpc>
                <a:spcPct val="170000"/>
              </a:lnSpc>
            </a:pPr>
            <a:r>
              <a:rPr lang="en-US" sz="1250" noProof="1">
                <a:solidFill>
                  <a:srgbClr val="1F2A28"/>
                </a:solidFill>
                <a:latin typeface="MiSans" charset="-122"/>
                <a:ea typeface="MiSans" charset="-122"/>
              </a:rPr>
              <a:t>一条命令铺出整套示范院区；</a:t>
            </a:r>
            <a:endParaRPr lang="en-US" sz="1250" noProof="1"/>
          </a:p>
          <a:p>
            <a:pPr>
              <a:lnSpc>
                <a:spcPct val="170000"/>
              </a:lnSpc>
            </a:pPr>
            <a:r>
              <a:rPr lang="en-US" sz="1250" noProof="1">
                <a:solidFill>
                  <a:srgbClr val="1F2A28"/>
                </a:solidFill>
                <a:latin typeface="MiSans" charset="-122"/>
                <a:ea typeface="MiSans" charset="-122"/>
              </a:rPr>
              <a:t>14 个设备模板，建模 = 选模板。</a:t>
            </a:r>
            <a:endParaRPr lang="en-US" sz="1250" noProof="1"/>
          </a:p>
        </p:txBody>
      </p:sp>
      <p:sp>
        <p:nvSpPr>
          <p:cNvPr id="14" name="band-cap"/>
          <p:cNvSpPr txBox="1"/>
          <p:nvPr/>
        </p:nvSpPr>
        <p:spPr>
          <a:xfrm>
            <a:off x="914400" y="5384800"/>
            <a:ext cx="6350000" cy="177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950" noProof="1">
                <a:solidFill>
                  <a:srgbClr val="6E7B74"/>
                </a:solidFill>
                <a:latin typeface="MiSans" charset="-122"/>
                <a:ea typeface="MiSans" charset="-122"/>
              </a:rPr>
              <a:t>装完即见的表具与采集器台账（设计原型演示数据）</a:t>
            </a:r>
            <a:endParaRPr lang="en-US" sz="950" noProof="1"/>
          </a:p>
        </p:txBody>
      </p:sp>
      <p:pic>
        <p:nvPicPr>
          <p:cNvPr id="15" name="band"/>
          <p:cNvPicPr/>
          <p:nvPr/>
        </p:nvPicPr>
        <p:blipFill>
          <a:blip r:embed="rId1"/>
          <a:srcRect t="3298" b="3298"/>
          <a:stretch>
            <a:fillRect/>
          </a:stretch>
        </p:blipFill>
        <p:spPr>
          <a:xfrm>
            <a:off x="914400" y="5613400"/>
            <a:ext cx="10363200" cy="1016000"/>
          </a:xfrm>
          <a:prstGeom prst="rect">
            <a:avLst/>
          </a:prstGeom>
          <a:ln>
            <a:noFill/>
          </a:ln>
        </p:spPr>
      </p:pic>
      <p:sp>
        <p:nvSpPr>
          <p:cNvPr id="16" name="band-border"/>
          <p:cNvSpPr/>
          <p:nvPr/>
        </p:nvSpPr>
        <p:spPr>
          <a:xfrm>
            <a:off x="914400" y="5613400"/>
            <a:ext cx="10363200" cy="1016000"/>
          </a:xfrm>
          <a:prstGeom prst="rect">
            <a:avLst/>
          </a:prstGeom>
          <a:noFill/>
          <a:ln w="12700">
            <a:solidFill>
              <a:srgbClr val="D8CDB8"/>
            </a:solidFill>
          </a:ln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EDE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914400" y="635000"/>
            <a:ext cx="50800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100" kern="0" spc="200" noProof="1">
                <a:solidFill>
                  <a:srgbClr val="B5651D"/>
                </a:solidFill>
                <a:latin typeface="MiSans" charset="-122"/>
                <a:ea typeface="MiSans" charset="-122"/>
              </a:rPr>
              <a:t>产品力 · 所见即所得</a:t>
            </a:r>
            <a:endParaRPr lang="en-US" sz="1100" noProof="1"/>
          </a:p>
        </p:txBody>
      </p:sp>
      <p:sp>
        <p:nvSpPr>
          <p:cNvPr id="3" name="title"/>
          <p:cNvSpPr txBox="1"/>
          <p:nvPr/>
        </p:nvSpPr>
        <p:spPr>
          <a:xfrm>
            <a:off x="914400" y="965200"/>
            <a:ext cx="8890000" cy="558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2900" noProof="1">
                <a:solidFill>
                  <a:srgbClr val="0A3541"/>
                </a:solidFill>
                <a:latin typeface="Oranienbaum" panose="02000506080000020003"/>
                <a:ea typeface="思源宋体"/>
              </a:rPr>
              <a:t>随 Pod 开箱的 13 块屏，先睹六块</a:t>
            </a:r>
            <a:endParaRPr lang="en-US" sz="2900" noProof="1"/>
          </a:p>
        </p:txBody>
      </p:sp>
      <p:pic>
        <p:nvPicPr>
          <p:cNvPr id="4" name="g1"/>
          <p:cNvPicPr/>
          <p:nvPr/>
        </p:nvPicPr>
        <p:blipFill>
          <a:blip r:embed="rId1"/>
          <a:srcRect t="6589" b="6589"/>
          <a:stretch>
            <a:fillRect/>
          </a:stretch>
        </p:blipFill>
        <p:spPr>
          <a:xfrm>
            <a:off x="914400" y="1854200"/>
            <a:ext cx="3276600" cy="1778000"/>
          </a:xfrm>
          <a:prstGeom prst="rect">
            <a:avLst/>
          </a:prstGeom>
          <a:ln>
            <a:noFill/>
          </a:ln>
        </p:spPr>
      </p:pic>
      <p:sp>
        <p:nvSpPr>
          <p:cNvPr id="5" name="g1-border"/>
          <p:cNvSpPr/>
          <p:nvPr/>
        </p:nvSpPr>
        <p:spPr>
          <a:xfrm>
            <a:off x="914400" y="1854200"/>
            <a:ext cx="3276600" cy="1778000"/>
          </a:xfrm>
          <a:prstGeom prst="rect">
            <a:avLst/>
          </a:prstGeom>
          <a:noFill/>
          <a:ln w="12700">
            <a:solidFill>
              <a:srgbClr val="D8CDB8"/>
            </a:solidFill>
          </a:ln>
        </p:spPr>
      </p:sp>
      <p:sp>
        <p:nvSpPr>
          <p:cNvPr id="6" name="g1-cap"/>
          <p:cNvSpPr txBox="1"/>
          <p:nvPr/>
        </p:nvSpPr>
        <p:spPr>
          <a:xfrm>
            <a:off x="914400" y="3708400"/>
            <a:ext cx="3276600" cy="203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150" noProof="1">
                <a:solidFill>
                  <a:srgbClr val="1F2A28"/>
                </a:solidFill>
                <a:latin typeface="MiSans" charset="-122"/>
                <a:ea typeface="MiSans" charset="-122"/>
              </a:rPr>
              <a:t>能源总览驾驶舱</a:t>
            </a:r>
            <a:endParaRPr lang="en-US" sz="1150" noProof="1"/>
          </a:p>
        </p:txBody>
      </p:sp>
      <p:pic>
        <p:nvPicPr>
          <p:cNvPr id="7" name="g2"/>
          <p:cNvPicPr/>
          <p:nvPr/>
        </p:nvPicPr>
        <p:blipFill>
          <a:blip r:embed="rId2"/>
          <a:srcRect t="6589" b="6589"/>
          <a:stretch>
            <a:fillRect/>
          </a:stretch>
        </p:blipFill>
        <p:spPr>
          <a:xfrm>
            <a:off x="4457700" y="1854200"/>
            <a:ext cx="3276600" cy="1778000"/>
          </a:xfrm>
          <a:prstGeom prst="rect">
            <a:avLst/>
          </a:prstGeom>
          <a:ln>
            <a:noFill/>
          </a:ln>
        </p:spPr>
      </p:pic>
      <p:sp>
        <p:nvSpPr>
          <p:cNvPr id="8" name="g2-border"/>
          <p:cNvSpPr/>
          <p:nvPr/>
        </p:nvSpPr>
        <p:spPr>
          <a:xfrm>
            <a:off x="4457700" y="1854200"/>
            <a:ext cx="3276600" cy="1778000"/>
          </a:xfrm>
          <a:prstGeom prst="rect">
            <a:avLst/>
          </a:prstGeom>
          <a:noFill/>
          <a:ln w="12700">
            <a:solidFill>
              <a:srgbClr val="D8CDB8"/>
            </a:solidFill>
          </a:ln>
        </p:spPr>
      </p:sp>
      <p:sp>
        <p:nvSpPr>
          <p:cNvPr id="9" name="g2-cap"/>
          <p:cNvSpPr txBox="1"/>
          <p:nvPr/>
        </p:nvSpPr>
        <p:spPr>
          <a:xfrm>
            <a:off x="4457700" y="3708400"/>
            <a:ext cx="3276600" cy="203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150" noProof="1">
                <a:solidFill>
                  <a:srgbClr val="1F2A28"/>
                </a:solidFill>
                <a:latin typeface="MiSans" charset="-122"/>
                <a:ea typeface="MiSans" charset="-122"/>
              </a:rPr>
              <a:t>实时监测与告警</a:t>
            </a:r>
            <a:endParaRPr lang="en-US" sz="1150" noProof="1"/>
          </a:p>
        </p:txBody>
      </p:sp>
      <p:pic>
        <p:nvPicPr>
          <p:cNvPr id="10" name="g3"/>
          <p:cNvPicPr/>
          <p:nvPr/>
        </p:nvPicPr>
        <p:blipFill>
          <a:blip r:embed="rId3"/>
          <a:srcRect t="6589" b="6589"/>
          <a:stretch>
            <a:fillRect/>
          </a:stretch>
        </p:blipFill>
        <p:spPr>
          <a:xfrm>
            <a:off x="8001000" y="1854200"/>
            <a:ext cx="3276600" cy="1778000"/>
          </a:xfrm>
          <a:prstGeom prst="rect">
            <a:avLst/>
          </a:prstGeom>
          <a:ln>
            <a:noFill/>
          </a:ln>
        </p:spPr>
      </p:pic>
      <p:sp>
        <p:nvSpPr>
          <p:cNvPr id="11" name="g3-border"/>
          <p:cNvSpPr/>
          <p:nvPr/>
        </p:nvSpPr>
        <p:spPr>
          <a:xfrm>
            <a:off x="8001000" y="1854200"/>
            <a:ext cx="3276600" cy="1778000"/>
          </a:xfrm>
          <a:prstGeom prst="rect">
            <a:avLst/>
          </a:prstGeom>
          <a:noFill/>
          <a:ln w="12700">
            <a:solidFill>
              <a:srgbClr val="D8CDB8"/>
            </a:solidFill>
          </a:ln>
        </p:spPr>
      </p:sp>
      <p:sp>
        <p:nvSpPr>
          <p:cNvPr id="12" name="g3-cap"/>
          <p:cNvSpPr txBox="1"/>
          <p:nvPr/>
        </p:nvSpPr>
        <p:spPr>
          <a:xfrm>
            <a:off x="8001000" y="3708400"/>
            <a:ext cx="3276600" cy="203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150" noProof="1">
                <a:solidFill>
                  <a:srgbClr val="1F2A28"/>
                </a:solidFill>
                <a:latin typeface="MiSans" charset="-122"/>
                <a:ea typeface="MiSans" charset="-122"/>
              </a:rPr>
              <a:t>能耗分析 · 同比环比</a:t>
            </a:r>
            <a:endParaRPr lang="en-US" sz="1150" noProof="1"/>
          </a:p>
        </p:txBody>
      </p:sp>
      <p:pic>
        <p:nvPicPr>
          <p:cNvPr id="13" name="g4"/>
          <p:cNvPicPr/>
          <p:nvPr/>
        </p:nvPicPr>
        <p:blipFill>
          <a:blip r:embed="rId4"/>
          <a:srcRect t="6589" b="6589"/>
          <a:stretch>
            <a:fillRect/>
          </a:stretch>
        </p:blipFill>
        <p:spPr>
          <a:xfrm>
            <a:off x="914400" y="4140200"/>
            <a:ext cx="3276600" cy="1778000"/>
          </a:xfrm>
          <a:prstGeom prst="rect">
            <a:avLst/>
          </a:prstGeom>
          <a:ln>
            <a:noFill/>
          </a:ln>
        </p:spPr>
      </p:pic>
      <p:sp>
        <p:nvSpPr>
          <p:cNvPr id="14" name="g4-border"/>
          <p:cNvSpPr/>
          <p:nvPr/>
        </p:nvSpPr>
        <p:spPr>
          <a:xfrm>
            <a:off x="914400" y="4140200"/>
            <a:ext cx="3276600" cy="1778000"/>
          </a:xfrm>
          <a:prstGeom prst="rect">
            <a:avLst/>
          </a:prstGeom>
          <a:noFill/>
          <a:ln w="12700">
            <a:solidFill>
              <a:srgbClr val="D8CDB8"/>
            </a:solidFill>
          </a:ln>
        </p:spPr>
      </p:sp>
      <p:sp>
        <p:nvSpPr>
          <p:cNvPr id="15" name="g4-cap"/>
          <p:cNvSpPr txBox="1"/>
          <p:nvPr/>
        </p:nvSpPr>
        <p:spPr>
          <a:xfrm>
            <a:off x="914400" y="5994400"/>
            <a:ext cx="3276600" cy="203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150" noProof="1">
                <a:solidFill>
                  <a:srgbClr val="1F2A28"/>
                </a:solidFill>
                <a:latin typeface="MiSans" charset="-122"/>
                <a:ea typeface="MiSans" charset="-122"/>
              </a:rPr>
              <a:t>定额与对标 · 国考指标</a:t>
            </a:r>
            <a:endParaRPr lang="en-US" sz="1150" noProof="1"/>
          </a:p>
        </p:txBody>
      </p:sp>
      <p:pic>
        <p:nvPicPr>
          <p:cNvPr id="16" name="g5"/>
          <p:cNvPicPr/>
          <p:nvPr/>
        </p:nvPicPr>
        <p:blipFill>
          <a:blip r:embed="rId5"/>
          <a:srcRect t="6589" b="6589"/>
          <a:stretch>
            <a:fillRect/>
          </a:stretch>
        </p:blipFill>
        <p:spPr>
          <a:xfrm>
            <a:off x="4457700" y="4140200"/>
            <a:ext cx="3276600" cy="1778000"/>
          </a:xfrm>
          <a:prstGeom prst="rect">
            <a:avLst/>
          </a:prstGeom>
          <a:ln>
            <a:noFill/>
          </a:ln>
        </p:spPr>
      </p:pic>
      <p:sp>
        <p:nvSpPr>
          <p:cNvPr id="17" name="g5-border"/>
          <p:cNvSpPr/>
          <p:nvPr/>
        </p:nvSpPr>
        <p:spPr>
          <a:xfrm>
            <a:off x="4457700" y="4140200"/>
            <a:ext cx="3276600" cy="1778000"/>
          </a:xfrm>
          <a:prstGeom prst="rect">
            <a:avLst/>
          </a:prstGeom>
          <a:noFill/>
          <a:ln w="12700">
            <a:solidFill>
              <a:srgbClr val="D8CDB8"/>
            </a:solidFill>
          </a:ln>
        </p:spPr>
      </p:sp>
      <p:sp>
        <p:nvSpPr>
          <p:cNvPr id="18" name="g5-cap"/>
          <p:cNvSpPr txBox="1"/>
          <p:nvPr/>
        </p:nvSpPr>
        <p:spPr>
          <a:xfrm>
            <a:off x="4457700" y="5994400"/>
            <a:ext cx="3276600" cy="203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150" noProof="1">
                <a:solidFill>
                  <a:srgbClr val="1F2A28"/>
                </a:solidFill>
                <a:latin typeface="MiSans" charset="-122"/>
                <a:ea typeface="MiSans" charset="-122"/>
              </a:rPr>
              <a:t>碳排与双碳目标</a:t>
            </a:r>
            <a:endParaRPr lang="en-US" sz="1150" noProof="1"/>
          </a:p>
        </p:txBody>
      </p:sp>
      <p:pic>
        <p:nvPicPr>
          <p:cNvPr id="19" name="g6"/>
          <p:cNvPicPr/>
          <p:nvPr/>
        </p:nvPicPr>
        <p:blipFill>
          <a:blip r:embed="rId6"/>
          <a:srcRect t="6589" b="6589"/>
          <a:stretch>
            <a:fillRect/>
          </a:stretch>
        </p:blipFill>
        <p:spPr>
          <a:xfrm>
            <a:off x="8001000" y="4140200"/>
            <a:ext cx="3276600" cy="1778000"/>
          </a:xfrm>
          <a:prstGeom prst="rect">
            <a:avLst/>
          </a:prstGeom>
          <a:ln>
            <a:noFill/>
          </a:ln>
        </p:spPr>
      </p:pic>
      <p:sp>
        <p:nvSpPr>
          <p:cNvPr id="20" name="g6-border"/>
          <p:cNvSpPr/>
          <p:nvPr/>
        </p:nvSpPr>
        <p:spPr>
          <a:xfrm>
            <a:off x="8001000" y="4140200"/>
            <a:ext cx="3276600" cy="1778000"/>
          </a:xfrm>
          <a:prstGeom prst="rect">
            <a:avLst/>
          </a:prstGeom>
          <a:noFill/>
          <a:ln w="12700">
            <a:solidFill>
              <a:srgbClr val="D8CDB8"/>
            </a:solidFill>
          </a:ln>
        </p:spPr>
      </p:sp>
      <p:sp>
        <p:nvSpPr>
          <p:cNvPr id="21" name="g6-cap"/>
          <p:cNvSpPr txBox="1"/>
          <p:nvPr/>
        </p:nvSpPr>
        <p:spPr>
          <a:xfrm>
            <a:off x="8001000" y="5994400"/>
            <a:ext cx="3276600" cy="203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150" noProof="1">
                <a:solidFill>
                  <a:srgbClr val="1F2A28"/>
                </a:solidFill>
                <a:latin typeface="MiSans" charset="-122"/>
                <a:ea typeface="MiSans" charset="-122"/>
              </a:rPr>
              <a:t>多项目 / 园区总览</a:t>
            </a:r>
            <a:endParaRPr lang="en-US" sz="1150" noProof="1"/>
          </a:p>
        </p:txBody>
      </p:sp>
      <p:sp>
        <p:nvSpPr>
          <p:cNvPr id="22" name="footnote"/>
          <p:cNvSpPr txBox="1"/>
          <p:nvPr/>
        </p:nvSpPr>
        <p:spPr>
          <a:xfrm>
            <a:off x="914400" y="6451600"/>
            <a:ext cx="10363200" cy="203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950" noProof="1">
                <a:solidFill>
                  <a:srgbClr val="6E7B74"/>
                </a:solidFill>
                <a:latin typeface="MiSans" charset="-122"/>
                <a:ea typeface="MiSans" charset="-122"/>
              </a:rPr>
              <a:t>界面均为设计原型演示数据（Mock）；另有分项计量树、节能诊断与核证、工单管理、表具与采集器、报表与上报导出、数据模型配置、移动端速览七块屏。</a:t>
            </a:r>
            <a:endParaRPr lang="en-US" sz="950" noProof="1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EDE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um"/>
          <p:cNvSpPr txBox="1"/>
          <p:nvPr/>
        </p:nvSpPr>
        <p:spPr>
          <a:xfrm>
            <a:off x="914400" y="787400"/>
            <a:ext cx="1524000" cy="787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5000" noProof="1">
                <a:solidFill>
                  <a:srgbClr val="B5651D"/>
                </a:solidFill>
                <a:latin typeface="Oranienbaum" panose="02000506080000020003"/>
                <a:ea typeface="Oranienbaum" panose="02000506080000020003"/>
              </a:rPr>
              <a:t>第一关</a:t>
            </a:r>
            <a:endParaRPr lang="en-US" sz="5000" noProof="1"/>
          </a:p>
        </p:txBody>
      </p:sp>
      <p:sp>
        <p:nvSpPr>
          <p:cNvPr id="3" name="title"/>
          <p:cNvSpPr txBox="1"/>
          <p:nvPr/>
        </p:nvSpPr>
        <p:spPr>
          <a:xfrm>
            <a:off x="914400" y="1676400"/>
            <a:ext cx="6350000" cy="660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3400" noProof="1">
                <a:solidFill>
                  <a:srgbClr val="0A3541"/>
                </a:solidFill>
                <a:latin typeface="Oranienbaum" panose="02000506080000020003"/>
                <a:ea typeface="思源宋体"/>
              </a:rPr>
              <a:t>算得清</a:t>
            </a:r>
            <a:endParaRPr lang="en-US" sz="3400" noProof="1"/>
          </a:p>
        </p:txBody>
      </p:sp>
      <p:sp>
        <p:nvSpPr>
          <p:cNvPr id="4" name="usp"/>
          <p:cNvSpPr txBox="1"/>
          <p:nvPr/>
        </p:nvSpPr>
        <p:spPr>
          <a:xfrm>
            <a:off x="914400" y="2438400"/>
            <a:ext cx="6096000" cy="381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700" noProof="1">
                <a:solidFill>
                  <a:srgbClr val="B5651D"/>
                </a:solidFill>
                <a:latin typeface="Oranienbaum" panose="02000506080000020003"/>
                <a:ea typeface="思源宋体"/>
              </a:rPr>
              <a:t>月底不用人海战术对 Excel。</a:t>
            </a:r>
            <a:endParaRPr lang="en-US" sz="1700" noProof="1"/>
          </a:p>
        </p:txBody>
      </p:sp>
      <p:pic>
        <p:nvPicPr>
          <p:cNvPr id="5" name="shot"/>
          <p:cNvPicPr/>
          <p:nvPr/>
        </p:nvPicPr>
        <p:blipFill>
          <a:blip r:embed="rId1"/>
          <a:stretch>
            <a:fillRect/>
          </a:stretch>
        </p:blipFill>
        <p:spPr>
          <a:xfrm>
            <a:off x="6096000" y="787400"/>
            <a:ext cx="5181600" cy="2971800"/>
          </a:xfrm>
          <a:prstGeom prst="rect">
            <a:avLst/>
          </a:prstGeom>
          <a:ln>
            <a:noFill/>
          </a:ln>
          <a:effectLst>
            <a:outerShdw blurRad="152400" dist="50800" dir="5400000" algn="bl" rotWithShape="0">
              <a:srgbClr val="0A3541">
                <a:alpha val="10196"/>
              </a:srgbClr>
            </a:outerShdw>
          </a:effectLst>
        </p:spPr>
      </p:pic>
      <p:sp>
        <p:nvSpPr>
          <p:cNvPr id="6" name="shot-border"/>
          <p:cNvSpPr/>
          <p:nvPr/>
        </p:nvSpPr>
        <p:spPr>
          <a:xfrm>
            <a:off x="6096000" y="787400"/>
            <a:ext cx="5181600" cy="2971800"/>
          </a:xfrm>
          <a:prstGeom prst="rect">
            <a:avLst/>
          </a:prstGeom>
          <a:noFill/>
          <a:ln w="12700">
            <a:solidFill>
              <a:srgbClr val="D8CDB8"/>
            </a:solidFill>
          </a:ln>
        </p:spPr>
      </p:sp>
      <p:sp>
        <p:nvSpPr>
          <p:cNvPr id="7" name="shot-cap"/>
          <p:cNvSpPr txBox="1"/>
          <p:nvPr/>
        </p:nvSpPr>
        <p:spPr>
          <a:xfrm>
            <a:off x="6096000" y="3835400"/>
            <a:ext cx="51816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050" noProof="1">
                <a:solidFill>
                  <a:srgbClr val="6E7B74"/>
                </a:solidFill>
                <a:latin typeface="MiSans" charset="-122"/>
                <a:ea typeface="MiSans" charset="-122"/>
              </a:rPr>
              <a:t>设计原型演示 · 每条台账数据标注来源，缺口率透明</a:t>
            </a:r>
            <a:endParaRPr lang="en-US" sz="1050" noProof="1"/>
          </a:p>
        </p:txBody>
      </p:sp>
      <p:sp>
        <p:nvSpPr>
          <p:cNvPr id="8" name="para"/>
          <p:cNvSpPr txBox="1"/>
          <p:nvPr/>
        </p:nvSpPr>
        <p:spPr>
          <a:xfrm>
            <a:off x="914400" y="3022600"/>
            <a:ext cx="4826000" cy="152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75000"/>
              </a:lnSpc>
            </a:pPr>
            <a:r>
              <a:rPr lang="en-US" sz="1200" noProof="1">
                <a:solidFill>
                  <a:srgbClr val="6E7B74"/>
                </a:solidFill>
                <a:latin typeface="MiSans" charset="-122"/>
                <a:ea typeface="MiSans" charset="-122"/>
              </a:rPr>
              <a:t>水、电、气、热、冷五种介质统一进一本能耗台账，关账之后按分摊规则自动算到科室、病区、租户。换表跳变、通信断链有读数补偿——账，不会因为一块表出问题就断掉。</a:t>
            </a:r>
            <a:endParaRPr lang="en-US" sz="1200" noProof="1"/>
          </a:p>
        </p:txBody>
      </p:sp>
      <p:sp>
        <p:nvSpPr>
          <p:cNvPr id="9" name="vs1-line"/>
          <p:cNvSpPr/>
          <p:nvPr/>
        </p:nvSpPr>
        <p:spPr>
          <a:xfrm>
            <a:off x="914400" y="4724400"/>
            <a:ext cx="10363200" cy="12700"/>
          </a:xfrm>
          <a:prstGeom prst="rect">
            <a:avLst/>
          </a:prstGeom>
          <a:solidFill>
            <a:srgbClr val="D8CDB8"/>
          </a:solidFill>
          <a:ln>
            <a:noFill/>
          </a:ln>
        </p:spPr>
      </p:sp>
      <p:sp>
        <p:nvSpPr>
          <p:cNvPr id="10" name="vs1-label"/>
          <p:cNvSpPr txBox="1"/>
          <p:nvPr/>
        </p:nvSpPr>
        <p:spPr>
          <a:xfrm>
            <a:off x="914400" y="4927600"/>
            <a:ext cx="1524000" cy="762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50000"/>
              </a:lnSpc>
            </a:pPr>
            <a:r>
              <a:rPr lang="en-US" sz="1200" noProof="1">
                <a:solidFill>
                  <a:srgbClr val="6E7B74"/>
                </a:solidFill>
                <a:latin typeface="MiSans" charset="-122"/>
                <a:ea typeface="MiSans" charset="-122"/>
              </a:rPr>
              <a:t>别家的账</a:t>
            </a:r>
            <a:endParaRPr lang="en-US" sz="1200" noProof="1"/>
          </a:p>
        </p:txBody>
      </p:sp>
      <p:sp>
        <p:nvSpPr>
          <p:cNvPr id="11" name="vs1-text"/>
          <p:cNvSpPr txBox="1"/>
          <p:nvPr/>
        </p:nvSpPr>
        <p:spPr>
          <a:xfrm>
            <a:off x="2540000" y="4927600"/>
            <a:ext cx="8737600" cy="762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60000"/>
              </a:lnSpc>
            </a:pPr>
            <a:r>
              <a:rPr lang="en-US" sz="1250" noProof="1">
                <a:solidFill>
                  <a:srgbClr val="6E7B74"/>
                </a:solidFill>
                <a:latin typeface="MiSans" charset="-122"/>
                <a:ea typeface="MiSans" charset="-122"/>
              </a:rPr>
              <a:t>五种介质五套曲线，各自为政；汇总靠导出 Excel，手工拼。</a:t>
            </a:r>
            <a:endParaRPr lang="en-US" sz="1250" noProof="1"/>
          </a:p>
        </p:txBody>
      </p:sp>
      <p:sp>
        <p:nvSpPr>
          <p:cNvPr id="12" name="vs2-line"/>
          <p:cNvSpPr/>
          <p:nvPr/>
        </p:nvSpPr>
        <p:spPr>
          <a:xfrm>
            <a:off x="914400" y="5740400"/>
            <a:ext cx="10363200" cy="12700"/>
          </a:xfrm>
          <a:prstGeom prst="rect">
            <a:avLst/>
          </a:prstGeom>
          <a:solidFill>
            <a:srgbClr val="B5651D"/>
          </a:solidFill>
          <a:ln>
            <a:noFill/>
          </a:ln>
        </p:spPr>
      </p:sp>
      <p:sp>
        <p:nvSpPr>
          <p:cNvPr id="13" name="vs2-label"/>
          <p:cNvSpPr txBox="1"/>
          <p:nvPr/>
        </p:nvSpPr>
        <p:spPr>
          <a:xfrm>
            <a:off x="914400" y="5943600"/>
            <a:ext cx="1524000" cy="762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50000"/>
              </a:lnSpc>
            </a:pPr>
            <a:r>
              <a:rPr lang="en-US" sz="1200" b="1" noProof="1">
                <a:solidFill>
                  <a:srgbClr val="B5651D"/>
                </a:solidFill>
                <a:latin typeface="MiSans" charset="-122"/>
                <a:ea typeface="MiSans" charset="-122"/>
              </a:rPr>
              <a:t>这本账</a:t>
            </a:r>
            <a:endParaRPr lang="en-US" sz="1200" noProof="1"/>
          </a:p>
        </p:txBody>
      </p:sp>
      <p:sp>
        <p:nvSpPr>
          <p:cNvPr id="14" name="vs2-text"/>
          <p:cNvSpPr txBox="1"/>
          <p:nvPr/>
        </p:nvSpPr>
        <p:spPr>
          <a:xfrm>
            <a:off x="2540000" y="5943600"/>
            <a:ext cx="8737600" cy="762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60000"/>
              </a:lnSpc>
            </a:pPr>
            <a:r>
              <a:rPr lang="en-US" sz="1250" b="1" noProof="1">
                <a:solidFill>
                  <a:srgbClr val="1F2A28"/>
                </a:solidFill>
                <a:latin typeface="MiSans" charset="-122"/>
                <a:ea typeface="MiSans" charset="-122"/>
              </a:rPr>
              <a:t>一本台账统一入账</a:t>
            </a:r>
            <a:r>
              <a:rPr lang="en-US" sz="1250" noProof="1">
                <a:solidFill>
                  <a:srgbClr val="1F2A28"/>
                </a:solidFill>
                <a:latin typeface="MiSans" charset="-122"/>
                <a:ea typeface="MiSans" charset="-122"/>
              </a:rPr>
              <a:t>，关账即冻结；国考指标、科室分摊，报表随时直接出。</a:t>
            </a:r>
            <a:endParaRPr lang="en-US" sz="1250" noProof="1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354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um"/>
          <p:cNvSpPr txBox="1"/>
          <p:nvPr/>
        </p:nvSpPr>
        <p:spPr>
          <a:xfrm>
            <a:off x="914400" y="787400"/>
            <a:ext cx="1524000" cy="787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5000" noProof="1">
                <a:solidFill>
                  <a:srgbClr val="B5651D"/>
                </a:solidFill>
                <a:latin typeface="Oranienbaum" panose="02000506080000020003"/>
                <a:ea typeface="Oranienbaum" panose="02000506080000020003"/>
              </a:rPr>
              <a:t>第二关</a:t>
            </a:r>
            <a:endParaRPr lang="en-US" sz="5000" noProof="1"/>
          </a:p>
        </p:txBody>
      </p:sp>
      <p:sp>
        <p:nvSpPr>
          <p:cNvPr id="3" name="title"/>
          <p:cNvSpPr txBox="1"/>
          <p:nvPr/>
        </p:nvSpPr>
        <p:spPr>
          <a:xfrm>
            <a:off x="914400" y="1676400"/>
            <a:ext cx="6350000" cy="660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3400" noProof="1">
                <a:solidFill>
                  <a:srgbClr val="F3EDE0"/>
                </a:solidFill>
                <a:latin typeface="Oranienbaum" panose="02000506080000020003"/>
                <a:ea typeface="思源宋体"/>
              </a:rPr>
              <a:t>藏不住</a:t>
            </a:r>
            <a:endParaRPr lang="en-US" sz="3400" noProof="1"/>
          </a:p>
        </p:txBody>
      </p:sp>
      <p:sp>
        <p:nvSpPr>
          <p:cNvPr id="4" name="usp"/>
          <p:cNvSpPr txBox="1"/>
          <p:nvPr/>
        </p:nvSpPr>
        <p:spPr>
          <a:xfrm>
            <a:off x="914400" y="2438400"/>
            <a:ext cx="7112000" cy="381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700" noProof="1">
                <a:solidFill>
                  <a:srgbClr val="B5651D"/>
                </a:solidFill>
                <a:latin typeface="Oranienbaum" panose="02000506080000020003"/>
                <a:ea typeface="思源宋体"/>
              </a:rPr>
              <a:t>系统 24 小时盯着，问题派单到人。</a:t>
            </a:r>
            <a:endParaRPr lang="en-US" sz="1700" noProof="1"/>
          </a:p>
        </p:txBody>
      </p:sp>
      <p:pic>
        <p:nvPicPr>
          <p:cNvPr id="5" name="shot"/>
          <p:cNvPicPr/>
          <p:nvPr/>
        </p:nvPicPr>
        <p:blipFill>
          <a:blip r:embed="rId1"/>
          <a:stretch>
            <a:fillRect/>
          </a:stretch>
        </p:blipFill>
        <p:spPr>
          <a:xfrm>
            <a:off x="6096000" y="787400"/>
            <a:ext cx="5181600" cy="2387600"/>
          </a:xfrm>
          <a:prstGeom prst="rect">
            <a:avLst/>
          </a:prstGeom>
          <a:ln>
            <a:noFill/>
          </a:ln>
          <a:effectLst>
            <a:outerShdw blurRad="152400" dist="50800" dir="5400000" algn="bl" rotWithShape="0">
              <a:srgbClr val="000000">
                <a:alpha val="25098"/>
              </a:srgbClr>
            </a:outerShdw>
          </a:effectLst>
        </p:spPr>
      </p:pic>
      <p:sp>
        <p:nvSpPr>
          <p:cNvPr id="6" name="shot-border"/>
          <p:cNvSpPr/>
          <p:nvPr/>
        </p:nvSpPr>
        <p:spPr>
          <a:xfrm>
            <a:off x="6096000" y="787400"/>
            <a:ext cx="5181600" cy="2387600"/>
          </a:xfrm>
          <a:prstGeom prst="rect">
            <a:avLst/>
          </a:prstGeom>
          <a:noFill/>
          <a:ln w="12700">
            <a:solidFill>
              <a:srgbClr val="F3EDE0">
                <a:alpha val="30196"/>
              </a:srgbClr>
            </a:solidFill>
          </a:ln>
        </p:spPr>
      </p:sp>
      <p:sp>
        <p:nvSpPr>
          <p:cNvPr id="7" name="shot-cap"/>
          <p:cNvSpPr txBox="1"/>
          <p:nvPr/>
        </p:nvSpPr>
        <p:spPr>
          <a:xfrm>
            <a:off x="6096000" y="3276600"/>
            <a:ext cx="51816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050" noProof="1">
                <a:solidFill>
                  <a:srgbClr val="F3EDE0">
                    <a:alpha val="70196"/>
                  </a:srgbClr>
                </a:solidFill>
                <a:latin typeface="MiSans" charset="-122"/>
                <a:ea typeface="MiSans" charset="-122"/>
              </a:rPr>
              <a:t>设计原型演示 · 异常派单到人，逾期自动标红</a:t>
            </a:r>
            <a:endParaRPr lang="en-US" sz="1050" noProof="1"/>
          </a:p>
        </p:txBody>
      </p:sp>
      <p:sp>
        <p:nvSpPr>
          <p:cNvPr id="8" name="para"/>
          <p:cNvSpPr txBox="1"/>
          <p:nvPr/>
        </p:nvSpPr>
        <p:spPr>
          <a:xfrm>
            <a:off x="914400" y="3022600"/>
            <a:ext cx="4826000" cy="152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75000"/>
              </a:lnSpc>
            </a:pPr>
            <a:r>
              <a:rPr lang="en-US" sz="1200" noProof="1">
                <a:solidFill>
                  <a:srgbClr val="F3EDE0">
                    <a:alpha val="70196"/>
                  </a:srgbClr>
                </a:solidFill>
                <a:latin typeface="MiSans" charset="-122"/>
                <a:ea typeface="MiSans" charset="-122"/>
              </a:rPr>
              <a:t>不明用能的缺口率一旦超过 5%，系统拦住不让结账——先把漏洞找出来再说。表计断链、读数异常自动诊断，生成工单派给具体的人，修完销单。做不到的检测规则，明写「未实现」，不装成在保护你。</a:t>
            </a:r>
            <a:endParaRPr lang="en-US" sz="1200" noProof="1"/>
          </a:p>
        </p:txBody>
      </p:sp>
      <p:sp>
        <p:nvSpPr>
          <p:cNvPr id="9" name="vs1-line"/>
          <p:cNvSpPr/>
          <p:nvPr/>
        </p:nvSpPr>
        <p:spPr>
          <a:xfrm>
            <a:off x="914400" y="4724400"/>
            <a:ext cx="10363200" cy="12700"/>
          </a:xfrm>
          <a:prstGeom prst="rect">
            <a:avLst/>
          </a:prstGeom>
          <a:solidFill>
            <a:srgbClr val="F3EDE0">
              <a:alpha val="30196"/>
            </a:srgbClr>
          </a:solidFill>
          <a:ln>
            <a:noFill/>
          </a:ln>
        </p:spPr>
      </p:sp>
      <p:sp>
        <p:nvSpPr>
          <p:cNvPr id="10" name="vs1-label"/>
          <p:cNvSpPr txBox="1"/>
          <p:nvPr/>
        </p:nvSpPr>
        <p:spPr>
          <a:xfrm>
            <a:off x="914400" y="4927600"/>
            <a:ext cx="1524000" cy="762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50000"/>
              </a:lnSpc>
            </a:pPr>
            <a:r>
              <a:rPr lang="en-US" sz="1200" noProof="1">
                <a:solidFill>
                  <a:srgbClr val="F3EDE0">
                    <a:alpha val="70196"/>
                  </a:srgbClr>
                </a:solidFill>
                <a:latin typeface="MiSans" charset="-122"/>
                <a:ea typeface="MiSans" charset="-122"/>
              </a:rPr>
              <a:t>别家的屏</a:t>
            </a:r>
            <a:endParaRPr lang="en-US" sz="1200" noProof="1"/>
          </a:p>
        </p:txBody>
      </p:sp>
      <p:sp>
        <p:nvSpPr>
          <p:cNvPr id="11" name="vs1-text"/>
          <p:cNvSpPr txBox="1"/>
          <p:nvPr/>
        </p:nvSpPr>
        <p:spPr>
          <a:xfrm>
            <a:off x="2540000" y="4927600"/>
            <a:ext cx="8737600" cy="762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60000"/>
              </a:lnSpc>
            </a:pPr>
            <a:r>
              <a:rPr lang="en-US" sz="1250" noProof="1">
                <a:solidFill>
                  <a:srgbClr val="F3EDE0">
                    <a:alpha val="70196"/>
                  </a:srgbClr>
                </a:solidFill>
                <a:latin typeface="MiSans" charset="-122"/>
                <a:ea typeface="MiSans" charset="-122"/>
              </a:rPr>
              <a:t>表坏了显示最后一次读数，一切「正常」；没实现的功能静默跳过。</a:t>
            </a:r>
            <a:endParaRPr lang="en-US" sz="1250" noProof="1"/>
          </a:p>
        </p:txBody>
      </p:sp>
      <p:sp>
        <p:nvSpPr>
          <p:cNvPr id="12" name="vs2-line"/>
          <p:cNvSpPr/>
          <p:nvPr/>
        </p:nvSpPr>
        <p:spPr>
          <a:xfrm>
            <a:off x="914400" y="5740400"/>
            <a:ext cx="10363200" cy="12700"/>
          </a:xfrm>
          <a:prstGeom prst="rect">
            <a:avLst/>
          </a:prstGeom>
          <a:solidFill>
            <a:srgbClr val="B5651D"/>
          </a:solidFill>
          <a:ln>
            <a:noFill/>
          </a:ln>
        </p:spPr>
      </p:sp>
      <p:sp>
        <p:nvSpPr>
          <p:cNvPr id="13" name="vs2-label"/>
          <p:cNvSpPr txBox="1"/>
          <p:nvPr/>
        </p:nvSpPr>
        <p:spPr>
          <a:xfrm>
            <a:off x="914400" y="5943600"/>
            <a:ext cx="1524000" cy="762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50000"/>
              </a:lnSpc>
            </a:pPr>
            <a:r>
              <a:rPr lang="en-US" sz="1200" b="1" noProof="1">
                <a:solidFill>
                  <a:srgbClr val="B5651D"/>
                </a:solidFill>
                <a:latin typeface="MiSans" charset="-122"/>
                <a:ea typeface="MiSans" charset="-122"/>
              </a:rPr>
              <a:t>这本账</a:t>
            </a:r>
            <a:endParaRPr lang="en-US" sz="1200" noProof="1"/>
          </a:p>
        </p:txBody>
      </p:sp>
      <p:sp>
        <p:nvSpPr>
          <p:cNvPr id="14" name="vs2-text"/>
          <p:cNvSpPr txBox="1"/>
          <p:nvPr/>
        </p:nvSpPr>
        <p:spPr>
          <a:xfrm>
            <a:off x="2540000" y="5943600"/>
            <a:ext cx="8737600" cy="762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60000"/>
              </a:lnSpc>
            </a:pPr>
            <a:r>
              <a:rPr lang="en-US" sz="1250" b="1" noProof="1">
                <a:solidFill>
                  <a:srgbClr val="F3EDE0"/>
                </a:solidFill>
                <a:latin typeface="MiSans" charset="-122"/>
                <a:ea typeface="MiSans" charset="-122"/>
              </a:rPr>
              <a:t>缺口超闸就拦账、异常就派单</a:t>
            </a:r>
            <a:r>
              <a:rPr lang="en-US" sz="1250" noProof="1">
                <a:solidFill>
                  <a:srgbClr val="F3EDE0"/>
                </a:solidFill>
                <a:latin typeface="MiSans" charset="-122"/>
                <a:ea typeface="MiSans" charset="-122"/>
              </a:rPr>
              <a:t>；连演示数据都带专属标记，永不冒充真数据。</a:t>
            </a:r>
            <a:endParaRPr lang="en-US" sz="1250" noProof="1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EDE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um"/>
          <p:cNvSpPr txBox="1"/>
          <p:nvPr/>
        </p:nvSpPr>
        <p:spPr>
          <a:xfrm>
            <a:off x="914400" y="787400"/>
            <a:ext cx="1524000" cy="787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5000" noProof="1">
                <a:solidFill>
                  <a:srgbClr val="B5651D"/>
                </a:solidFill>
                <a:latin typeface="Oranienbaum" panose="02000506080000020003"/>
                <a:ea typeface="Oranienbaum" panose="02000506080000020003"/>
              </a:rPr>
              <a:t>第三关</a:t>
            </a:r>
            <a:endParaRPr lang="en-US" sz="5000" noProof="1"/>
          </a:p>
        </p:txBody>
      </p:sp>
      <p:sp>
        <p:nvSpPr>
          <p:cNvPr id="3" name="title"/>
          <p:cNvSpPr txBox="1"/>
          <p:nvPr/>
        </p:nvSpPr>
        <p:spPr>
          <a:xfrm>
            <a:off x="914400" y="1676400"/>
            <a:ext cx="6350000" cy="660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3400" noProof="1">
                <a:solidFill>
                  <a:srgbClr val="0A3541"/>
                </a:solidFill>
                <a:latin typeface="Oranienbaum" panose="02000506080000020003"/>
                <a:ea typeface="思源宋体"/>
              </a:rPr>
              <a:t>赖不掉</a:t>
            </a:r>
            <a:endParaRPr lang="en-US" sz="3400" noProof="1"/>
          </a:p>
        </p:txBody>
      </p:sp>
      <p:sp>
        <p:nvSpPr>
          <p:cNvPr id="4" name="usp"/>
          <p:cNvSpPr txBox="1"/>
          <p:nvPr/>
        </p:nvSpPr>
        <p:spPr>
          <a:xfrm>
            <a:off x="914400" y="2438400"/>
            <a:ext cx="7112000" cy="381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700" noProof="1">
                <a:solidFill>
                  <a:srgbClr val="B5651D"/>
                </a:solidFill>
                <a:latin typeface="Oranienbaum" panose="02000506080000020003"/>
                <a:ea typeface="思源宋体"/>
              </a:rPr>
              <a:t>节能公司说省了 80 万，系统里有核证过程。</a:t>
            </a:r>
            <a:endParaRPr lang="en-US" sz="1700" noProof="1"/>
          </a:p>
        </p:txBody>
      </p:sp>
      <p:pic>
        <p:nvPicPr>
          <p:cNvPr id="5" name="shot"/>
          <p:cNvPicPr/>
          <p:nvPr/>
        </p:nvPicPr>
        <p:blipFill>
          <a:blip r:embed="rId1"/>
          <a:stretch>
            <a:fillRect/>
          </a:stretch>
        </p:blipFill>
        <p:spPr>
          <a:xfrm>
            <a:off x="6096000" y="787400"/>
            <a:ext cx="5181600" cy="2438400"/>
          </a:xfrm>
          <a:prstGeom prst="rect">
            <a:avLst/>
          </a:prstGeom>
          <a:ln>
            <a:noFill/>
          </a:ln>
          <a:effectLst>
            <a:outerShdw blurRad="152400" dist="50800" dir="5400000" algn="bl" rotWithShape="0">
              <a:srgbClr val="0A3541">
                <a:alpha val="10196"/>
              </a:srgbClr>
            </a:outerShdw>
          </a:effectLst>
        </p:spPr>
      </p:pic>
      <p:sp>
        <p:nvSpPr>
          <p:cNvPr id="6" name="shot-border"/>
          <p:cNvSpPr/>
          <p:nvPr/>
        </p:nvSpPr>
        <p:spPr>
          <a:xfrm>
            <a:off x="6096000" y="787400"/>
            <a:ext cx="5181600" cy="2438400"/>
          </a:xfrm>
          <a:prstGeom prst="rect">
            <a:avLst/>
          </a:prstGeom>
          <a:noFill/>
          <a:ln w="12700">
            <a:solidFill>
              <a:srgbClr val="D8CDB8"/>
            </a:solidFill>
          </a:ln>
        </p:spPr>
      </p:sp>
      <p:sp>
        <p:nvSpPr>
          <p:cNvPr id="7" name="shot-cap"/>
          <p:cNvSpPr txBox="1"/>
          <p:nvPr/>
        </p:nvSpPr>
        <p:spPr>
          <a:xfrm>
            <a:off x="6096000" y="3302000"/>
            <a:ext cx="51816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050" noProof="1">
                <a:solidFill>
                  <a:srgbClr val="6E7B74"/>
                </a:solidFill>
                <a:latin typeface="MiSans" charset="-122"/>
                <a:ea typeface="MiSans" charset="-122"/>
              </a:rPr>
              <a:t>设计原型演示 · 关账冻结，修正走红冲留痕</a:t>
            </a:r>
            <a:endParaRPr lang="en-US" sz="1050" noProof="1"/>
          </a:p>
        </p:txBody>
      </p:sp>
      <p:sp>
        <p:nvSpPr>
          <p:cNvPr id="8" name="para"/>
          <p:cNvSpPr txBox="1"/>
          <p:nvPr/>
        </p:nvSpPr>
        <p:spPr>
          <a:xfrm>
            <a:off x="914400" y="3022600"/>
            <a:ext cx="4826000" cy="152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75000"/>
              </a:lnSpc>
            </a:pPr>
            <a:r>
              <a:rPr lang="en-US" sz="1200" noProof="1">
                <a:solidFill>
                  <a:srgbClr val="6E7B74"/>
                </a:solidFill>
                <a:latin typeface="MiSans" charset="-122"/>
                <a:ea typeface="MiSans" charset="-122"/>
              </a:rPr>
              <a:t>关账后的老账改不动，修正只能走「红冲」：谁改的、为什么改，一查到底。费率、排放因子每个版本都带依据文件号。节能量按 IPMVP / ASHRAE G14 国际核证协议算完才敢报——EMC 付款、审计检查、双碳报告，用的都是这一套记录。</a:t>
            </a:r>
            <a:endParaRPr lang="en-US" sz="1200" noProof="1"/>
          </a:p>
        </p:txBody>
      </p:sp>
      <p:sp>
        <p:nvSpPr>
          <p:cNvPr id="9" name="vs1-line"/>
          <p:cNvSpPr/>
          <p:nvPr/>
        </p:nvSpPr>
        <p:spPr>
          <a:xfrm>
            <a:off x="914400" y="4724400"/>
            <a:ext cx="10363200" cy="12700"/>
          </a:xfrm>
          <a:prstGeom prst="rect">
            <a:avLst/>
          </a:prstGeom>
          <a:solidFill>
            <a:srgbClr val="D8CDB8"/>
          </a:solidFill>
          <a:ln>
            <a:noFill/>
          </a:ln>
        </p:spPr>
      </p:sp>
      <p:sp>
        <p:nvSpPr>
          <p:cNvPr id="10" name="vs1-label"/>
          <p:cNvSpPr txBox="1"/>
          <p:nvPr/>
        </p:nvSpPr>
        <p:spPr>
          <a:xfrm>
            <a:off x="914400" y="4927600"/>
            <a:ext cx="1524000" cy="762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50000"/>
              </a:lnSpc>
            </a:pPr>
            <a:r>
              <a:rPr lang="en-US" sz="1200" noProof="1">
                <a:solidFill>
                  <a:srgbClr val="6E7B74"/>
                </a:solidFill>
                <a:latin typeface="MiSans" charset="-122"/>
                <a:ea typeface="MiSans" charset="-122"/>
              </a:rPr>
              <a:t>别家的数</a:t>
            </a:r>
            <a:endParaRPr lang="en-US" sz="1200" noProof="1"/>
          </a:p>
        </p:txBody>
      </p:sp>
      <p:sp>
        <p:nvSpPr>
          <p:cNvPr id="11" name="vs1-text"/>
          <p:cNvSpPr txBox="1"/>
          <p:nvPr/>
        </p:nvSpPr>
        <p:spPr>
          <a:xfrm>
            <a:off x="2540000" y="4927600"/>
            <a:ext cx="8737600" cy="762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60000"/>
              </a:lnSpc>
            </a:pPr>
            <a:r>
              <a:rPr lang="en-US" sz="1250" noProof="1">
                <a:solidFill>
                  <a:srgbClr val="6E7B74"/>
                </a:solidFill>
                <a:latin typeface="MiSans" charset="-122"/>
                <a:ea typeface="MiSans" charset="-122"/>
              </a:rPr>
              <a:t>改数无痕覆盖，审计来了说不清；节能量靠节能公司自己报。</a:t>
            </a:r>
            <a:endParaRPr lang="en-US" sz="1250" noProof="1"/>
          </a:p>
        </p:txBody>
      </p:sp>
      <p:sp>
        <p:nvSpPr>
          <p:cNvPr id="12" name="vs2-line"/>
          <p:cNvSpPr/>
          <p:nvPr/>
        </p:nvSpPr>
        <p:spPr>
          <a:xfrm>
            <a:off x="914400" y="5740400"/>
            <a:ext cx="10363200" cy="12700"/>
          </a:xfrm>
          <a:prstGeom prst="rect">
            <a:avLst/>
          </a:prstGeom>
          <a:solidFill>
            <a:srgbClr val="B5651D"/>
          </a:solidFill>
          <a:ln>
            <a:noFill/>
          </a:ln>
        </p:spPr>
      </p:sp>
      <p:sp>
        <p:nvSpPr>
          <p:cNvPr id="13" name="vs2-label"/>
          <p:cNvSpPr txBox="1"/>
          <p:nvPr/>
        </p:nvSpPr>
        <p:spPr>
          <a:xfrm>
            <a:off x="914400" y="5943600"/>
            <a:ext cx="1524000" cy="762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50000"/>
              </a:lnSpc>
            </a:pPr>
            <a:r>
              <a:rPr lang="en-US" sz="1200" b="1" noProof="1">
                <a:solidFill>
                  <a:srgbClr val="B5651D"/>
                </a:solidFill>
                <a:latin typeface="MiSans" charset="-122"/>
                <a:ea typeface="MiSans" charset="-122"/>
              </a:rPr>
              <a:t>这本账</a:t>
            </a:r>
            <a:endParaRPr lang="en-US" sz="1200" noProof="1"/>
          </a:p>
        </p:txBody>
      </p:sp>
      <p:sp>
        <p:nvSpPr>
          <p:cNvPr id="14" name="vs2-text"/>
          <p:cNvSpPr txBox="1"/>
          <p:nvPr/>
        </p:nvSpPr>
        <p:spPr>
          <a:xfrm>
            <a:off x="2540000" y="5943600"/>
            <a:ext cx="8737600" cy="762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60000"/>
              </a:lnSpc>
            </a:pPr>
            <a:r>
              <a:rPr lang="en-US" sz="1250" b="1" noProof="1">
                <a:solidFill>
                  <a:srgbClr val="1F2A28"/>
                </a:solidFill>
                <a:latin typeface="MiSans" charset="-122"/>
                <a:ea typeface="MiSans" charset="-122"/>
              </a:rPr>
              <a:t>改一笔留一痕</a:t>
            </a:r>
            <a:r>
              <a:rPr lang="en-US" sz="1250" noProof="1">
                <a:solidFill>
                  <a:srgbClr val="1F2A28"/>
                </a:solidFill>
                <a:latin typeface="MiSans" charset="-122"/>
                <a:ea typeface="MiSans" charset="-122"/>
              </a:rPr>
              <a:t>；节能量、碳排放都从同一本账核证重算，双方签字有据。</a:t>
            </a:r>
            <a:endParaRPr lang="en-US" sz="1250" noProof="1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EDE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914400" y="635000"/>
            <a:ext cx="50800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100" kern="0" spc="200" noProof="1">
                <a:solidFill>
                  <a:srgbClr val="B5651D"/>
                </a:solidFill>
                <a:latin typeface="MiSans" charset="-122"/>
                <a:ea typeface="MiSans" charset="-122"/>
              </a:rPr>
              <a:t>底座 · FIN FRAMEWORK</a:t>
            </a:r>
            <a:endParaRPr lang="en-US" sz="1100" noProof="1"/>
          </a:p>
        </p:txBody>
      </p:sp>
      <p:sp>
        <p:nvSpPr>
          <p:cNvPr id="3" name="title"/>
          <p:cNvSpPr txBox="1"/>
          <p:nvPr/>
        </p:nvSpPr>
        <p:spPr>
          <a:xfrm>
            <a:off x="914400" y="965200"/>
            <a:ext cx="10363200" cy="558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2900" noProof="1">
                <a:solidFill>
                  <a:srgbClr val="0A3541"/>
                </a:solidFill>
                <a:latin typeface="Oranienbaum" panose="02000506080000020003"/>
                <a:ea typeface="思源宋体"/>
              </a:rPr>
              <a:t>建在开放平台上：不拆旧、不出院</a:t>
            </a:r>
            <a:endParaRPr lang="en-US" sz="2900" noProof="1"/>
          </a:p>
        </p:txBody>
      </p:sp>
      <p:sp>
        <p:nvSpPr>
          <p:cNvPr id="4" name="r1-line"/>
          <p:cNvSpPr/>
          <p:nvPr/>
        </p:nvSpPr>
        <p:spPr>
          <a:xfrm>
            <a:off x="914400" y="1905000"/>
            <a:ext cx="6350000" cy="12700"/>
          </a:xfrm>
          <a:prstGeom prst="rect">
            <a:avLst/>
          </a:prstGeom>
          <a:solidFill>
            <a:srgbClr val="D8CDB8"/>
          </a:solidFill>
          <a:ln>
            <a:noFill/>
          </a:ln>
        </p:spPr>
      </p:sp>
      <p:sp>
        <p:nvSpPr>
          <p:cNvPr id="5" name="r1"/>
          <p:cNvSpPr txBox="1"/>
          <p:nvPr/>
        </p:nvSpPr>
        <p:spPr>
          <a:xfrm>
            <a:off x="914400" y="2082800"/>
            <a:ext cx="6350000" cy="711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50000"/>
              </a:lnSpc>
            </a:pPr>
            <a:r>
              <a:rPr lang="en-US" sz="1400" b="1" noProof="1">
                <a:solidFill>
                  <a:srgbClr val="0A3541"/>
                </a:solidFill>
                <a:latin typeface="MiSans" charset="-122"/>
                <a:ea typeface="MiSans" charset="-122"/>
              </a:rPr>
              <a:t>现有系统直接接</a:t>
            </a:r>
            <a:endParaRPr lang="en-US" sz="1600" noProof="1"/>
          </a:p>
          <a:p>
            <a:pPr>
              <a:lnSpc>
                <a:spcPct val="150000"/>
              </a:lnSpc>
              <a:spcBef>
                <a:spcPts val="400"/>
              </a:spcBef>
            </a:pPr>
            <a:r>
              <a:rPr lang="en-US" sz="1200" noProof="1">
                <a:solidFill>
                  <a:srgbClr val="6E7B74"/>
                </a:solidFill>
                <a:latin typeface="MiSans" charset="-122"/>
                <a:ea typeface="MiSans" charset="-122"/>
              </a:rPr>
              <a:t>原生支持 BACnet / Modbus / KNX / SNMP / OPC 与 Haystack 语义——楼控、电监、水表现有投资全部保留，不用拆旧换新。</a:t>
            </a:r>
            <a:endParaRPr lang="en-US" sz="1600" noProof="1"/>
          </a:p>
        </p:txBody>
      </p:sp>
      <p:sp>
        <p:nvSpPr>
          <p:cNvPr id="6" name="r2-line"/>
          <p:cNvSpPr/>
          <p:nvPr/>
        </p:nvSpPr>
        <p:spPr>
          <a:xfrm>
            <a:off x="914400" y="3048000"/>
            <a:ext cx="6350000" cy="12700"/>
          </a:xfrm>
          <a:prstGeom prst="rect">
            <a:avLst/>
          </a:prstGeom>
          <a:solidFill>
            <a:srgbClr val="D8CDB8"/>
          </a:solidFill>
          <a:ln>
            <a:noFill/>
          </a:ln>
        </p:spPr>
      </p:sp>
      <p:sp>
        <p:nvSpPr>
          <p:cNvPr id="7" name="r2"/>
          <p:cNvSpPr txBox="1"/>
          <p:nvPr/>
        </p:nvSpPr>
        <p:spPr>
          <a:xfrm>
            <a:off x="914400" y="3225800"/>
            <a:ext cx="6350000" cy="711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50000"/>
              </a:lnSpc>
            </a:pPr>
            <a:r>
              <a:rPr lang="en-US" sz="1400" b="1" noProof="1">
                <a:solidFill>
                  <a:srgbClr val="0A3541"/>
                </a:solidFill>
                <a:latin typeface="MiSans" charset="-122"/>
                <a:ea typeface="MiSans" charset="-122"/>
              </a:rPr>
              <a:t>哪里都能看</a:t>
            </a:r>
            <a:endParaRPr lang="en-US" sz="1600" noProof="1"/>
          </a:p>
          <a:p>
            <a:pPr>
              <a:lnSpc>
                <a:spcPct val="150000"/>
              </a:lnSpc>
              <a:spcBef>
                <a:spcPts val="400"/>
              </a:spcBef>
            </a:pPr>
            <a:r>
              <a:rPr lang="en-US" sz="1200" noProof="1">
                <a:solidFill>
                  <a:srgbClr val="6E7B74"/>
                </a:solidFill>
                <a:latin typeface="MiSans" charset="-122"/>
                <a:ea typeface="MiSans" charset="-122"/>
              </a:rPr>
              <a:t>HTML5 界面，后勤办公室、值班手机、领导平板，浏览器打开即用，不装客户端。</a:t>
            </a:r>
            <a:endParaRPr lang="en-US" sz="1600" noProof="1"/>
          </a:p>
        </p:txBody>
      </p:sp>
      <p:sp>
        <p:nvSpPr>
          <p:cNvPr id="8" name="r3-line"/>
          <p:cNvSpPr/>
          <p:nvPr/>
        </p:nvSpPr>
        <p:spPr>
          <a:xfrm>
            <a:off x="914400" y="4191000"/>
            <a:ext cx="6350000" cy="12700"/>
          </a:xfrm>
          <a:prstGeom prst="rect">
            <a:avLst/>
          </a:prstGeom>
          <a:solidFill>
            <a:srgbClr val="D8CDB8"/>
          </a:solidFill>
          <a:ln>
            <a:noFill/>
          </a:ln>
        </p:spPr>
      </p:sp>
      <p:sp>
        <p:nvSpPr>
          <p:cNvPr id="9" name="r3"/>
          <p:cNvSpPr txBox="1"/>
          <p:nvPr/>
        </p:nvSpPr>
        <p:spPr>
          <a:xfrm>
            <a:off x="914400" y="4368800"/>
            <a:ext cx="6350000" cy="711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50000"/>
              </a:lnSpc>
            </a:pPr>
            <a:r>
              <a:rPr lang="en-US" sz="1400" b="1" noProof="1">
                <a:solidFill>
                  <a:srgbClr val="0A3541"/>
                </a:solidFill>
                <a:latin typeface="MiSans" charset="-122"/>
                <a:ea typeface="MiSans" charset="-122"/>
              </a:rPr>
              <a:t>数据不出院</a:t>
            </a:r>
            <a:endParaRPr lang="en-US" sz="1600" noProof="1"/>
          </a:p>
          <a:p>
            <a:pPr>
              <a:lnSpc>
                <a:spcPct val="150000"/>
              </a:lnSpc>
              <a:spcBef>
                <a:spcPts val="400"/>
              </a:spcBef>
            </a:pPr>
            <a:r>
              <a:rPr lang="en-US" sz="1200" noProof="1">
                <a:solidFill>
                  <a:srgbClr val="6E7B74"/>
                </a:solidFill>
                <a:latin typeface="MiSans" charset="-122"/>
                <a:ea typeface="MiSans" charset="-122"/>
              </a:rPr>
              <a:t>本地部署在院内机房，能耗与运营数据不出医院边界，满足数据安全要求。</a:t>
            </a:r>
            <a:endParaRPr lang="en-US" sz="1600" noProof="1"/>
          </a:p>
        </p:txBody>
      </p:sp>
      <p:sp>
        <p:nvSpPr>
          <p:cNvPr id="10" name="r4-line"/>
          <p:cNvSpPr/>
          <p:nvPr/>
        </p:nvSpPr>
        <p:spPr>
          <a:xfrm>
            <a:off x="914400" y="5334000"/>
            <a:ext cx="6350000" cy="12700"/>
          </a:xfrm>
          <a:prstGeom prst="rect">
            <a:avLst/>
          </a:prstGeom>
          <a:solidFill>
            <a:srgbClr val="D8CDB8"/>
          </a:solidFill>
          <a:ln>
            <a:noFill/>
          </a:ln>
        </p:spPr>
      </p:sp>
      <p:sp>
        <p:nvSpPr>
          <p:cNvPr id="11" name="r4"/>
          <p:cNvSpPr txBox="1"/>
          <p:nvPr/>
        </p:nvSpPr>
        <p:spPr>
          <a:xfrm>
            <a:off x="914400" y="5511800"/>
            <a:ext cx="6350000" cy="711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50000"/>
              </a:lnSpc>
            </a:pPr>
            <a:r>
              <a:rPr lang="en-US" sz="1400" b="1" noProof="1">
                <a:solidFill>
                  <a:srgbClr val="0A3541"/>
                </a:solidFill>
                <a:latin typeface="MiSans" charset="-122"/>
                <a:ea typeface="MiSans" charset="-122"/>
              </a:rPr>
              <a:t>平台不是孤儿</a:t>
            </a:r>
            <a:endParaRPr lang="en-US" sz="1600" noProof="1"/>
          </a:p>
          <a:p>
            <a:pPr>
              <a:lnSpc>
                <a:spcPct val="150000"/>
              </a:lnSpc>
              <a:spcBef>
                <a:spcPts val="400"/>
              </a:spcBef>
            </a:pPr>
            <a:r>
              <a:rPr lang="en-US" sz="1200" noProof="1">
                <a:solidFill>
                  <a:srgbClr val="6E7B74"/>
                </a:solidFill>
                <a:latin typeface="MiSans" charset="-122"/>
                <a:ea typeface="MiSans" charset="-122"/>
              </a:rPr>
              <a:t>FIN 系平台覆盖医疗等多行业，集成商与 OEM 生态成熟，连接器持续维护，有活跃路线图。</a:t>
            </a:r>
            <a:endParaRPr lang="en-US" sz="1600" noProof="1"/>
          </a:p>
        </p:txBody>
      </p:sp>
      <p:pic>
        <p:nvPicPr>
          <p:cNvPr id="12" name="shot"/>
          <p:cNvPicPr/>
          <p:nvPr/>
        </p:nvPicPr>
        <p:blipFill>
          <a:blip r:embed="rId1"/>
          <a:stretch>
            <a:fillRect/>
          </a:stretch>
        </p:blipFill>
        <p:spPr>
          <a:xfrm>
            <a:off x="7620000" y="1905000"/>
            <a:ext cx="3657600" cy="2578100"/>
          </a:xfrm>
          <a:prstGeom prst="rect">
            <a:avLst/>
          </a:prstGeom>
          <a:ln>
            <a:noFill/>
          </a:ln>
          <a:effectLst>
            <a:outerShdw blurRad="152400" dist="50800" dir="5400000" algn="bl" rotWithShape="0">
              <a:srgbClr val="0A3541">
                <a:alpha val="10196"/>
              </a:srgbClr>
            </a:outerShdw>
          </a:effectLst>
        </p:spPr>
      </p:pic>
      <p:sp>
        <p:nvSpPr>
          <p:cNvPr id="13" name="shot-border"/>
          <p:cNvSpPr/>
          <p:nvPr/>
        </p:nvSpPr>
        <p:spPr>
          <a:xfrm>
            <a:off x="7620000" y="1905000"/>
            <a:ext cx="3657600" cy="2578100"/>
          </a:xfrm>
          <a:prstGeom prst="rect">
            <a:avLst/>
          </a:prstGeom>
          <a:noFill/>
          <a:ln w="12700">
            <a:solidFill>
              <a:srgbClr val="D8CDB8"/>
            </a:solidFill>
          </a:ln>
        </p:spPr>
      </p:sp>
      <p:sp>
        <p:nvSpPr>
          <p:cNvPr id="14" name="shot-cap"/>
          <p:cNvSpPr txBox="1"/>
          <p:nvPr/>
        </p:nvSpPr>
        <p:spPr>
          <a:xfrm>
            <a:off x="7620000" y="4559300"/>
            <a:ext cx="365760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50000"/>
              </a:lnSpc>
            </a:pPr>
            <a:r>
              <a:rPr lang="en-US" sz="1050" noProof="1">
                <a:solidFill>
                  <a:srgbClr val="6E7B74"/>
                </a:solidFill>
                <a:latin typeface="MiSans" charset="-122"/>
                <a:ea typeface="MiSans" charset="-122"/>
              </a:rPr>
              <a:t>移动端速览（设计原型演示）：值班深色模式、异常处置、管理者报表</a:t>
            </a:r>
            <a:endParaRPr lang="en-US" sz="1050" noProof="1"/>
          </a:p>
        </p:txBody>
      </p:sp>
      <p:sp>
        <p:nvSpPr>
          <p:cNvPr id="15" name="footnote"/>
          <p:cNvSpPr txBox="1"/>
          <p:nvPr/>
        </p:nvSpPr>
        <p:spPr>
          <a:xfrm>
            <a:off x="914400" y="6350000"/>
            <a:ext cx="1036320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50000"/>
              </a:lnSpc>
            </a:pPr>
            <a:r>
              <a:rPr lang="en-US" sz="1000" noProof="1">
                <a:solidFill>
                  <a:srgbClr val="6E7B74"/>
                </a:solidFill>
                <a:latin typeface="MiSans" charset="-122"/>
                <a:ea typeface="MiSans" charset="-122"/>
              </a:rPr>
              <a:t>被追问「为什么你们做得到」时的答案：十条数据铁律代码化强制，87 个单元测试值守，Haystack 语义模型打底，FIN 5.3 原生 Pod 交付。</a:t>
            </a:r>
            <a:endParaRPr lang="en-US" sz="1000" noProof="1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354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watermark"/>
          <p:cNvSpPr txBox="1"/>
          <p:nvPr/>
        </p:nvSpPr>
        <p:spPr>
          <a:xfrm>
            <a:off x="8128000" y="3810000"/>
            <a:ext cx="3810000" cy="254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9000" noProof="1">
                <a:solidFill>
                  <a:srgbClr val="F3EDE0">
                    <a:alpha val="2549"/>
                  </a:srgbClr>
                </a:solidFill>
                <a:latin typeface="Oranienbaum" panose="02000506080000020003"/>
                <a:ea typeface="Oranienbaum" panose="02000506080000020003"/>
              </a:rPr>
              <a:t>Em</a:t>
            </a:r>
            <a:endParaRPr lang="en-US" sz="19000" noProof="1"/>
          </a:p>
        </p:txBody>
      </p:sp>
      <p:sp>
        <p:nvSpPr>
          <p:cNvPr id="3" name="manifesto"/>
          <p:cNvSpPr txBox="1"/>
          <p:nvPr/>
        </p:nvSpPr>
        <p:spPr>
          <a:xfrm>
            <a:off x="914400" y="1168400"/>
            <a:ext cx="10363200" cy="1778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50000"/>
              </a:lnSpc>
            </a:pPr>
            <a:r>
              <a:rPr lang="en-US" sz="3800" noProof="1">
                <a:solidFill>
                  <a:srgbClr val="F3EDE0"/>
                </a:solidFill>
                <a:latin typeface="Oranienbaum" panose="02000506080000020003"/>
                <a:ea typeface="思源宋体"/>
              </a:rPr>
              <a:t>一本不会撒谎的能耗账——</a:t>
            </a:r>
            <a:endParaRPr lang="en-US" sz="3800" noProof="1"/>
          </a:p>
          <a:p>
            <a:pPr>
              <a:lnSpc>
                <a:spcPct val="150000"/>
              </a:lnSpc>
            </a:pPr>
            <a:r>
              <a:rPr lang="en-US" sz="3800" noProof="1">
                <a:solidFill>
                  <a:srgbClr val="B5651D"/>
                </a:solidFill>
                <a:latin typeface="Oranienbaum" panose="02000506080000020003"/>
                <a:ea typeface="思源宋体"/>
              </a:rPr>
              <a:t>装得快 · 算得清 · 藏不住 · 赖不掉</a:t>
            </a:r>
            <a:endParaRPr lang="en-US" sz="3800" noProof="1"/>
          </a:p>
        </p:txBody>
      </p:sp>
      <p:sp>
        <p:nvSpPr>
          <p:cNvPr id="4" name="rule"/>
          <p:cNvSpPr/>
          <p:nvPr/>
        </p:nvSpPr>
        <p:spPr>
          <a:xfrm>
            <a:off x="914400" y="3403600"/>
            <a:ext cx="1524000" cy="25400"/>
          </a:xfrm>
          <a:prstGeom prst="rect">
            <a:avLst/>
          </a:prstGeom>
          <a:solidFill>
            <a:srgbClr val="B5651D"/>
          </a:solidFill>
          <a:ln>
            <a:noFill/>
          </a:ln>
        </p:spPr>
      </p:sp>
      <p:sp>
        <p:nvSpPr>
          <p:cNvPr id="5" name="r1-line"/>
          <p:cNvSpPr/>
          <p:nvPr/>
        </p:nvSpPr>
        <p:spPr>
          <a:xfrm>
            <a:off x="914400" y="3759200"/>
            <a:ext cx="7620000" cy="12700"/>
          </a:xfrm>
          <a:prstGeom prst="rect">
            <a:avLst/>
          </a:prstGeom>
          <a:solidFill>
            <a:srgbClr val="F3EDE0">
              <a:alpha val="30196"/>
            </a:srgbClr>
          </a:solidFill>
          <a:ln>
            <a:noFill/>
          </a:ln>
        </p:spPr>
      </p:sp>
      <p:sp>
        <p:nvSpPr>
          <p:cNvPr id="6" name="r1"/>
          <p:cNvSpPr txBox="1"/>
          <p:nvPr/>
        </p:nvSpPr>
        <p:spPr>
          <a:xfrm>
            <a:off x="914400" y="3911600"/>
            <a:ext cx="7620000" cy="355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500" b="1" noProof="1">
                <a:solidFill>
                  <a:srgbClr val="F3EDE0"/>
                </a:solidFill>
                <a:latin typeface="MiSans" charset="-122"/>
                <a:ea typeface="MiSans" charset="-122"/>
              </a:rPr>
              <a:t>装得快</a:t>
            </a:r>
            <a:r>
              <a:rPr lang="en-US" sz="1200" noProof="1">
                <a:solidFill>
                  <a:srgbClr val="F3EDE0">
                    <a:alpha val="70196"/>
                  </a:srgbClr>
                </a:solidFill>
                <a:latin typeface="MiSans" charset="-122"/>
                <a:ea typeface="MiSans" charset="-122"/>
              </a:rPr>
              <a:t>　上午装，下午见数——即插即用的 Pod</a:t>
            </a:r>
            <a:endParaRPr lang="en-US" sz="1600" noProof="1"/>
          </a:p>
        </p:txBody>
      </p:sp>
      <p:sp>
        <p:nvSpPr>
          <p:cNvPr id="7" name="r2-line"/>
          <p:cNvSpPr/>
          <p:nvPr/>
        </p:nvSpPr>
        <p:spPr>
          <a:xfrm>
            <a:off x="914400" y="4419600"/>
            <a:ext cx="7620000" cy="12700"/>
          </a:xfrm>
          <a:prstGeom prst="rect">
            <a:avLst/>
          </a:prstGeom>
          <a:solidFill>
            <a:srgbClr val="F3EDE0">
              <a:alpha val="30196"/>
            </a:srgbClr>
          </a:solidFill>
          <a:ln>
            <a:noFill/>
          </a:ln>
        </p:spPr>
      </p:sp>
      <p:sp>
        <p:nvSpPr>
          <p:cNvPr id="8" name="r2"/>
          <p:cNvSpPr txBox="1"/>
          <p:nvPr/>
        </p:nvSpPr>
        <p:spPr>
          <a:xfrm>
            <a:off x="914400" y="4572000"/>
            <a:ext cx="7620000" cy="355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500" b="1" noProof="1">
                <a:solidFill>
                  <a:srgbClr val="F3EDE0"/>
                </a:solidFill>
                <a:latin typeface="MiSans" charset="-122"/>
                <a:ea typeface="MiSans" charset="-122"/>
              </a:rPr>
              <a:t>算得清</a:t>
            </a:r>
            <a:r>
              <a:rPr lang="en-US" sz="1200" noProof="1">
                <a:solidFill>
                  <a:srgbClr val="F3EDE0">
                    <a:alpha val="70196"/>
                  </a:srgbClr>
                </a:solidFill>
                <a:latin typeface="MiSans" charset="-122"/>
                <a:ea typeface="MiSans" charset="-122"/>
              </a:rPr>
              <a:t>　五介质一本账，科室分摊自动出</a:t>
            </a:r>
            <a:endParaRPr lang="en-US" sz="1600" noProof="1"/>
          </a:p>
        </p:txBody>
      </p:sp>
      <p:sp>
        <p:nvSpPr>
          <p:cNvPr id="9" name="r3-line"/>
          <p:cNvSpPr/>
          <p:nvPr/>
        </p:nvSpPr>
        <p:spPr>
          <a:xfrm>
            <a:off x="914400" y="5080000"/>
            <a:ext cx="7620000" cy="12700"/>
          </a:xfrm>
          <a:prstGeom prst="rect">
            <a:avLst/>
          </a:prstGeom>
          <a:solidFill>
            <a:srgbClr val="F3EDE0">
              <a:alpha val="30196"/>
            </a:srgbClr>
          </a:solidFill>
          <a:ln>
            <a:noFill/>
          </a:ln>
        </p:spPr>
      </p:sp>
      <p:sp>
        <p:nvSpPr>
          <p:cNvPr id="10" name="r3"/>
          <p:cNvSpPr txBox="1"/>
          <p:nvPr/>
        </p:nvSpPr>
        <p:spPr>
          <a:xfrm>
            <a:off x="914400" y="5232400"/>
            <a:ext cx="7620000" cy="355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500" b="1" noProof="1">
                <a:solidFill>
                  <a:srgbClr val="F3EDE0"/>
                </a:solidFill>
                <a:latin typeface="MiSans" charset="-122"/>
                <a:ea typeface="MiSans" charset="-122"/>
              </a:rPr>
              <a:t>藏不住</a:t>
            </a:r>
            <a:r>
              <a:rPr lang="en-US" sz="1200" noProof="1">
                <a:solidFill>
                  <a:srgbClr val="F3EDE0">
                    <a:alpha val="70196"/>
                  </a:srgbClr>
                </a:solidFill>
                <a:latin typeface="MiSans" charset="-122"/>
                <a:ea typeface="MiSans" charset="-122"/>
              </a:rPr>
              <a:t>　缺口拦账、异常派单，有问题不装正常</a:t>
            </a:r>
            <a:endParaRPr lang="en-US" sz="1600" noProof="1"/>
          </a:p>
        </p:txBody>
      </p:sp>
      <p:sp>
        <p:nvSpPr>
          <p:cNvPr id="11" name="r4-line"/>
          <p:cNvSpPr/>
          <p:nvPr/>
        </p:nvSpPr>
        <p:spPr>
          <a:xfrm>
            <a:off x="914400" y="5740400"/>
            <a:ext cx="7620000" cy="12700"/>
          </a:xfrm>
          <a:prstGeom prst="rect">
            <a:avLst/>
          </a:prstGeom>
          <a:solidFill>
            <a:srgbClr val="F3EDE0">
              <a:alpha val="30196"/>
            </a:srgbClr>
          </a:solidFill>
          <a:ln>
            <a:noFill/>
          </a:ln>
        </p:spPr>
      </p:sp>
      <p:sp>
        <p:nvSpPr>
          <p:cNvPr id="12" name="r4"/>
          <p:cNvSpPr txBox="1"/>
          <p:nvPr/>
        </p:nvSpPr>
        <p:spPr>
          <a:xfrm>
            <a:off x="914400" y="5892800"/>
            <a:ext cx="7620000" cy="355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500" b="1" noProof="1">
                <a:solidFill>
                  <a:srgbClr val="F3EDE0"/>
                </a:solidFill>
                <a:latin typeface="MiSans" charset="-122"/>
                <a:ea typeface="MiSans" charset="-122"/>
              </a:rPr>
              <a:t>赖不掉</a:t>
            </a:r>
            <a:r>
              <a:rPr lang="en-US" sz="1200" noProof="1">
                <a:solidFill>
                  <a:srgbClr val="F3EDE0">
                    <a:alpha val="70196"/>
                  </a:srgbClr>
                </a:solidFill>
                <a:latin typeface="MiSans" charset="-122"/>
                <a:ea typeface="MiSans" charset="-122"/>
              </a:rPr>
              <a:t>　改一笔留一痕，节能量按国际协议核证</a:t>
            </a:r>
            <a:endParaRPr lang="en-US" sz="1600" noProof="1"/>
          </a:p>
        </p:txBody>
      </p:sp>
      <p:sp>
        <p:nvSpPr>
          <p:cNvPr id="13" name="footer"/>
          <p:cNvSpPr txBox="1"/>
          <p:nvPr/>
        </p:nvSpPr>
        <p:spPr>
          <a:xfrm>
            <a:off x="914400" y="6426200"/>
            <a:ext cx="6350000" cy="203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000" kern="0" spc="200" noProof="1">
                <a:solidFill>
                  <a:srgbClr val="F3EDE0">
                    <a:alpha val="70196"/>
                  </a:srgbClr>
                </a:solidFill>
                <a:latin typeface="MiSans" charset="-122"/>
                <a:ea typeface="MiSans" charset="-122"/>
              </a:rPr>
              <a:t>ENERGYMATRIX · 建筑能源管理数字孪生</a:t>
            </a:r>
            <a:endParaRPr lang="en-US" sz="1000" noProof="1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PTD">
  <a:themeElements>
    <a:clrScheme name="PPTD">
      <a:dk1>
        <a:srgbClr val="000000"/>
      </a:dk1>
      <a:lt1>
        <a:srgbClr val="FFFFFF"/>
      </a:lt1>
      <a:dk2>
        <a:srgbClr val="1F2937"/>
      </a:dk2>
      <a:lt2>
        <a:srgbClr val="F3F4F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PPTD">
      <a:majorFont>
        <a:latin typeface="MiSans"/>
        <a:ea typeface="MiSans"/>
        <a:cs typeface="MiSans"/>
      </a:majorFont>
      <a:minorFont>
        <a:latin typeface="MiSans"/>
        <a:ea typeface="MiSans"/>
        <a:cs typeface="MiSans"/>
      </a:minorFont>
    </a:fontScheme>
    <a:fmtScheme name="PPTD">
      <a:fillStyleLst>
        <a:solidFill>
          <a:schemeClr val="accent1"/>
        </a:solidFill>
        <a:solidFill>
          <a:schemeClr val="accent2"/>
        </a:solidFill>
        <a:solidFill>
          <a:schemeClr val="accent3"/>
        </a:solidFill>
      </a:fillStyleLst>
      <a:lnStyleLst>
        <a:ln w="6350" cap="flat" cmpd="sng" algn="ctr">
          <a:solidFill>
            <a:schemeClr val="accent1"/>
          </a:solidFill>
          <a:prstDash val="solid"/>
        </a:ln>
        <a:ln w="12700" cap="flat" cmpd="sng" algn="ctr">
          <a:solidFill>
            <a:schemeClr val="accent1"/>
          </a:solidFill>
          <a:prstDash val="solid"/>
        </a:ln>
        <a:ln w="19050" cap="flat" cmpd="sng" algn="ctr">
          <a:solidFill>
            <a:schemeClr val="accent1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lt1"/>
        </a:solidFill>
        <a:solidFill>
          <a:schemeClr val="lt2"/>
        </a:solidFill>
        <a:solidFill>
          <a:schemeClr val="dk1"/>
        </a:soli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1954</Words>
  <Application>WPS 演示</Application>
  <PresentationFormat/>
  <Paragraphs>176</Paragraphs>
  <Slides>9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9</vt:i4>
      </vt:variant>
    </vt:vector>
  </HeadingPairs>
  <TitlesOfParts>
    <vt:vector size="19" baseType="lpstr">
      <vt:lpstr>Arial</vt:lpstr>
      <vt:lpstr>宋体</vt:lpstr>
      <vt:lpstr>Wingdings</vt:lpstr>
      <vt:lpstr>Oranienbaum</vt:lpstr>
      <vt:lpstr>MiSans</vt:lpstr>
      <vt:lpstr>思源宋体</vt:lpstr>
      <vt:lpstr>微软雅黑</vt:lpstr>
      <vt:lpstr>Arial Unicode MS</vt:lpstr>
      <vt:lpstr>Calibri</vt:lpstr>
      <vt:lpstr>PPTD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energyMatrix · 一本不会撒谎的能耗账</dc:title>
  <dc:creator/>
  <cp:lastModifiedBy>喆</cp:lastModifiedBy>
  <cp:revision>1</cp:revision>
  <dcterms:created xsi:type="dcterms:W3CDTF">2026-09-14T06:52:51Z</dcterms:created>
  <dcterms:modified xsi:type="dcterms:W3CDTF">2026-09-14T06:52:51Z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/>
  </property>
  <property fmtid="{D5CDD505-2E9C-101B-9397-08002B2CF9AE}" pid="3" name="ICV">
    <vt:lpwstr>925CD124359948909F2AEB42B3B3C3DA_13</vt:lpwstr>
  </property>
  <property fmtid="{D5CDD505-2E9C-101B-9397-08002B2CF9AE}" pid="4" name="KSOProductBuildVer">
    <vt:lpwstr>2052-12.1.0.28505</vt:lpwstr>
  </property>
</Properties>
</file>