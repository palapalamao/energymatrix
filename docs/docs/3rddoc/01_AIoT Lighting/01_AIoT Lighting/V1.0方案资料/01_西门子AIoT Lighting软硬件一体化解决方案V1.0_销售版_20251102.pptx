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147480509" r:id="rId2"/>
    <p:sldId id="2147480482" r:id="rId3"/>
    <p:sldId id="2147480462" r:id="rId4"/>
    <p:sldId id="2147480514" r:id="rId5"/>
    <p:sldId id="2147480513" r:id="rId6"/>
    <p:sldId id="2147480510" r:id="rId7"/>
    <p:sldId id="2147480485" r:id="rId8"/>
    <p:sldId id="2147480474" r:id="rId9"/>
    <p:sldId id="2147474535" r:id="rId10"/>
  </p:sldIdLst>
  <p:sldSz cx="12192000" cy="6858000"/>
  <p:notesSz cx="6858000" cy="9144000"/>
  <p:custDataLst>
    <p:tags r:id="rId13"/>
  </p:custDataLst>
  <p:defaultTextStyle>
    <a:defPPr>
      <a:defRPr lang="en-US"/>
    </a:defPPr>
    <a:lvl1pPr>
      <a:spcBef>
        <a:spcPts val="0"/>
      </a:spcBef>
      <a:buClr>
        <a:schemeClr val="accent1"/>
      </a:buClr>
      <a:defRPr sz="1800"/>
    </a:lvl1pPr>
    <a:lvl2pPr marL="18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2pPr>
    <a:lvl3pPr marL="36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3pPr>
    <a:lvl4pPr marL="54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4pPr>
    <a:lvl5pPr marL="72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5pPr>
    <a:lvl6pPr marL="90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6pPr>
    <a:lvl7pPr marL="108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7pPr>
    <a:lvl8pPr marL="126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8pPr>
    <a:lvl9pPr marL="144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0"/>
    <a:srgbClr val="000028"/>
    <a:srgbClr val="00BEDC"/>
    <a:srgbClr val="01F6D5"/>
    <a:srgbClr val="E6E75E"/>
    <a:srgbClr val="00ED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AF606853-7671-496A-8E4F-DF71F8EC918B}" styleName="Dunkle Formatvorlage 1 - Akz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38B1855-1B75-4FBE-930C-398BA8C253C6}" styleName="Designformatvorlage 2 - Akz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929F9F4-4A8F-4326-A1B4-22849713DDAB}" styleName="Dunkle Formatvorlage 1 - Akz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unkle Formatvorlage 1 - Akz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7" autoAdjust="0"/>
    <p:restoredTop sz="93462" autoAdjust="0"/>
  </p:normalViewPr>
  <p:slideViewPr>
    <p:cSldViewPr snapToGrid="0" showGuides="1">
      <p:cViewPr varScale="1">
        <p:scale>
          <a:sx n="100" d="100"/>
          <a:sy n="100" d="100"/>
        </p:scale>
        <p:origin x="468" y="78"/>
      </p:cViewPr>
      <p:guideLst/>
    </p:cSldViewPr>
  </p:slideViewPr>
  <p:outlineViewPr>
    <p:cViewPr>
      <p:scale>
        <a:sx n="33" d="100"/>
        <a:sy n="33" d="100"/>
      </p:scale>
      <p:origin x="0" y="-255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94" d="100"/>
          <a:sy n="94" d="100"/>
        </p:scale>
        <p:origin x="333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>
                <a:solidFill>
                  <a:schemeClr val="tx2"/>
                </a:solidFill>
                <a:latin typeface="+mn-lt"/>
              </a:rPr>
              <a:t>11/14/2025</a:t>
            </a:fld>
            <a:endParaRPr lang="en-US" sz="105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>
                <a:solidFill>
                  <a:schemeClr val="accent2"/>
                </a:solidFill>
                <a:latin typeface="+mn-lt"/>
              </a:rPr>
              <a:t>Hand out</a:t>
            </a:r>
            <a:r>
              <a:rPr lang="en-US" sz="1050" dirty="0">
                <a:solidFill>
                  <a:schemeClr val="accent2"/>
                </a:solidFill>
                <a:latin typeface="+mn-lt"/>
              </a:rPr>
              <a:t> </a:t>
            </a:r>
            <a:fld id="{C92BABF8-1341-4DCB-864A-D83C08BEEAE4}" type="slidenum">
              <a:rPr lang="en-US" sz="1050" smtClean="0">
                <a:solidFill>
                  <a:schemeClr val="tx2"/>
                </a:solidFill>
                <a:latin typeface="+mn-lt"/>
              </a:rPr>
              <a:t>‹#›</a:t>
            </a:fld>
            <a:endParaRPr lang="en-US" sz="1050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76FBC1AF-E4C9-412F-9B6D-66CD520F95D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Notes</a:t>
            </a:r>
            <a:r>
              <a:rPr lang="en-US" dirty="0"/>
              <a:t> </a:t>
            </a:r>
            <a:fld id="{E76C657F-0E32-4130-ADDA-66B81138A76A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723900"/>
            <a:ext cx="6191250" cy="34829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1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10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Notes </a:t>
            </a:r>
            <a:fld id="{AD141568-5488-4AC9-B82D-9F5CE1225E2A}" type="slidenum"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pPr marL="0" marR="0" lvl="0" indent="0" algn="r" defTabSz="9610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668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>
                <a:solidFill>
                  <a:schemeClr val="tx2"/>
                </a:solidFill>
              </a:rPr>
              <a:pPr/>
              <a:t>6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969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2962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tags" Target="../tags/tag5.xml"/><Relationship Id="rId7" Type="http://schemas.openxmlformats.org/officeDocument/2006/relationships/image" Target="../media/image2.emf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1.xml"/><Relationship Id="rId10" Type="http://schemas.openxmlformats.org/officeDocument/2006/relationships/image" Target="../media/image5.svg"/><Relationship Id="rId4" Type="http://schemas.openxmlformats.org/officeDocument/2006/relationships/tags" Target="../tags/tag6.xml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7644148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>
            <a:extLst>
              <a:ext uri="{FF2B5EF4-FFF2-40B4-BE49-F238E27FC236}">
                <a16:creationId xmlns:a16="http://schemas.microsoft.com/office/drawing/2014/main" id="{9FA8B3B2-BA89-4F74-A8E3-0D9A99674061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1" y="1"/>
            <a:ext cx="158668" cy="158751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4397" b="1" i="0" baseline="0" dirty="0" err="1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1" name="Picture 6">
            <a:extLst>
              <a:ext uri="{FF2B5EF4-FFF2-40B4-BE49-F238E27FC236}">
                <a16:creationId xmlns:a16="http://schemas.microsoft.com/office/drawing/2014/main" id="{799DE557-80AA-414E-9887-106926154D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t="20" b="20"/>
          <a:stretch/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/>
            <p:custDataLst>
              <p:tags r:id="rId3"/>
            </p:custDataLst>
          </p:nvPr>
        </p:nvSpPr>
        <p:spPr bwMode="ltGray">
          <a:xfrm>
            <a:off x="626736" y="4140189"/>
            <a:ext cx="6476627" cy="1662307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vert="horz" wrap="square" lIns="216000" tIns="90000" rIns="216000" bIns="216000" anchor="b" anchorCtr="0">
            <a:spAutoFit/>
          </a:bodyPr>
          <a:lstStyle>
            <a:lvl1pPr>
              <a:defRPr sz="4397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096000" y="1"/>
            <a:ext cx="1587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5981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sp>
        <p:nvSpPr>
          <p:cNvPr id="9" name="Textplatzhalter 57343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26736" y="5907600"/>
            <a:ext cx="6476627" cy="324000"/>
          </a:xfrm>
          <a:solidFill>
            <a:schemeClr val="bg1">
              <a:alpha val="85000"/>
            </a:schemeClr>
          </a:solidFill>
        </p:spPr>
        <p:txBody>
          <a:bodyPr lIns="216000" tIns="90000" rIns="216000" bIns="46800"/>
          <a:lstStyle>
            <a:lvl1pPr algn="r">
              <a:lnSpc>
                <a:spcPct val="100000"/>
              </a:lnSpc>
              <a:defRPr sz="1000" b="1"/>
            </a:lvl1pPr>
            <a:lvl2pPr marL="1587" indent="0">
              <a:buNone/>
              <a:defRPr/>
            </a:lvl2pPr>
          </a:lstStyle>
          <a:p>
            <a:pPr lvl="0"/>
            <a:r>
              <a:rPr lang="en-US" noProof="0" dirty="0"/>
              <a:t>Please insert URL</a:t>
            </a:r>
          </a:p>
        </p:txBody>
      </p:sp>
      <p:sp>
        <p:nvSpPr>
          <p:cNvPr id="10" name="Textplatzhalter 57343"/>
          <p:cNvSpPr>
            <a:spLocks noGrp="1"/>
          </p:cNvSpPr>
          <p:nvPr>
            <p:ph type="body" sz="quarter" idx="13" hasCustomPrompt="1"/>
          </p:nvPr>
        </p:nvSpPr>
        <p:spPr>
          <a:xfrm>
            <a:off x="626737" y="5907600"/>
            <a:ext cx="3309801" cy="324000"/>
          </a:xfrm>
        </p:spPr>
        <p:txBody>
          <a:bodyPr lIns="216000" tIns="90000" rIns="0" bIns="46800"/>
          <a:lstStyle>
            <a:lvl1pPr algn="l">
              <a:lnSpc>
                <a:spcPct val="100000"/>
              </a:lnSpc>
              <a:defRPr sz="1000" b="1"/>
            </a:lvl1pPr>
            <a:lvl2pPr marL="1587" indent="0">
              <a:buNone/>
              <a:defRPr/>
            </a:lvl2pPr>
          </a:lstStyle>
          <a:p>
            <a:pPr lvl="0"/>
            <a:r>
              <a:rPr lang="en-US" noProof="0"/>
              <a:t>Please insert Unrestrictedity note</a:t>
            </a:r>
            <a:endParaRPr lang="en-US" noProof="0" dirty="0"/>
          </a:p>
        </p:txBody>
      </p:sp>
      <p:grpSp>
        <p:nvGrpSpPr>
          <p:cNvPr id="83" name="Gruppieren 82"/>
          <p:cNvGrpSpPr/>
          <p:nvPr userDrawn="1"/>
        </p:nvGrpSpPr>
        <p:grpSpPr>
          <a:xfrm>
            <a:off x="-215886" y="-216000"/>
            <a:ext cx="12622225" cy="7290000"/>
            <a:chOff x="-216000" y="-216000"/>
            <a:chExt cx="12628800" cy="7290000"/>
          </a:xfrm>
        </p:grpSpPr>
        <p:cxnSp>
          <p:nvCxnSpPr>
            <p:cNvPr id="84" name="Gerade Verbindung 83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Gerade Verbindung 103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5" name="Gerade Verbindung 104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8" name="Siemens Logo">
            <a:extLst>
              <a:ext uri="{FF2B5EF4-FFF2-40B4-BE49-F238E27FC236}">
                <a16:creationId xmlns:a16="http://schemas.microsoft.com/office/drawing/2014/main" id="{B4060920-ED24-57DD-528C-AF433BCE591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57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SI B CN | AIoT Lighting V1.0 | 2025-10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82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4B3D9A9-DEAC-C3D1-C247-EA8F1CC1BE9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990916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24" imgH="623" progId="TCLayout.ActiveDocument.1">
                  <p:embed/>
                </p:oleObj>
              </mc:Choice>
              <mc:Fallback>
                <p:oleObj name="think-cell Slide" r:id="rId5" imgW="624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2025 | SI B CN | AIoT Lighting V1.0 | 2025-10</a:t>
            </a:r>
            <a:endParaRPr lang="en-US" dirty="0"/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  <p:sldLayoutId id="2147484145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2.emf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8.png"/><Relationship Id="rId18" Type="http://schemas.openxmlformats.org/officeDocument/2006/relationships/image" Target="../media/image13.sv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.emf"/><Relationship Id="rId17" Type="http://schemas.openxmlformats.org/officeDocument/2006/relationships/image" Target="../media/image12.png"/><Relationship Id="rId2" Type="http://schemas.openxmlformats.org/officeDocument/2006/relationships/tags" Target="../tags/tag11.xml"/><Relationship Id="rId16" Type="http://schemas.openxmlformats.org/officeDocument/2006/relationships/image" Target="../media/image11.svg"/><Relationship Id="rId20" Type="http://schemas.openxmlformats.org/officeDocument/2006/relationships/image" Target="../media/image15.sv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oleObject" Target="../embeddings/oleObject4.bin"/><Relationship Id="rId5" Type="http://schemas.openxmlformats.org/officeDocument/2006/relationships/tags" Target="../tags/tag14.xml"/><Relationship Id="rId15" Type="http://schemas.openxmlformats.org/officeDocument/2006/relationships/image" Target="../media/image10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14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oleObject" Target="../embeddings/oleObject5.bin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.emf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1.png"/><Relationship Id="rId3" Type="http://schemas.openxmlformats.org/officeDocument/2006/relationships/tags" Target="../tags/tag22.xml"/><Relationship Id="rId21" Type="http://schemas.openxmlformats.org/officeDocument/2006/relationships/image" Target="../media/image34.png"/><Relationship Id="rId7" Type="http://schemas.openxmlformats.org/officeDocument/2006/relationships/image" Target="../media/image1.emf"/><Relationship Id="rId12" Type="http://schemas.openxmlformats.org/officeDocument/2006/relationships/image" Target="../media/image26.png"/><Relationship Id="rId17" Type="http://schemas.openxmlformats.org/officeDocument/2006/relationships/image" Target="../media/image18.png"/><Relationship Id="rId2" Type="http://schemas.openxmlformats.org/officeDocument/2006/relationships/tags" Target="../tags/tag21.xml"/><Relationship Id="rId16" Type="http://schemas.openxmlformats.org/officeDocument/2006/relationships/image" Target="../media/image30.png"/><Relationship Id="rId20" Type="http://schemas.openxmlformats.org/officeDocument/2006/relationships/image" Target="../media/image33.png"/><Relationship Id="rId1" Type="http://schemas.openxmlformats.org/officeDocument/2006/relationships/tags" Target="../tags/tag20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5.svg"/><Relationship Id="rId24" Type="http://schemas.openxmlformats.org/officeDocument/2006/relationships/image" Target="../media/image37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29.png"/><Relationship Id="rId23" Type="http://schemas.openxmlformats.org/officeDocument/2006/relationships/image" Target="../media/image36.png"/><Relationship Id="rId10" Type="http://schemas.openxmlformats.org/officeDocument/2006/relationships/image" Target="../media/image24.png"/><Relationship Id="rId19" Type="http://schemas.openxmlformats.org/officeDocument/2006/relationships/image" Target="../media/image32.png"/><Relationship Id="rId4" Type="http://schemas.openxmlformats.org/officeDocument/2006/relationships/tags" Target="../tags/tag23.xml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25.svg"/><Relationship Id="rId3" Type="http://schemas.openxmlformats.org/officeDocument/2006/relationships/oleObject" Target="../embeddings/oleObject7.bin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8.png"/><Relationship Id="rId20" Type="http://schemas.openxmlformats.org/officeDocument/2006/relationships/image" Target="../media/image49.png"/><Relationship Id="rId1" Type="http://schemas.openxmlformats.org/officeDocument/2006/relationships/tags" Target="../tags/tag24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7.png"/><Relationship Id="rId10" Type="http://schemas.openxmlformats.org/officeDocument/2006/relationships/image" Target="../media/image43.svg"/><Relationship Id="rId19" Type="http://schemas.openxmlformats.org/officeDocument/2006/relationships/image" Target="../media/image18.png"/><Relationship Id="rId4" Type="http://schemas.openxmlformats.org/officeDocument/2006/relationships/image" Target="../media/image1.emf"/><Relationship Id="rId9" Type="http://schemas.openxmlformats.org/officeDocument/2006/relationships/image" Target="../media/image42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50.png"/><Relationship Id="rId5" Type="http://schemas.openxmlformats.org/officeDocument/2006/relationships/image" Target="../media/image1.emf"/><Relationship Id="rId10" Type="http://schemas.openxmlformats.org/officeDocument/2006/relationships/image" Target="../media/image54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5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59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58.png"/><Relationship Id="rId9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9763043"/>
              </p:ext>
            </p:extLst>
          </p:nvPr>
        </p:nvGraphicFramePr>
        <p:xfrm>
          <a:off x="1588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/>
          <p:cNvSpPr/>
          <p:nvPr>
            <p:custDataLst>
              <p:tags r:id="rId3"/>
            </p:custDataLst>
          </p:nvPr>
        </p:nvSpPr>
        <p:spPr bwMode="gray">
          <a:xfrm>
            <a:off x="1" y="1786"/>
            <a:ext cx="158668" cy="158668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 dirty="0" err="1">
              <a:ln>
                <a:noFill/>
              </a:ln>
              <a:solidFill>
                <a:srgbClr val="ADBECB"/>
              </a:solidFill>
              <a:effectLst/>
              <a:uLnTx/>
              <a:uFillTx/>
              <a:latin typeface="Arial" pitchFamily="34" charset="0"/>
              <a:ea typeface="ＭＳ Ｐゴシック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itel 6"/>
          <p:cNvSpPr>
            <a:spLocks noGrp="1"/>
          </p:cNvSpPr>
          <p:nvPr>
            <p:ph type="ctrTitle"/>
          </p:nvPr>
        </p:nvSpPr>
        <p:spPr bwMode="gray">
          <a:xfrm>
            <a:off x="626736" y="3582723"/>
            <a:ext cx="11565264" cy="2303380"/>
          </a:xfrm>
        </p:spPr>
        <p:txBody>
          <a:bodyPr vert="horz"/>
          <a:lstStyle/>
          <a:p>
            <a:r>
              <a:rPr lang="zh-CN" altLang="en-US" sz="3200" dirty="0"/>
              <a:t>西门子</a:t>
            </a:r>
            <a:r>
              <a:rPr lang="en-US" sz="3200" dirty="0" err="1"/>
              <a:t>AIoT</a:t>
            </a:r>
            <a:r>
              <a:rPr lang="zh-CN" altLang="en-US" sz="3200" dirty="0"/>
              <a:t>智域光（</a:t>
            </a:r>
            <a:r>
              <a:rPr lang="en-US" altLang="zh-CN" sz="3200" dirty="0" err="1"/>
              <a:t>AIoT</a:t>
            </a:r>
            <a:r>
              <a:rPr lang="en-US" altLang="zh-CN" sz="3200" dirty="0"/>
              <a:t> Lighting</a:t>
            </a:r>
            <a:r>
              <a:rPr lang="zh-CN" altLang="en-US" sz="3200" dirty="0"/>
              <a:t>）</a:t>
            </a:r>
            <a:br>
              <a:rPr lang="en-US" altLang="zh-CN" sz="3200" dirty="0"/>
            </a:br>
            <a:r>
              <a:rPr lang="zh-CN" altLang="en-US" sz="3200" dirty="0"/>
              <a:t>软硬件一体化解决方案</a:t>
            </a:r>
            <a:r>
              <a:rPr lang="en-US" altLang="zh-CN" sz="3200" dirty="0"/>
              <a:t>V1.0</a:t>
            </a:r>
            <a:br>
              <a:rPr lang="en-US" altLang="zh-CN" sz="3200" dirty="0"/>
            </a:br>
            <a:br>
              <a:rPr lang="en-US" altLang="zh-CN" sz="2000" dirty="0"/>
            </a:br>
            <a:r>
              <a:rPr lang="zh-CN" altLang="en-US" sz="2000" dirty="0"/>
              <a:t>西门子智能基础设施集团</a:t>
            </a:r>
            <a:br>
              <a:rPr lang="en-US" altLang="zh-CN" sz="2000" dirty="0"/>
            </a:br>
            <a:r>
              <a:rPr lang="zh-CN" altLang="en-US" sz="2000" dirty="0"/>
              <a:t>智能建筑事业部</a:t>
            </a:r>
            <a:br>
              <a:rPr lang="en-US" altLang="zh-CN" sz="2000" dirty="0"/>
            </a:br>
            <a:r>
              <a:rPr lang="en-US" altLang="zh-CN" sz="2000" dirty="0"/>
              <a:t>2025-10</a:t>
            </a:r>
            <a:endParaRPr lang="en-US" sz="2000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2"/>
          </p:nvPr>
        </p:nvSpPr>
        <p:spPr bwMode="gray">
          <a:xfrm>
            <a:off x="626736" y="5991152"/>
            <a:ext cx="11565264" cy="324000"/>
          </a:xfrm>
        </p:spPr>
        <p:txBody>
          <a:bodyPr/>
          <a:lstStyle/>
          <a:p>
            <a:r>
              <a:rPr lang="en-US" dirty="0"/>
              <a:t>siemens.com/smart-office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en-US" altLang="zh-CN" noProof="0" dirty="0"/>
              <a:t>R</a:t>
            </a:r>
            <a:r>
              <a:rPr lang="en-US" noProof="0" dirty="0"/>
              <a:t>estricted © Siemens 2025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0721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9FBEA18-124C-776D-CF7F-A377356323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8088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624" imgH="623" progId="TCLayout.ActiveDocument.1">
                  <p:embed/>
                </p:oleObj>
              </mc:Choice>
              <mc:Fallback>
                <p:oleObj name="think-cell Slide" r:id="rId11" imgW="624" imgH="62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FBEA18-124C-776D-CF7F-A377356323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35B4C-EB43-0E93-3239-248B218A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11438700" cy="576000"/>
          </a:xfrm>
        </p:spPr>
        <p:txBody>
          <a:bodyPr vert="horz"/>
          <a:lstStyle/>
          <a:p>
            <a:r>
              <a:rPr lang="zh-CN" altLang="en-US" dirty="0"/>
              <a:t>西门子</a:t>
            </a:r>
            <a:r>
              <a:rPr lang="en-US" altLang="zh-CN" dirty="0"/>
              <a:t>AIoT Lighting</a:t>
            </a:r>
            <a:r>
              <a:rPr lang="zh-CN" altLang="en-US" dirty="0"/>
              <a:t>解决方案 </a:t>
            </a:r>
            <a:r>
              <a:rPr lang="en-US" altLang="zh-CN" dirty="0"/>
              <a:t>- </a:t>
            </a:r>
            <a:r>
              <a:rPr lang="zh-CN" altLang="en-US" dirty="0"/>
              <a:t>软硬件一体化解决方案</a:t>
            </a:r>
            <a:br>
              <a:rPr lang="en-US" altLang="zh-CN" dirty="0"/>
            </a:br>
            <a:r>
              <a:rPr lang="zh-CN" altLang="en-US" dirty="0">
                <a:solidFill>
                  <a:srgbClr val="FF9000"/>
                </a:solidFill>
              </a:rPr>
              <a:t>差异化解决方案 </a:t>
            </a:r>
            <a:r>
              <a:rPr lang="en-US" altLang="zh-CN" dirty="0">
                <a:solidFill>
                  <a:srgbClr val="FF9000"/>
                </a:solidFill>
              </a:rPr>
              <a:t>- </a:t>
            </a:r>
            <a:r>
              <a:rPr lang="zh-CN" altLang="en-US" dirty="0">
                <a:solidFill>
                  <a:srgbClr val="FF9000"/>
                </a:solidFill>
              </a:rPr>
              <a:t>无线照明</a:t>
            </a:r>
            <a:r>
              <a:rPr lang="en-US" altLang="zh-CN" dirty="0">
                <a:solidFill>
                  <a:srgbClr val="FF9000"/>
                </a:solidFill>
              </a:rPr>
              <a:t>+</a:t>
            </a:r>
            <a:r>
              <a:rPr lang="en-US" dirty="0">
                <a:solidFill>
                  <a:srgbClr val="FF9000"/>
                </a:solidFill>
              </a:rPr>
              <a:t>IoT</a:t>
            </a:r>
            <a:r>
              <a:rPr lang="zh-CN" altLang="en-US" dirty="0">
                <a:solidFill>
                  <a:srgbClr val="FF9000"/>
                </a:solidFill>
              </a:rPr>
              <a:t>物联</a:t>
            </a:r>
            <a:r>
              <a:rPr lang="en-US" altLang="zh-CN" dirty="0">
                <a:solidFill>
                  <a:srgbClr val="FF9000"/>
                </a:solidFill>
              </a:rPr>
              <a:t>+</a:t>
            </a:r>
            <a:r>
              <a:rPr lang="zh-CN" altLang="en-US" dirty="0">
                <a:solidFill>
                  <a:srgbClr val="FF9000"/>
                </a:solidFill>
              </a:rPr>
              <a:t>场景控制</a:t>
            </a:r>
            <a:r>
              <a:rPr lang="en-US" altLang="zh-CN" dirty="0">
                <a:solidFill>
                  <a:srgbClr val="FF9000"/>
                </a:solidFill>
              </a:rPr>
              <a:t>+</a:t>
            </a:r>
            <a:r>
              <a:rPr lang="zh-CN" altLang="en-US" dirty="0">
                <a:solidFill>
                  <a:srgbClr val="FF9000"/>
                </a:solidFill>
              </a:rPr>
              <a:t>边缘引擎</a:t>
            </a:r>
            <a:endParaRPr lang="en-US" dirty="0">
              <a:solidFill>
                <a:srgbClr val="FF9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77064-64C5-2E34-228C-44136CF196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2025 | SI B CN | AIoT Lighting V1.0 | 2025-10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" name="Slide Number Placeholder 123">
            <a:extLst>
              <a:ext uri="{FF2B5EF4-FFF2-40B4-BE49-F238E27FC236}">
                <a16:creationId xmlns:a16="http://schemas.microsoft.com/office/drawing/2014/main" id="{18326980-2A41-7E8E-CBE0-976D4B70D4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文本框 12">
            <a:extLst>
              <a:ext uri="{FF2B5EF4-FFF2-40B4-BE49-F238E27FC236}">
                <a16:creationId xmlns:a16="http://schemas.microsoft.com/office/drawing/2014/main" id="{229821A1-5A5B-D9FC-78A8-3ECFFFE9CF2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099357" y="1549374"/>
            <a:ext cx="2640524" cy="25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1517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1200" dirty="0">
                <a:solidFill>
                  <a:srgbClr val="FF9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无线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照明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2" name="文本框 13">
            <a:extLst>
              <a:ext uri="{FF2B5EF4-FFF2-40B4-BE49-F238E27FC236}">
                <a16:creationId xmlns:a16="http://schemas.microsoft.com/office/drawing/2014/main" id="{0D3E9B62-BFDD-FB2F-39F9-CB22F0CD76D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099358" y="1866837"/>
            <a:ext cx="1823184" cy="1327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通过安装智能灯具和无线传感器，根据空间使用情况自动控制照明，节能降耗</a:t>
            </a:r>
          </a:p>
        </p:txBody>
      </p:sp>
      <p:sp>
        <p:nvSpPr>
          <p:cNvPr id="75" name="文本框 16">
            <a:extLst>
              <a:ext uri="{FF2B5EF4-FFF2-40B4-BE49-F238E27FC236}">
                <a16:creationId xmlns:a16="http://schemas.microsoft.com/office/drawing/2014/main" id="{1B0ED790-5CDD-8E12-FACD-ABEE98871DE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099357" y="4130485"/>
            <a:ext cx="2640524" cy="25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1517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场景控制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6" name="文本框 17">
            <a:extLst>
              <a:ext uri="{FF2B5EF4-FFF2-40B4-BE49-F238E27FC236}">
                <a16:creationId xmlns:a16="http://schemas.microsoft.com/office/drawing/2014/main" id="{C59488FC-E1F0-F387-1A50-70DFFA06230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99357" y="4448345"/>
            <a:ext cx="2272618" cy="1862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根据不同使用场合，结合光照、调光等方式调节照明模式，实现场景控制；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IoT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，支持设备和场景控制的自由配置，适应多种场合；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7" name="文本框 18">
            <a:extLst>
              <a:ext uri="{FF2B5EF4-FFF2-40B4-BE49-F238E27FC236}">
                <a16:creationId xmlns:a16="http://schemas.microsoft.com/office/drawing/2014/main" id="{89F3A567-11C7-A17E-9626-06EEE665ACF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299627" y="1587474"/>
            <a:ext cx="2640524" cy="25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1517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IoT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物联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8" name="文本框 19">
            <a:extLst>
              <a:ext uri="{FF2B5EF4-FFF2-40B4-BE49-F238E27FC236}">
                <a16:creationId xmlns:a16="http://schemas.microsoft.com/office/drawing/2014/main" id="{5AD7FF3D-39F1-7C91-AF5A-AB25D95C59F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299627" y="1904937"/>
            <a:ext cx="2082748" cy="1327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部署温度、湿度、空间占用等各类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IoT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传感器，配合</a:t>
            </a:r>
            <a:r>
              <a:rPr lang="zh-CN" altLang="en-US" sz="1400" kern="1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照明、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空调等建筑</a:t>
            </a:r>
            <a:r>
              <a:rPr lang="zh-CN" altLang="en-US" sz="1400" kern="1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管控，实现环境监测与调节，确保空间内环境舒适</a:t>
            </a:r>
          </a:p>
        </p:txBody>
      </p:sp>
      <p:sp>
        <p:nvSpPr>
          <p:cNvPr id="79" name="文本框 24">
            <a:extLst>
              <a:ext uri="{FF2B5EF4-FFF2-40B4-BE49-F238E27FC236}">
                <a16:creationId xmlns:a16="http://schemas.microsoft.com/office/drawing/2014/main" id="{E92CE2EF-F912-2AA3-66D8-9D5373B0C60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9299627" y="4101910"/>
            <a:ext cx="2640524" cy="25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1517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边缘引擎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0" name="文本框 25">
            <a:extLst>
              <a:ext uri="{FF2B5EF4-FFF2-40B4-BE49-F238E27FC236}">
                <a16:creationId xmlns:a16="http://schemas.microsoft.com/office/drawing/2014/main" id="{6FAD946C-CFB0-6356-A59D-BD59DB40250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299627" y="4419769"/>
            <a:ext cx="2082748" cy="14378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实现空间内多种协议对接和设备管控，包括暖通、照明、</a:t>
            </a:r>
            <a:r>
              <a:rPr lang="zh-CN" altLang="en-US" sz="1400" kern="1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表计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以及其他用电设备的数据采集和监控</a:t>
            </a:r>
          </a:p>
        </p:txBody>
      </p:sp>
      <p:sp>
        <p:nvSpPr>
          <p:cNvPr id="81" name="Freihandform: Form 97">
            <a:extLst>
              <a:ext uri="{FF2B5EF4-FFF2-40B4-BE49-F238E27FC236}">
                <a16:creationId xmlns:a16="http://schemas.microsoft.com/office/drawing/2014/main" id="{ABE26CF0-D49B-1A3D-896A-F44073ADB687}"/>
              </a:ext>
            </a:extLst>
          </p:cNvPr>
          <p:cNvSpPr/>
          <p:nvPr/>
        </p:nvSpPr>
        <p:spPr bwMode="gray">
          <a:xfrm>
            <a:off x="5111758" y="2042880"/>
            <a:ext cx="1968483" cy="1386120"/>
          </a:xfrm>
          <a:custGeom>
            <a:avLst/>
            <a:gdLst>
              <a:gd name="connsiteX0" fmla="*/ 902165 w 1968483"/>
              <a:gd name="connsiteY0" fmla="*/ 0 h 1386120"/>
              <a:gd name="connsiteX1" fmla="*/ 1914481 w 1968483"/>
              <a:gd name="connsiteY1" fmla="*/ 451963 h 1386120"/>
              <a:gd name="connsiteX2" fmla="*/ 1968483 w 1968483"/>
              <a:gd name="connsiteY2" fmla="*/ 787511 h 1386120"/>
              <a:gd name="connsiteX3" fmla="*/ 1862009 w 1968483"/>
              <a:gd name="connsiteY3" fmla="*/ 1252513 h 1386120"/>
              <a:gd name="connsiteX4" fmla="*/ 1784622 w 1968483"/>
              <a:gd name="connsiteY4" fmla="*/ 1386120 h 1386120"/>
              <a:gd name="connsiteX5" fmla="*/ 1785255 w 1968483"/>
              <a:gd name="connsiteY5" fmla="*/ 1373589 h 1386120"/>
              <a:gd name="connsiteX6" fmla="*/ 992270 w 1968483"/>
              <a:gd name="connsiteY6" fmla="*/ 494853 h 1386120"/>
              <a:gd name="connsiteX7" fmla="*/ 945275 w 1968483"/>
              <a:gd name="connsiteY7" fmla="*/ 492479 h 1386120"/>
              <a:gd name="connsiteX8" fmla="*/ 905184 w 1968483"/>
              <a:gd name="connsiteY8" fmla="*/ 460985 h 1386120"/>
              <a:gd name="connsiteX9" fmla="*/ 327429 w 1968483"/>
              <a:gd name="connsiteY9" fmla="*/ 291037 h 1386120"/>
              <a:gd name="connsiteX10" fmla="*/ 0 w 1968483"/>
              <a:gd name="connsiteY10" fmla="*/ 342298 h 1386120"/>
              <a:gd name="connsiteX11" fmla="*/ 902165 w 1968483"/>
              <a:gd name="connsiteY11" fmla="*/ 0 h 1386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8483" h="1386120">
                <a:moveTo>
                  <a:pt x="902165" y="0"/>
                </a:moveTo>
                <a:cubicBezTo>
                  <a:pt x="1304235" y="0"/>
                  <a:pt x="1665609" y="174524"/>
                  <a:pt x="1914481" y="451963"/>
                </a:cubicBezTo>
                <a:cubicBezTo>
                  <a:pt x="1949601" y="557421"/>
                  <a:pt x="1968483" y="670313"/>
                  <a:pt x="1968483" y="787511"/>
                </a:cubicBezTo>
                <a:cubicBezTo>
                  <a:pt x="1968483" y="954209"/>
                  <a:pt x="1930225" y="1111978"/>
                  <a:pt x="1862009" y="1252513"/>
                </a:cubicBezTo>
                <a:lnTo>
                  <a:pt x="1784622" y="1386120"/>
                </a:lnTo>
                <a:lnTo>
                  <a:pt x="1785255" y="1373589"/>
                </a:lnTo>
                <a:cubicBezTo>
                  <a:pt x="1785255" y="916248"/>
                  <a:pt x="1437678" y="540086"/>
                  <a:pt x="992270" y="494853"/>
                </a:cubicBezTo>
                <a:lnTo>
                  <a:pt x="945275" y="492479"/>
                </a:lnTo>
                <a:lnTo>
                  <a:pt x="905184" y="460985"/>
                </a:lnTo>
                <a:cubicBezTo>
                  <a:pt x="738702" y="353452"/>
                  <a:pt x="540350" y="291037"/>
                  <a:pt x="327429" y="291037"/>
                </a:cubicBezTo>
                <a:cubicBezTo>
                  <a:pt x="213166" y="291037"/>
                  <a:pt x="103208" y="309037"/>
                  <a:pt x="0" y="342298"/>
                </a:cubicBezTo>
                <a:cubicBezTo>
                  <a:pt x="240068" y="129328"/>
                  <a:pt x="555953" y="0"/>
                  <a:pt x="902165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2" name="Freihandform: Form 104">
            <a:extLst>
              <a:ext uri="{FF2B5EF4-FFF2-40B4-BE49-F238E27FC236}">
                <a16:creationId xmlns:a16="http://schemas.microsoft.com/office/drawing/2014/main" id="{57D3FFF7-418E-02D3-AFB0-752759F160C7}"/>
              </a:ext>
            </a:extLst>
          </p:cNvPr>
          <p:cNvSpPr/>
          <p:nvPr/>
        </p:nvSpPr>
        <p:spPr bwMode="gray">
          <a:xfrm>
            <a:off x="4638476" y="2367012"/>
            <a:ext cx="1357139" cy="1968483"/>
          </a:xfrm>
          <a:custGeom>
            <a:avLst/>
            <a:gdLst>
              <a:gd name="connsiteX0" fmla="*/ 787511 w 1357139"/>
              <a:gd name="connsiteY0" fmla="*/ 0 h 1968483"/>
              <a:gd name="connsiteX1" fmla="*/ 1252513 w 1357139"/>
              <a:gd name="connsiteY1" fmla="*/ 106474 h 1968483"/>
              <a:gd name="connsiteX2" fmla="*/ 1357139 w 1357139"/>
              <a:gd name="connsiteY2" fmla="*/ 167074 h 1968483"/>
              <a:gd name="connsiteX3" fmla="*/ 1284928 w 1357139"/>
              <a:gd name="connsiteY3" fmla="*/ 170721 h 1968483"/>
              <a:gd name="connsiteX4" fmla="*/ 496504 w 1357139"/>
              <a:gd name="connsiteY4" fmla="*/ 959145 h 1968483"/>
              <a:gd name="connsiteX5" fmla="*/ 493323 w 1357139"/>
              <a:gd name="connsiteY5" fmla="*/ 1022134 h 1968483"/>
              <a:gd name="connsiteX6" fmla="*/ 460985 w 1357139"/>
              <a:gd name="connsiteY6" fmla="*/ 1063299 h 1968483"/>
              <a:gd name="connsiteX7" fmla="*/ 291037 w 1357139"/>
              <a:gd name="connsiteY7" fmla="*/ 1641054 h 1968483"/>
              <a:gd name="connsiteX8" fmla="*/ 342298 w 1357139"/>
              <a:gd name="connsiteY8" fmla="*/ 1968483 h 1968483"/>
              <a:gd name="connsiteX9" fmla="*/ 0 w 1357139"/>
              <a:gd name="connsiteY9" fmla="*/ 1066318 h 1968483"/>
              <a:gd name="connsiteX10" fmla="*/ 451963 w 1357139"/>
              <a:gd name="connsiteY10" fmla="*/ 54001 h 1968483"/>
              <a:gd name="connsiteX11" fmla="*/ 787511 w 1357139"/>
              <a:gd name="connsiteY11" fmla="*/ 0 h 196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57139" h="1968483">
                <a:moveTo>
                  <a:pt x="787511" y="0"/>
                </a:moveTo>
                <a:cubicBezTo>
                  <a:pt x="954209" y="0"/>
                  <a:pt x="1111978" y="38258"/>
                  <a:pt x="1252513" y="106474"/>
                </a:cubicBezTo>
                <a:lnTo>
                  <a:pt x="1357139" y="167074"/>
                </a:lnTo>
                <a:lnTo>
                  <a:pt x="1284928" y="170721"/>
                </a:lnTo>
                <a:cubicBezTo>
                  <a:pt x="869215" y="212939"/>
                  <a:pt x="538722" y="543432"/>
                  <a:pt x="496504" y="959145"/>
                </a:cubicBezTo>
                <a:lnTo>
                  <a:pt x="493323" y="1022134"/>
                </a:lnTo>
                <a:lnTo>
                  <a:pt x="460985" y="1063299"/>
                </a:lnTo>
                <a:cubicBezTo>
                  <a:pt x="353452" y="1229781"/>
                  <a:pt x="291037" y="1428133"/>
                  <a:pt x="291037" y="1641054"/>
                </a:cubicBezTo>
                <a:cubicBezTo>
                  <a:pt x="291037" y="1755317"/>
                  <a:pt x="309037" y="1865275"/>
                  <a:pt x="342298" y="1968483"/>
                </a:cubicBezTo>
                <a:cubicBezTo>
                  <a:pt x="129328" y="1728414"/>
                  <a:pt x="0" y="1412530"/>
                  <a:pt x="0" y="1066318"/>
                </a:cubicBezTo>
                <a:cubicBezTo>
                  <a:pt x="0" y="664248"/>
                  <a:pt x="174524" y="302874"/>
                  <a:pt x="451963" y="54001"/>
                </a:cubicBezTo>
                <a:cubicBezTo>
                  <a:pt x="557421" y="18881"/>
                  <a:pt x="670313" y="0"/>
                  <a:pt x="787511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Freihandform: Form 102">
            <a:extLst>
              <a:ext uri="{FF2B5EF4-FFF2-40B4-BE49-F238E27FC236}">
                <a16:creationId xmlns:a16="http://schemas.microsoft.com/office/drawing/2014/main" id="{136F9039-9260-BDD9-3AC6-6257313FB25B}"/>
              </a:ext>
            </a:extLst>
          </p:cNvPr>
          <p:cNvSpPr/>
          <p:nvPr/>
        </p:nvSpPr>
        <p:spPr bwMode="gray">
          <a:xfrm>
            <a:off x="4954880" y="3435615"/>
            <a:ext cx="1968483" cy="1373423"/>
          </a:xfrm>
          <a:custGeom>
            <a:avLst/>
            <a:gdLst>
              <a:gd name="connsiteX0" fmla="*/ 176506 w 1968483"/>
              <a:gd name="connsiteY0" fmla="*/ 0 h 1373423"/>
              <a:gd name="connsiteX1" fmla="*/ 180100 w 1968483"/>
              <a:gd name="connsiteY1" fmla="*/ 71166 h 1373423"/>
              <a:gd name="connsiteX2" fmla="*/ 968524 w 1968483"/>
              <a:gd name="connsiteY2" fmla="*/ 859591 h 1373423"/>
              <a:gd name="connsiteX3" fmla="*/ 997915 w 1968483"/>
              <a:gd name="connsiteY3" fmla="*/ 861075 h 1373423"/>
              <a:gd name="connsiteX4" fmla="*/ 1063299 w 1968483"/>
              <a:gd name="connsiteY4" fmla="*/ 912438 h 1373423"/>
              <a:gd name="connsiteX5" fmla="*/ 1641054 w 1968483"/>
              <a:gd name="connsiteY5" fmla="*/ 1082386 h 1373423"/>
              <a:gd name="connsiteX6" fmla="*/ 1968483 w 1968483"/>
              <a:gd name="connsiteY6" fmla="*/ 1031125 h 1373423"/>
              <a:gd name="connsiteX7" fmla="*/ 1066318 w 1968483"/>
              <a:gd name="connsiteY7" fmla="*/ 1373423 h 1373423"/>
              <a:gd name="connsiteX8" fmla="*/ 54001 w 1968483"/>
              <a:gd name="connsiteY8" fmla="*/ 921461 h 1373423"/>
              <a:gd name="connsiteX9" fmla="*/ 0 w 1968483"/>
              <a:gd name="connsiteY9" fmla="*/ 585913 h 1373423"/>
              <a:gd name="connsiteX10" fmla="*/ 106474 w 1968483"/>
              <a:gd name="connsiteY10" fmla="*/ 120910 h 1373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68483" h="1373423">
                <a:moveTo>
                  <a:pt x="176506" y="0"/>
                </a:moveTo>
                <a:lnTo>
                  <a:pt x="180100" y="71166"/>
                </a:lnTo>
                <a:cubicBezTo>
                  <a:pt x="222318" y="486880"/>
                  <a:pt x="552811" y="817373"/>
                  <a:pt x="968524" y="859591"/>
                </a:cubicBezTo>
                <a:lnTo>
                  <a:pt x="997915" y="861075"/>
                </a:lnTo>
                <a:lnTo>
                  <a:pt x="1063299" y="912438"/>
                </a:lnTo>
                <a:cubicBezTo>
                  <a:pt x="1229780" y="1019971"/>
                  <a:pt x="1428133" y="1082386"/>
                  <a:pt x="1641054" y="1082386"/>
                </a:cubicBezTo>
                <a:cubicBezTo>
                  <a:pt x="1755317" y="1082386"/>
                  <a:pt x="1865275" y="1064386"/>
                  <a:pt x="1968483" y="1031125"/>
                </a:cubicBezTo>
                <a:cubicBezTo>
                  <a:pt x="1728414" y="1244096"/>
                  <a:pt x="1412530" y="1373423"/>
                  <a:pt x="1066318" y="1373423"/>
                </a:cubicBezTo>
                <a:cubicBezTo>
                  <a:pt x="664248" y="1373423"/>
                  <a:pt x="302874" y="1198899"/>
                  <a:pt x="54001" y="921461"/>
                </a:cubicBezTo>
                <a:cubicBezTo>
                  <a:pt x="18881" y="816003"/>
                  <a:pt x="0" y="703110"/>
                  <a:pt x="0" y="585913"/>
                </a:cubicBezTo>
                <a:cubicBezTo>
                  <a:pt x="0" y="419215"/>
                  <a:pt x="38258" y="261446"/>
                  <a:pt x="106474" y="12091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Freihandform: Form 99">
            <a:extLst>
              <a:ext uri="{FF2B5EF4-FFF2-40B4-BE49-F238E27FC236}">
                <a16:creationId xmlns:a16="http://schemas.microsoft.com/office/drawing/2014/main" id="{1791CB7E-CF38-6093-361B-E064B8F850D9}"/>
              </a:ext>
            </a:extLst>
          </p:cNvPr>
          <p:cNvSpPr/>
          <p:nvPr/>
        </p:nvSpPr>
        <p:spPr bwMode="gray">
          <a:xfrm>
            <a:off x="6004022" y="2521022"/>
            <a:ext cx="1394390" cy="1968483"/>
          </a:xfrm>
          <a:custGeom>
            <a:avLst/>
            <a:gdLst>
              <a:gd name="connsiteX0" fmla="*/ 1052092 w 1394390"/>
              <a:gd name="connsiteY0" fmla="*/ 0 h 1968483"/>
              <a:gd name="connsiteX1" fmla="*/ 1394390 w 1394390"/>
              <a:gd name="connsiteY1" fmla="*/ 902165 h 1968483"/>
              <a:gd name="connsiteX2" fmla="*/ 942428 w 1394390"/>
              <a:gd name="connsiteY2" fmla="*/ 1914482 h 1968483"/>
              <a:gd name="connsiteX3" fmla="*/ 606880 w 1394390"/>
              <a:gd name="connsiteY3" fmla="*/ 1968483 h 1968483"/>
              <a:gd name="connsiteX4" fmla="*/ 7394 w 1394390"/>
              <a:gd name="connsiteY4" fmla="*/ 1784115 h 1968483"/>
              <a:gd name="connsiteX5" fmla="*/ 0 w 1394390"/>
              <a:gd name="connsiteY5" fmla="*/ 1778255 h 1968483"/>
              <a:gd name="connsiteX6" fmla="*/ 9694 w 1394390"/>
              <a:gd name="connsiteY6" fmla="*/ 1778744 h 1968483"/>
              <a:gd name="connsiteX7" fmla="*/ 888431 w 1394390"/>
              <a:gd name="connsiteY7" fmla="*/ 985759 h 1968483"/>
              <a:gd name="connsiteX8" fmla="*/ 889690 w 1394390"/>
              <a:gd name="connsiteY8" fmla="*/ 960832 h 1968483"/>
              <a:gd name="connsiteX9" fmla="*/ 933405 w 1394390"/>
              <a:gd name="connsiteY9" fmla="*/ 905184 h 1968483"/>
              <a:gd name="connsiteX10" fmla="*/ 1103353 w 1394390"/>
              <a:gd name="connsiteY10" fmla="*/ 327429 h 1968483"/>
              <a:gd name="connsiteX11" fmla="*/ 1052092 w 1394390"/>
              <a:gd name="connsiteY11" fmla="*/ 0 h 196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94390" h="1968483">
                <a:moveTo>
                  <a:pt x="1052092" y="0"/>
                </a:moveTo>
                <a:cubicBezTo>
                  <a:pt x="1265063" y="240069"/>
                  <a:pt x="1394390" y="555953"/>
                  <a:pt x="1394390" y="902165"/>
                </a:cubicBezTo>
                <a:cubicBezTo>
                  <a:pt x="1394390" y="1304235"/>
                  <a:pt x="1219866" y="1665609"/>
                  <a:pt x="942428" y="1914482"/>
                </a:cubicBezTo>
                <a:cubicBezTo>
                  <a:pt x="836970" y="1949601"/>
                  <a:pt x="724077" y="1968483"/>
                  <a:pt x="606880" y="1968483"/>
                </a:cubicBezTo>
                <a:cubicBezTo>
                  <a:pt x="384617" y="1968483"/>
                  <a:pt x="178225" y="1900469"/>
                  <a:pt x="7394" y="1784115"/>
                </a:cubicBezTo>
                <a:lnTo>
                  <a:pt x="0" y="1778255"/>
                </a:lnTo>
                <a:lnTo>
                  <a:pt x="9694" y="1778744"/>
                </a:lnTo>
                <a:cubicBezTo>
                  <a:pt x="467036" y="1778744"/>
                  <a:pt x="843197" y="1431167"/>
                  <a:pt x="888431" y="985759"/>
                </a:cubicBezTo>
                <a:lnTo>
                  <a:pt x="889690" y="960832"/>
                </a:lnTo>
                <a:lnTo>
                  <a:pt x="933405" y="905184"/>
                </a:lnTo>
                <a:cubicBezTo>
                  <a:pt x="1040938" y="738702"/>
                  <a:pt x="1103353" y="540350"/>
                  <a:pt x="1103353" y="327429"/>
                </a:cubicBezTo>
                <a:cubicBezTo>
                  <a:pt x="1103353" y="213166"/>
                  <a:pt x="1085353" y="103208"/>
                  <a:pt x="1052092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5" name="Textfeld 31">
            <a:extLst>
              <a:ext uri="{FF2B5EF4-FFF2-40B4-BE49-F238E27FC236}">
                <a16:creationId xmlns:a16="http://schemas.microsoft.com/office/drawing/2014/main" id="{934CDC7F-857B-C8A4-511C-87538A69FEFC}"/>
              </a:ext>
            </a:extLst>
          </p:cNvPr>
          <p:cNvSpPr txBox="1"/>
          <p:nvPr/>
        </p:nvSpPr>
        <p:spPr bwMode="gray">
          <a:xfrm>
            <a:off x="5292548" y="3398904"/>
            <a:ext cx="1423285" cy="6309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空间场景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kern="1200" dirty="0">
                <a:solidFill>
                  <a:srgbClr val="FF9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b="1" kern="1200" dirty="0">
                <a:solidFill>
                  <a:srgbClr val="FF9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赋能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6" name="Freihandform: Form 34">
            <a:extLst>
              <a:ext uri="{FF2B5EF4-FFF2-40B4-BE49-F238E27FC236}">
                <a16:creationId xmlns:a16="http://schemas.microsoft.com/office/drawing/2014/main" id="{68D31BB6-6B29-C013-FC25-499FB5EBCE2D}"/>
              </a:ext>
            </a:extLst>
          </p:cNvPr>
          <p:cNvSpPr/>
          <p:nvPr/>
        </p:nvSpPr>
        <p:spPr bwMode="gray">
          <a:xfrm>
            <a:off x="5757916" y="2839538"/>
            <a:ext cx="492548" cy="492548"/>
          </a:xfrm>
          <a:custGeom>
            <a:avLst/>
            <a:gdLst>
              <a:gd name="connsiteX0" fmla="*/ 595417 w 791658"/>
              <a:gd name="connsiteY0" fmla="*/ 751056 h 791658"/>
              <a:gd name="connsiteX1" fmla="*/ 656319 w 791658"/>
              <a:gd name="connsiteY1" fmla="*/ 751056 h 791658"/>
              <a:gd name="connsiteX2" fmla="*/ 656319 w 791658"/>
              <a:gd name="connsiteY2" fmla="*/ 791658 h 791658"/>
              <a:gd name="connsiteX3" fmla="*/ 595417 w 791658"/>
              <a:gd name="connsiteY3" fmla="*/ 791658 h 791658"/>
              <a:gd name="connsiteX4" fmla="*/ 480416 w 791658"/>
              <a:gd name="connsiteY4" fmla="*/ 751056 h 791658"/>
              <a:gd name="connsiteX5" fmla="*/ 541318 w 791658"/>
              <a:gd name="connsiteY5" fmla="*/ 751056 h 791658"/>
              <a:gd name="connsiteX6" fmla="*/ 541318 w 791658"/>
              <a:gd name="connsiteY6" fmla="*/ 791658 h 791658"/>
              <a:gd name="connsiteX7" fmla="*/ 480416 w 791658"/>
              <a:gd name="connsiteY7" fmla="*/ 791658 h 791658"/>
              <a:gd name="connsiteX8" fmla="*/ 365378 w 791658"/>
              <a:gd name="connsiteY8" fmla="*/ 751056 h 791658"/>
              <a:gd name="connsiteX9" fmla="*/ 426280 w 791658"/>
              <a:gd name="connsiteY9" fmla="*/ 751056 h 791658"/>
              <a:gd name="connsiteX10" fmla="*/ 426280 w 791658"/>
              <a:gd name="connsiteY10" fmla="*/ 791658 h 791658"/>
              <a:gd name="connsiteX11" fmla="*/ 365378 w 791658"/>
              <a:gd name="connsiteY11" fmla="*/ 791658 h 791658"/>
              <a:gd name="connsiteX12" fmla="*/ 250376 w 791658"/>
              <a:gd name="connsiteY12" fmla="*/ 751056 h 791658"/>
              <a:gd name="connsiteX13" fmla="*/ 311278 w 791658"/>
              <a:gd name="connsiteY13" fmla="*/ 751056 h 791658"/>
              <a:gd name="connsiteX14" fmla="*/ 311278 w 791658"/>
              <a:gd name="connsiteY14" fmla="*/ 791658 h 791658"/>
              <a:gd name="connsiteX15" fmla="*/ 250376 w 791658"/>
              <a:gd name="connsiteY15" fmla="*/ 791658 h 791658"/>
              <a:gd name="connsiteX16" fmla="*/ 135339 w 791658"/>
              <a:gd name="connsiteY16" fmla="*/ 751056 h 791658"/>
              <a:gd name="connsiteX17" fmla="*/ 196241 w 791658"/>
              <a:gd name="connsiteY17" fmla="*/ 751056 h 791658"/>
              <a:gd name="connsiteX18" fmla="*/ 196241 w 791658"/>
              <a:gd name="connsiteY18" fmla="*/ 791658 h 791658"/>
              <a:gd name="connsiteX19" fmla="*/ 135339 w 791658"/>
              <a:gd name="connsiteY19" fmla="*/ 791658 h 791658"/>
              <a:gd name="connsiteX20" fmla="*/ 751056 w 791658"/>
              <a:gd name="connsiteY20" fmla="*/ 710455 h 791658"/>
              <a:gd name="connsiteX21" fmla="*/ 791658 w 791658"/>
              <a:gd name="connsiteY21" fmla="*/ 710455 h 791658"/>
              <a:gd name="connsiteX22" fmla="*/ 791658 w 791658"/>
              <a:gd name="connsiteY22" fmla="*/ 791622 h 791658"/>
              <a:gd name="connsiteX23" fmla="*/ 710455 w 791658"/>
              <a:gd name="connsiteY23" fmla="*/ 791622 h 791658"/>
              <a:gd name="connsiteX24" fmla="*/ 710455 w 791658"/>
              <a:gd name="connsiteY24" fmla="*/ 751057 h 791658"/>
              <a:gd name="connsiteX25" fmla="*/ 751056 w 791658"/>
              <a:gd name="connsiteY25" fmla="*/ 751057 h 791658"/>
              <a:gd name="connsiteX26" fmla="*/ 0 w 791658"/>
              <a:gd name="connsiteY26" fmla="*/ 710455 h 791658"/>
              <a:gd name="connsiteX27" fmla="*/ 40601 w 791658"/>
              <a:gd name="connsiteY27" fmla="*/ 710455 h 791658"/>
              <a:gd name="connsiteX28" fmla="*/ 40601 w 791658"/>
              <a:gd name="connsiteY28" fmla="*/ 751057 h 791658"/>
              <a:gd name="connsiteX29" fmla="*/ 81203 w 791658"/>
              <a:gd name="connsiteY29" fmla="*/ 751057 h 791658"/>
              <a:gd name="connsiteX30" fmla="*/ 81203 w 791658"/>
              <a:gd name="connsiteY30" fmla="*/ 791622 h 791658"/>
              <a:gd name="connsiteX31" fmla="*/ 0 w 791658"/>
              <a:gd name="connsiteY31" fmla="*/ 791622 h 791658"/>
              <a:gd name="connsiteX32" fmla="*/ 751056 w 791658"/>
              <a:gd name="connsiteY32" fmla="*/ 595417 h 791658"/>
              <a:gd name="connsiteX33" fmla="*/ 791657 w 791658"/>
              <a:gd name="connsiteY33" fmla="*/ 595417 h 791658"/>
              <a:gd name="connsiteX34" fmla="*/ 791657 w 791658"/>
              <a:gd name="connsiteY34" fmla="*/ 656319 h 791658"/>
              <a:gd name="connsiteX35" fmla="*/ 751056 w 791658"/>
              <a:gd name="connsiteY35" fmla="*/ 656319 h 791658"/>
              <a:gd name="connsiteX36" fmla="*/ 0 w 791658"/>
              <a:gd name="connsiteY36" fmla="*/ 595417 h 791658"/>
              <a:gd name="connsiteX37" fmla="*/ 40602 w 791658"/>
              <a:gd name="connsiteY37" fmla="*/ 595417 h 791658"/>
              <a:gd name="connsiteX38" fmla="*/ 40602 w 791658"/>
              <a:gd name="connsiteY38" fmla="*/ 656319 h 791658"/>
              <a:gd name="connsiteX39" fmla="*/ 0 w 791658"/>
              <a:gd name="connsiteY39" fmla="*/ 656319 h 791658"/>
              <a:gd name="connsiteX40" fmla="*/ 395847 w 791658"/>
              <a:gd name="connsiteY40" fmla="*/ 547619 h 791658"/>
              <a:gd name="connsiteX41" fmla="*/ 470641 w 791658"/>
              <a:gd name="connsiteY41" fmla="*/ 622413 h 791658"/>
              <a:gd name="connsiteX42" fmla="*/ 453097 w 791658"/>
              <a:gd name="connsiteY42" fmla="*/ 639921 h 791658"/>
              <a:gd name="connsiteX43" fmla="*/ 410885 w 791658"/>
              <a:gd name="connsiteY43" fmla="*/ 603330 h 791658"/>
              <a:gd name="connsiteX44" fmla="*/ 408092 w 791658"/>
              <a:gd name="connsiteY44" fmla="*/ 706301 h 791658"/>
              <a:gd name="connsiteX45" fmla="*/ 383208 w 791658"/>
              <a:gd name="connsiteY45" fmla="*/ 705943 h 791658"/>
              <a:gd name="connsiteX46" fmla="*/ 380774 w 791658"/>
              <a:gd name="connsiteY46" fmla="*/ 603330 h 791658"/>
              <a:gd name="connsiteX47" fmla="*/ 338561 w 791658"/>
              <a:gd name="connsiteY47" fmla="*/ 639921 h 791658"/>
              <a:gd name="connsiteX48" fmla="*/ 321053 w 791658"/>
              <a:gd name="connsiteY48" fmla="*/ 622413 h 791658"/>
              <a:gd name="connsiteX49" fmla="*/ 751056 w 791658"/>
              <a:gd name="connsiteY49" fmla="*/ 480380 h 791658"/>
              <a:gd name="connsiteX50" fmla="*/ 791657 w 791658"/>
              <a:gd name="connsiteY50" fmla="*/ 480380 h 791658"/>
              <a:gd name="connsiteX51" fmla="*/ 791657 w 791658"/>
              <a:gd name="connsiteY51" fmla="*/ 541282 h 791658"/>
              <a:gd name="connsiteX52" fmla="*/ 751056 w 791658"/>
              <a:gd name="connsiteY52" fmla="*/ 541282 h 791658"/>
              <a:gd name="connsiteX53" fmla="*/ 0 w 791658"/>
              <a:gd name="connsiteY53" fmla="*/ 480380 h 791658"/>
              <a:gd name="connsiteX54" fmla="*/ 40602 w 791658"/>
              <a:gd name="connsiteY54" fmla="*/ 480380 h 791658"/>
              <a:gd name="connsiteX55" fmla="*/ 40602 w 791658"/>
              <a:gd name="connsiteY55" fmla="*/ 541282 h 791658"/>
              <a:gd name="connsiteX56" fmla="*/ 0 w 791658"/>
              <a:gd name="connsiteY56" fmla="*/ 541282 h 791658"/>
              <a:gd name="connsiteX57" fmla="*/ 751056 w 791658"/>
              <a:gd name="connsiteY57" fmla="*/ 365378 h 791658"/>
              <a:gd name="connsiteX58" fmla="*/ 791657 w 791658"/>
              <a:gd name="connsiteY58" fmla="*/ 365378 h 791658"/>
              <a:gd name="connsiteX59" fmla="*/ 791657 w 791658"/>
              <a:gd name="connsiteY59" fmla="*/ 426280 h 791658"/>
              <a:gd name="connsiteX60" fmla="*/ 751056 w 791658"/>
              <a:gd name="connsiteY60" fmla="*/ 426280 h 791658"/>
              <a:gd name="connsiteX61" fmla="*/ 0 w 791658"/>
              <a:gd name="connsiteY61" fmla="*/ 365378 h 791658"/>
              <a:gd name="connsiteX62" fmla="*/ 40602 w 791658"/>
              <a:gd name="connsiteY62" fmla="*/ 365378 h 791658"/>
              <a:gd name="connsiteX63" fmla="*/ 40602 w 791658"/>
              <a:gd name="connsiteY63" fmla="*/ 426280 h 791658"/>
              <a:gd name="connsiteX64" fmla="*/ 0 w 791658"/>
              <a:gd name="connsiteY64" fmla="*/ 426280 h 791658"/>
              <a:gd name="connsiteX65" fmla="*/ 623559 w 791658"/>
              <a:gd name="connsiteY65" fmla="*/ 321876 h 791658"/>
              <a:gd name="connsiteX66" fmla="*/ 641067 w 791658"/>
              <a:gd name="connsiteY66" fmla="*/ 339384 h 791658"/>
              <a:gd name="connsiteX67" fmla="*/ 604440 w 791658"/>
              <a:gd name="connsiteY67" fmla="*/ 381597 h 791658"/>
              <a:gd name="connsiteX68" fmla="*/ 707089 w 791658"/>
              <a:gd name="connsiteY68" fmla="*/ 384067 h 791658"/>
              <a:gd name="connsiteX69" fmla="*/ 707447 w 791658"/>
              <a:gd name="connsiteY69" fmla="*/ 408915 h 791658"/>
              <a:gd name="connsiteX70" fmla="*/ 604440 w 791658"/>
              <a:gd name="connsiteY70" fmla="*/ 411743 h 791658"/>
              <a:gd name="connsiteX71" fmla="*/ 641067 w 791658"/>
              <a:gd name="connsiteY71" fmla="*/ 453956 h 791658"/>
              <a:gd name="connsiteX72" fmla="*/ 623559 w 791658"/>
              <a:gd name="connsiteY72" fmla="*/ 471464 h 791658"/>
              <a:gd name="connsiteX73" fmla="*/ 548765 w 791658"/>
              <a:gd name="connsiteY73" fmla="*/ 396670 h 791658"/>
              <a:gd name="connsiteX74" fmla="*/ 168135 w 791658"/>
              <a:gd name="connsiteY74" fmla="*/ 321876 h 791658"/>
              <a:gd name="connsiteX75" fmla="*/ 242929 w 791658"/>
              <a:gd name="connsiteY75" fmla="*/ 396670 h 791658"/>
              <a:gd name="connsiteX76" fmla="*/ 168135 w 791658"/>
              <a:gd name="connsiteY76" fmla="*/ 471464 h 791658"/>
              <a:gd name="connsiteX77" fmla="*/ 150627 w 791658"/>
              <a:gd name="connsiteY77" fmla="*/ 453956 h 791658"/>
              <a:gd name="connsiteX78" fmla="*/ 187219 w 791658"/>
              <a:gd name="connsiteY78" fmla="*/ 411743 h 791658"/>
              <a:gd name="connsiteX79" fmla="*/ 84247 w 791658"/>
              <a:gd name="connsiteY79" fmla="*/ 408915 h 791658"/>
              <a:gd name="connsiteX80" fmla="*/ 84605 w 791658"/>
              <a:gd name="connsiteY80" fmla="*/ 384067 h 791658"/>
              <a:gd name="connsiteX81" fmla="*/ 187219 w 791658"/>
              <a:gd name="connsiteY81" fmla="*/ 381597 h 791658"/>
              <a:gd name="connsiteX82" fmla="*/ 150627 w 791658"/>
              <a:gd name="connsiteY82" fmla="*/ 339384 h 791658"/>
              <a:gd name="connsiteX83" fmla="*/ 304511 w 791658"/>
              <a:gd name="connsiteY83" fmla="*/ 304476 h 791658"/>
              <a:gd name="connsiteX84" fmla="*/ 304511 w 791658"/>
              <a:gd name="connsiteY84" fmla="*/ 487146 h 791658"/>
              <a:gd name="connsiteX85" fmla="*/ 487182 w 791658"/>
              <a:gd name="connsiteY85" fmla="*/ 487146 h 791658"/>
              <a:gd name="connsiteX86" fmla="*/ 487182 w 791658"/>
              <a:gd name="connsiteY86" fmla="*/ 304476 h 791658"/>
              <a:gd name="connsiteX87" fmla="*/ 263910 w 791658"/>
              <a:gd name="connsiteY87" fmla="*/ 263874 h 791658"/>
              <a:gd name="connsiteX88" fmla="*/ 527784 w 791658"/>
              <a:gd name="connsiteY88" fmla="*/ 263874 h 791658"/>
              <a:gd name="connsiteX89" fmla="*/ 527784 w 791658"/>
              <a:gd name="connsiteY89" fmla="*/ 527748 h 791658"/>
              <a:gd name="connsiteX90" fmla="*/ 263910 w 791658"/>
              <a:gd name="connsiteY90" fmla="*/ 527748 h 791658"/>
              <a:gd name="connsiteX91" fmla="*/ 751056 w 791658"/>
              <a:gd name="connsiteY91" fmla="*/ 250340 h 791658"/>
              <a:gd name="connsiteX92" fmla="*/ 791657 w 791658"/>
              <a:gd name="connsiteY92" fmla="*/ 250340 h 791658"/>
              <a:gd name="connsiteX93" fmla="*/ 791657 w 791658"/>
              <a:gd name="connsiteY93" fmla="*/ 311242 h 791658"/>
              <a:gd name="connsiteX94" fmla="*/ 751056 w 791658"/>
              <a:gd name="connsiteY94" fmla="*/ 311242 h 791658"/>
              <a:gd name="connsiteX95" fmla="*/ 0 w 791658"/>
              <a:gd name="connsiteY95" fmla="*/ 250340 h 791658"/>
              <a:gd name="connsiteX96" fmla="*/ 40602 w 791658"/>
              <a:gd name="connsiteY96" fmla="*/ 250340 h 791658"/>
              <a:gd name="connsiteX97" fmla="*/ 40602 w 791658"/>
              <a:gd name="connsiteY97" fmla="*/ 311242 h 791658"/>
              <a:gd name="connsiteX98" fmla="*/ 0 w 791658"/>
              <a:gd name="connsiteY98" fmla="*/ 311242 h 791658"/>
              <a:gd name="connsiteX99" fmla="*/ 751056 w 791658"/>
              <a:gd name="connsiteY99" fmla="*/ 135339 h 791658"/>
              <a:gd name="connsiteX100" fmla="*/ 791657 w 791658"/>
              <a:gd name="connsiteY100" fmla="*/ 135339 h 791658"/>
              <a:gd name="connsiteX101" fmla="*/ 791657 w 791658"/>
              <a:gd name="connsiteY101" fmla="*/ 196241 h 791658"/>
              <a:gd name="connsiteX102" fmla="*/ 751056 w 791658"/>
              <a:gd name="connsiteY102" fmla="*/ 196241 h 791658"/>
              <a:gd name="connsiteX103" fmla="*/ 0 w 791658"/>
              <a:gd name="connsiteY103" fmla="*/ 135339 h 791658"/>
              <a:gd name="connsiteX104" fmla="*/ 40602 w 791658"/>
              <a:gd name="connsiteY104" fmla="*/ 135339 h 791658"/>
              <a:gd name="connsiteX105" fmla="*/ 40602 w 791658"/>
              <a:gd name="connsiteY105" fmla="*/ 196241 h 791658"/>
              <a:gd name="connsiteX106" fmla="*/ 0 w 791658"/>
              <a:gd name="connsiteY106" fmla="*/ 196241 h 791658"/>
              <a:gd name="connsiteX107" fmla="*/ 408092 w 791658"/>
              <a:gd name="connsiteY107" fmla="*/ 85357 h 791658"/>
              <a:gd name="connsiteX108" fmla="*/ 410885 w 791658"/>
              <a:gd name="connsiteY108" fmla="*/ 188329 h 791658"/>
              <a:gd name="connsiteX109" fmla="*/ 453097 w 791658"/>
              <a:gd name="connsiteY109" fmla="*/ 151737 h 791658"/>
              <a:gd name="connsiteX110" fmla="*/ 470641 w 791658"/>
              <a:gd name="connsiteY110" fmla="*/ 169245 h 791658"/>
              <a:gd name="connsiteX111" fmla="*/ 395847 w 791658"/>
              <a:gd name="connsiteY111" fmla="*/ 244039 h 791658"/>
              <a:gd name="connsiteX112" fmla="*/ 321053 w 791658"/>
              <a:gd name="connsiteY112" fmla="*/ 169245 h 791658"/>
              <a:gd name="connsiteX113" fmla="*/ 338561 w 791658"/>
              <a:gd name="connsiteY113" fmla="*/ 151737 h 791658"/>
              <a:gd name="connsiteX114" fmla="*/ 380774 w 791658"/>
              <a:gd name="connsiteY114" fmla="*/ 188329 h 791658"/>
              <a:gd name="connsiteX115" fmla="*/ 383208 w 791658"/>
              <a:gd name="connsiteY115" fmla="*/ 85679 h 791658"/>
              <a:gd name="connsiteX116" fmla="*/ 710455 w 791658"/>
              <a:gd name="connsiteY116" fmla="*/ 0 h 791658"/>
              <a:gd name="connsiteX117" fmla="*/ 791658 w 791658"/>
              <a:gd name="connsiteY117" fmla="*/ 0 h 791658"/>
              <a:gd name="connsiteX118" fmla="*/ 791658 w 791658"/>
              <a:gd name="connsiteY118" fmla="*/ 81203 h 791658"/>
              <a:gd name="connsiteX119" fmla="*/ 751056 w 791658"/>
              <a:gd name="connsiteY119" fmla="*/ 81203 h 791658"/>
              <a:gd name="connsiteX120" fmla="*/ 751056 w 791658"/>
              <a:gd name="connsiteY120" fmla="*/ 40601 h 791658"/>
              <a:gd name="connsiteX121" fmla="*/ 710455 w 791658"/>
              <a:gd name="connsiteY121" fmla="*/ 40601 h 791658"/>
              <a:gd name="connsiteX122" fmla="*/ 595417 w 791658"/>
              <a:gd name="connsiteY122" fmla="*/ 0 h 791658"/>
              <a:gd name="connsiteX123" fmla="*/ 656319 w 791658"/>
              <a:gd name="connsiteY123" fmla="*/ 0 h 791658"/>
              <a:gd name="connsiteX124" fmla="*/ 656319 w 791658"/>
              <a:gd name="connsiteY124" fmla="*/ 40602 h 791658"/>
              <a:gd name="connsiteX125" fmla="*/ 595417 w 791658"/>
              <a:gd name="connsiteY125" fmla="*/ 40602 h 791658"/>
              <a:gd name="connsiteX126" fmla="*/ 480416 w 791658"/>
              <a:gd name="connsiteY126" fmla="*/ 0 h 791658"/>
              <a:gd name="connsiteX127" fmla="*/ 541318 w 791658"/>
              <a:gd name="connsiteY127" fmla="*/ 0 h 791658"/>
              <a:gd name="connsiteX128" fmla="*/ 541318 w 791658"/>
              <a:gd name="connsiteY128" fmla="*/ 40602 h 791658"/>
              <a:gd name="connsiteX129" fmla="*/ 480416 w 791658"/>
              <a:gd name="connsiteY129" fmla="*/ 40602 h 791658"/>
              <a:gd name="connsiteX130" fmla="*/ 365378 w 791658"/>
              <a:gd name="connsiteY130" fmla="*/ 0 h 791658"/>
              <a:gd name="connsiteX131" fmla="*/ 426280 w 791658"/>
              <a:gd name="connsiteY131" fmla="*/ 0 h 791658"/>
              <a:gd name="connsiteX132" fmla="*/ 426280 w 791658"/>
              <a:gd name="connsiteY132" fmla="*/ 40602 h 791658"/>
              <a:gd name="connsiteX133" fmla="*/ 365378 w 791658"/>
              <a:gd name="connsiteY133" fmla="*/ 40602 h 791658"/>
              <a:gd name="connsiteX134" fmla="*/ 250376 w 791658"/>
              <a:gd name="connsiteY134" fmla="*/ 0 h 791658"/>
              <a:gd name="connsiteX135" fmla="*/ 311278 w 791658"/>
              <a:gd name="connsiteY135" fmla="*/ 0 h 791658"/>
              <a:gd name="connsiteX136" fmla="*/ 311278 w 791658"/>
              <a:gd name="connsiteY136" fmla="*/ 40602 h 791658"/>
              <a:gd name="connsiteX137" fmla="*/ 250376 w 791658"/>
              <a:gd name="connsiteY137" fmla="*/ 40602 h 791658"/>
              <a:gd name="connsiteX138" fmla="*/ 135339 w 791658"/>
              <a:gd name="connsiteY138" fmla="*/ 0 h 791658"/>
              <a:gd name="connsiteX139" fmla="*/ 196241 w 791658"/>
              <a:gd name="connsiteY139" fmla="*/ 0 h 791658"/>
              <a:gd name="connsiteX140" fmla="*/ 196241 w 791658"/>
              <a:gd name="connsiteY140" fmla="*/ 40602 h 791658"/>
              <a:gd name="connsiteX141" fmla="*/ 135339 w 791658"/>
              <a:gd name="connsiteY141" fmla="*/ 40602 h 791658"/>
              <a:gd name="connsiteX142" fmla="*/ 0 w 791658"/>
              <a:gd name="connsiteY142" fmla="*/ 0 h 791658"/>
              <a:gd name="connsiteX143" fmla="*/ 81203 w 791658"/>
              <a:gd name="connsiteY143" fmla="*/ 0 h 791658"/>
              <a:gd name="connsiteX144" fmla="*/ 81203 w 791658"/>
              <a:gd name="connsiteY144" fmla="*/ 40601 h 791658"/>
              <a:gd name="connsiteX145" fmla="*/ 40601 w 791658"/>
              <a:gd name="connsiteY145" fmla="*/ 40601 h 791658"/>
              <a:gd name="connsiteX146" fmla="*/ 40601 w 791658"/>
              <a:gd name="connsiteY146" fmla="*/ 81203 h 791658"/>
              <a:gd name="connsiteX147" fmla="*/ 0 w 791658"/>
              <a:gd name="connsiteY147" fmla="*/ 81203 h 791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791658" h="791658">
                <a:moveTo>
                  <a:pt x="595417" y="751056"/>
                </a:moveTo>
                <a:lnTo>
                  <a:pt x="656319" y="751056"/>
                </a:lnTo>
                <a:lnTo>
                  <a:pt x="656319" y="791658"/>
                </a:lnTo>
                <a:lnTo>
                  <a:pt x="595417" y="791658"/>
                </a:lnTo>
                <a:close/>
                <a:moveTo>
                  <a:pt x="480416" y="751056"/>
                </a:moveTo>
                <a:lnTo>
                  <a:pt x="541318" y="751056"/>
                </a:lnTo>
                <a:lnTo>
                  <a:pt x="541318" y="791658"/>
                </a:lnTo>
                <a:lnTo>
                  <a:pt x="480416" y="791658"/>
                </a:lnTo>
                <a:close/>
                <a:moveTo>
                  <a:pt x="365378" y="751056"/>
                </a:moveTo>
                <a:lnTo>
                  <a:pt x="426280" y="751056"/>
                </a:lnTo>
                <a:lnTo>
                  <a:pt x="426280" y="791658"/>
                </a:lnTo>
                <a:lnTo>
                  <a:pt x="365378" y="791658"/>
                </a:lnTo>
                <a:close/>
                <a:moveTo>
                  <a:pt x="250376" y="751056"/>
                </a:moveTo>
                <a:lnTo>
                  <a:pt x="311278" y="751056"/>
                </a:lnTo>
                <a:lnTo>
                  <a:pt x="311278" y="791658"/>
                </a:lnTo>
                <a:lnTo>
                  <a:pt x="250376" y="791658"/>
                </a:lnTo>
                <a:close/>
                <a:moveTo>
                  <a:pt x="135339" y="751056"/>
                </a:moveTo>
                <a:lnTo>
                  <a:pt x="196241" y="751056"/>
                </a:lnTo>
                <a:lnTo>
                  <a:pt x="196241" y="791658"/>
                </a:lnTo>
                <a:lnTo>
                  <a:pt x="135339" y="791658"/>
                </a:lnTo>
                <a:close/>
                <a:moveTo>
                  <a:pt x="751056" y="710455"/>
                </a:moveTo>
                <a:lnTo>
                  <a:pt x="791658" y="710455"/>
                </a:lnTo>
                <a:lnTo>
                  <a:pt x="791658" y="791622"/>
                </a:lnTo>
                <a:lnTo>
                  <a:pt x="710455" y="791622"/>
                </a:lnTo>
                <a:lnTo>
                  <a:pt x="710455" y="751057"/>
                </a:lnTo>
                <a:lnTo>
                  <a:pt x="751056" y="751057"/>
                </a:lnTo>
                <a:close/>
                <a:moveTo>
                  <a:pt x="0" y="710455"/>
                </a:moveTo>
                <a:lnTo>
                  <a:pt x="40601" y="710455"/>
                </a:lnTo>
                <a:lnTo>
                  <a:pt x="40601" y="751057"/>
                </a:lnTo>
                <a:lnTo>
                  <a:pt x="81203" y="751057"/>
                </a:lnTo>
                <a:lnTo>
                  <a:pt x="81203" y="791622"/>
                </a:lnTo>
                <a:lnTo>
                  <a:pt x="0" y="791622"/>
                </a:lnTo>
                <a:close/>
                <a:moveTo>
                  <a:pt x="751056" y="595417"/>
                </a:moveTo>
                <a:lnTo>
                  <a:pt x="791657" y="595417"/>
                </a:lnTo>
                <a:lnTo>
                  <a:pt x="791657" y="656319"/>
                </a:lnTo>
                <a:lnTo>
                  <a:pt x="751056" y="656319"/>
                </a:lnTo>
                <a:close/>
                <a:moveTo>
                  <a:pt x="0" y="595417"/>
                </a:moveTo>
                <a:lnTo>
                  <a:pt x="40602" y="595417"/>
                </a:lnTo>
                <a:lnTo>
                  <a:pt x="40602" y="656319"/>
                </a:lnTo>
                <a:lnTo>
                  <a:pt x="0" y="656319"/>
                </a:lnTo>
                <a:close/>
                <a:moveTo>
                  <a:pt x="395847" y="547619"/>
                </a:moveTo>
                <a:lnTo>
                  <a:pt x="470641" y="622413"/>
                </a:lnTo>
                <a:lnTo>
                  <a:pt x="453097" y="639921"/>
                </a:lnTo>
                <a:lnTo>
                  <a:pt x="410885" y="603330"/>
                </a:lnTo>
                <a:lnTo>
                  <a:pt x="408092" y="706301"/>
                </a:lnTo>
                <a:lnTo>
                  <a:pt x="383208" y="705943"/>
                </a:lnTo>
                <a:lnTo>
                  <a:pt x="380774" y="603330"/>
                </a:lnTo>
                <a:lnTo>
                  <a:pt x="338561" y="639921"/>
                </a:lnTo>
                <a:lnTo>
                  <a:pt x="321053" y="622413"/>
                </a:lnTo>
                <a:close/>
                <a:moveTo>
                  <a:pt x="751056" y="480380"/>
                </a:moveTo>
                <a:lnTo>
                  <a:pt x="791657" y="480380"/>
                </a:lnTo>
                <a:lnTo>
                  <a:pt x="791657" y="541282"/>
                </a:lnTo>
                <a:lnTo>
                  <a:pt x="751056" y="541282"/>
                </a:lnTo>
                <a:close/>
                <a:moveTo>
                  <a:pt x="0" y="480380"/>
                </a:moveTo>
                <a:lnTo>
                  <a:pt x="40602" y="480380"/>
                </a:lnTo>
                <a:lnTo>
                  <a:pt x="40602" y="541282"/>
                </a:lnTo>
                <a:lnTo>
                  <a:pt x="0" y="541282"/>
                </a:lnTo>
                <a:close/>
                <a:moveTo>
                  <a:pt x="751056" y="365378"/>
                </a:moveTo>
                <a:lnTo>
                  <a:pt x="791657" y="365378"/>
                </a:lnTo>
                <a:lnTo>
                  <a:pt x="791657" y="426280"/>
                </a:lnTo>
                <a:lnTo>
                  <a:pt x="751056" y="426280"/>
                </a:lnTo>
                <a:close/>
                <a:moveTo>
                  <a:pt x="0" y="365378"/>
                </a:moveTo>
                <a:lnTo>
                  <a:pt x="40602" y="365378"/>
                </a:lnTo>
                <a:lnTo>
                  <a:pt x="40602" y="426280"/>
                </a:lnTo>
                <a:lnTo>
                  <a:pt x="0" y="426280"/>
                </a:lnTo>
                <a:close/>
                <a:moveTo>
                  <a:pt x="623559" y="321876"/>
                </a:moveTo>
                <a:lnTo>
                  <a:pt x="641067" y="339384"/>
                </a:lnTo>
                <a:lnTo>
                  <a:pt x="604440" y="381597"/>
                </a:lnTo>
                <a:lnTo>
                  <a:pt x="707089" y="384067"/>
                </a:lnTo>
                <a:lnTo>
                  <a:pt x="707447" y="408915"/>
                </a:lnTo>
                <a:lnTo>
                  <a:pt x="604440" y="411743"/>
                </a:lnTo>
                <a:lnTo>
                  <a:pt x="641067" y="453956"/>
                </a:lnTo>
                <a:lnTo>
                  <a:pt x="623559" y="471464"/>
                </a:lnTo>
                <a:lnTo>
                  <a:pt x="548765" y="396670"/>
                </a:lnTo>
                <a:close/>
                <a:moveTo>
                  <a:pt x="168135" y="321876"/>
                </a:moveTo>
                <a:lnTo>
                  <a:pt x="242929" y="396670"/>
                </a:lnTo>
                <a:lnTo>
                  <a:pt x="168135" y="471464"/>
                </a:lnTo>
                <a:lnTo>
                  <a:pt x="150627" y="453956"/>
                </a:lnTo>
                <a:lnTo>
                  <a:pt x="187219" y="411743"/>
                </a:lnTo>
                <a:lnTo>
                  <a:pt x="84247" y="408915"/>
                </a:lnTo>
                <a:lnTo>
                  <a:pt x="84605" y="384067"/>
                </a:lnTo>
                <a:lnTo>
                  <a:pt x="187219" y="381597"/>
                </a:lnTo>
                <a:lnTo>
                  <a:pt x="150627" y="339384"/>
                </a:lnTo>
                <a:close/>
                <a:moveTo>
                  <a:pt x="304511" y="304476"/>
                </a:moveTo>
                <a:lnTo>
                  <a:pt x="304511" y="487146"/>
                </a:lnTo>
                <a:lnTo>
                  <a:pt x="487182" y="487146"/>
                </a:lnTo>
                <a:lnTo>
                  <a:pt x="487182" y="304476"/>
                </a:lnTo>
                <a:close/>
                <a:moveTo>
                  <a:pt x="263910" y="263874"/>
                </a:moveTo>
                <a:lnTo>
                  <a:pt x="527784" y="263874"/>
                </a:lnTo>
                <a:lnTo>
                  <a:pt x="527784" y="527748"/>
                </a:lnTo>
                <a:lnTo>
                  <a:pt x="263910" y="527748"/>
                </a:lnTo>
                <a:close/>
                <a:moveTo>
                  <a:pt x="751056" y="250340"/>
                </a:moveTo>
                <a:lnTo>
                  <a:pt x="791657" y="250340"/>
                </a:lnTo>
                <a:lnTo>
                  <a:pt x="791657" y="311242"/>
                </a:lnTo>
                <a:lnTo>
                  <a:pt x="751056" y="311242"/>
                </a:lnTo>
                <a:close/>
                <a:moveTo>
                  <a:pt x="0" y="250340"/>
                </a:moveTo>
                <a:lnTo>
                  <a:pt x="40602" y="250340"/>
                </a:lnTo>
                <a:lnTo>
                  <a:pt x="40602" y="311242"/>
                </a:lnTo>
                <a:lnTo>
                  <a:pt x="0" y="311242"/>
                </a:lnTo>
                <a:close/>
                <a:moveTo>
                  <a:pt x="751056" y="135339"/>
                </a:moveTo>
                <a:lnTo>
                  <a:pt x="791657" y="135339"/>
                </a:lnTo>
                <a:lnTo>
                  <a:pt x="791657" y="196241"/>
                </a:lnTo>
                <a:lnTo>
                  <a:pt x="751056" y="196241"/>
                </a:lnTo>
                <a:close/>
                <a:moveTo>
                  <a:pt x="0" y="135339"/>
                </a:moveTo>
                <a:lnTo>
                  <a:pt x="40602" y="135339"/>
                </a:lnTo>
                <a:lnTo>
                  <a:pt x="40602" y="196241"/>
                </a:lnTo>
                <a:lnTo>
                  <a:pt x="0" y="196241"/>
                </a:lnTo>
                <a:close/>
                <a:moveTo>
                  <a:pt x="408092" y="85357"/>
                </a:moveTo>
                <a:lnTo>
                  <a:pt x="410885" y="188329"/>
                </a:lnTo>
                <a:lnTo>
                  <a:pt x="453097" y="151737"/>
                </a:lnTo>
                <a:lnTo>
                  <a:pt x="470641" y="169245"/>
                </a:lnTo>
                <a:lnTo>
                  <a:pt x="395847" y="244039"/>
                </a:lnTo>
                <a:lnTo>
                  <a:pt x="321053" y="169245"/>
                </a:lnTo>
                <a:lnTo>
                  <a:pt x="338561" y="151737"/>
                </a:lnTo>
                <a:lnTo>
                  <a:pt x="380774" y="188329"/>
                </a:lnTo>
                <a:lnTo>
                  <a:pt x="383208" y="85679"/>
                </a:lnTo>
                <a:close/>
                <a:moveTo>
                  <a:pt x="710455" y="0"/>
                </a:moveTo>
                <a:lnTo>
                  <a:pt x="791658" y="0"/>
                </a:lnTo>
                <a:lnTo>
                  <a:pt x="791658" y="81203"/>
                </a:lnTo>
                <a:lnTo>
                  <a:pt x="751056" y="81203"/>
                </a:lnTo>
                <a:lnTo>
                  <a:pt x="751056" y="40601"/>
                </a:lnTo>
                <a:lnTo>
                  <a:pt x="710455" y="40601"/>
                </a:lnTo>
                <a:close/>
                <a:moveTo>
                  <a:pt x="595417" y="0"/>
                </a:moveTo>
                <a:lnTo>
                  <a:pt x="656319" y="0"/>
                </a:lnTo>
                <a:lnTo>
                  <a:pt x="656319" y="40602"/>
                </a:lnTo>
                <a:lnTo>
                  <a:pt x="595417" y="40602"/>
                </a:lnTo>
                <a:close/>
                <a:moveTo>
                  <a:pt x="480416" y="0"/>
                </a:moveTo>
                <a:lnTo>
                  <a:pt x="541318" y="0"/>
                </a:lnTo>
                <a:lnTo>
                  <a:pt x="541318" y="40602"/>
                </a:lnTo>
                <a:lnTo>
                  <a:pt x="480416" y="40602"/>
                </a:lnTo>
                <a:close/>
                <a:moveTo>
                  <a:pt x="365378" y="0"/>
                </a:moveTo>
                <a:lnTo>
                  <a:pt x="426280" y="0"/>
                </a:lnTo>
                <a:lnTo>
                  <a:pt x="426280" y="40602"/>
                </a:lnTo>
                <a:lnTo>
                  <a:pt x="365378" y="40602"/>
                </a:lnTo>
                <a:close/>
                <a:moveTo>
                  <a:pt x="250376" y="0"/>
                </a:moveTo>
                <a:lnTo>
                  <a:pt x="311278" y="0"/>
                </a:lnTo>
                <a:lnTo>
                  <a:pt x="311278" y="40602"/>
                </a:lnTo>
                <a:lnTo>
                  <a:pt x="250376" y="40602"/>
                </a:lnTo>
                <a:close/>
                <a:moveTo>
                  <a:pt x="135339" y="0"/>
                </a:moveTo>
                <a:lnTo>
                  <a:pt x="196241" y="0"/>
                </a:lnTo>
                <a:lnTo>
                  <a:pt x="196241" y="40602"/>
                </a:lnTo>
                <a:lnTo>
                  <a:pt x="135339" y="40602"/>
                </a:lnTo>
                <a:close/>
                <a:moveTo>
                  <a:pt x="0" y="0"/>
                </a:moveTo>
                <a:lnTo>
                  <a:pt x="81203" y="0"/>
                </a:lnTo>
                <a:lnTo>
                  <a:pt x="81203" y="40601"/>
                </a:lnTo>
                <a:lnTo>
                  <a:pt x="40601" y="40601"/>
                </a:lnTo>
                <a:lnTo>
                  <a:pt x="40601" y="81203"/>
                </a:lnTo>
                <a:lnTo>
                  <a:pt x="0" y="81203"/>
                </a:lnTo>
                <a:close/>
              </a:path>
            </a:pathLst>
          </a:custGeom>
          <a:solidFill>
            <a:schemeClr val="accent2"/>
          </a:solidFill>
          <a:ln w="357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7" name="Gerader Verbinder 29">
            <a:extLst>
              <a:ext uri="{FF2B5EF4-FFF2-40B4-BE49-F238E27FC236}">
                <a16:creationId xmlns:a16="http://schemas.microsoft.com/office/drawing/2014/main" id="{9E02FABE-38C9-C2E3-03A0-D3A3D36D8B6D}"/>
              </a:ext>
            </a:extLst>
          </p:cNvPr>
          <p:cNvCxnSpPr>
            <a:cxnSpLocks/>
          </p:cNvCxnSpPr>
          <p:nvPr/>
        </p:nvCxnSpPr>
        <p:spPr bwMode="gray">
          <a:xfrm flipH="1">
            <a:off x="899119" y="3496237"/>
            <a:ext cx="3168056" cy="0"/>
          </a:xfrm>
          <a:prstGeom prst="line">
            <a:avLst/>
          </a:prstGeom>
          <a:ln w="9525">
            <a:solidFill>
              <a:schemeClr val="tx1"/>
            </a:solidFill>
            <a:prstDash val="solid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30">
            <a:extLst>
              <a:ext uri="{FF2B5EF4-FFF2-40B4-BE49-F238E27FC236}">
                <a16:creationId xmlns:a16="http://schemas.microsoft.com/office/drawing/2014/main" id="{4095D07A-6B79-6D78-07AE-BE87B26E5E14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8099389" y="3429000"/>
            <a:ext cx="3282986" cy="6615"/>
          </a:xfrm>
          <a:prstGeom prst="line">
            <a:avLst/>
          </a:prstGeom>
          <a:ln w="9525">
            <a:solidFill>
              <a:schemeClr val="tx1"/>
            </a:solidFill>
            <a:prstDash val="solid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Gerader Verbinder 27">
            <a:extLst>
              <a:ext uri="{FF2B5EF4-FFF2-40B4-BE49-F238E27FC236}">
                <a16:creationId xmlns:a16="http://schemas.microsoft.com/office/drawing/2014/main" id="{CE492803-ECB1-3EB3-6191-D8684DD8D246}"/>
              </a:ext>
            </a:extLst>
          </p:cNvPr>
          <p:cNvCxnSpPr>
            <a:cxnSpLocks/>
          </p:cNvCxnSpPr>
          <p:nvPr/>
        </p:nvCxnSpPr>
        <p:spPr bwMode="gray">
          <a:xfrm>
            <a:off x="6010965" y="1413806"/>
            <a:ext cx="0" cy="468000"/>
          </a:xfrm>
          <a:prstGeom prst="line">
            <a:avLst/>
          </a:prstGeom>
          <a:ln w="9525">
            <a:solidFill>
              <a:schemeClr val="tx1"/>
            </a:solidFill>
            <a:prstDash val="solid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Freihandform: Form 37">
            <a:extLst>
              <a:ext uri="{FF2B5EF4-FFF2-40B4-BE49-F238E27FC236}">
                <a16:creationId xmlns:a16="http://schemas.microsoft.com/office/drawing/2014/main" id="{415FCE5D-B51A-3465-D50C-253BA1647625}"/>
              </a:ext>
            </a:extLst>
          </p:cNvPr>
          <p:cNvSpPr/>
          <p:nvPr/>
        </p:nvSpPr>
        <p:spPr bwMode="gray">
          <a:xfrm>
            <a:off x="6368934" y="5069989"/>
            <a:ext cx="479240" cy="445024"/>
          </a:xfrm>
          <a:custGeom>
            <a:avLst/>
            <a:gdLst>
              <a:gd name="connsiteX0" fmla="*/ 533728 w 638784"/>
              <a:gd name="connsiteY0" fmla="*/ 421322 h 593177"/>
              <a:gd name="connsiteX1" fmla="*/ 638784 w 638784"/>
              <a:gd name="connsiteY1" fmla="*/ 511381 h 593177"/>
              <a:gd name="connsiteX2" fmla="*/ 574264 w 638784"/>
              <a:gd name="connsiteY2" fmla="*/ 575901 h 593177"/>
              <a:gd name="connsiteX3" fmla="*/ 484205 w 638784"/>
              <a:gd name="connsiteY3" fmla="*/ 470845 h 593177"/>
              <a:gd name="connsiteX4" fmla="*/ 533728 w 638784"/>
              <a:gd name="connsiteY4" fmla="*/ 421322 h 593177"/>
              <a:gd name="connsiteX5" fmla="*/ 351921 w 638784"/>
              <a:gd name="connsiteY5" fmla="*/ 284745 h 593177"/>
              <a:gd name="connsiteX6" fmla="*/ 335717 w 638784"/>
              <a:gd name="connsiteY6" fmla="*/ 319003 h 593177"/>
              <a:gd name="connsiteX7" fmla="*/ 351921 w 638784"/>
              <a:gd name="connsiteY7" fmla="*/ 354093 h 593177"/>
              <a:gd name="connsiteX8" fmla="*/ 368124 w 638784"/>
              <a:gd name="connsiteY8" fmla="*/ 319405 h 593177"/>
              <a:gd name="connsiteX9" fmla="*/ 351921 w 638784"/>
              <a:gd name="connsiteY9" fmla="*/ 284745 h 593177"/>
              <a:gd name="connsiteX10" fmla="*/ 427009 w 638784"/>
              <a:gd name="connsiteY10" fmla="*/ 273101 h 593177"/>
              <a:gd name="connsiteX11" fmla="*/ 441067 w 638784"/>
              <a:gd name="connsiteY11" fmla="*/ 273101 h 593177"/>
              <a:gd name="connsiteX12" fmla="*/ 441067 w 638784"/>
              <a:gd name="connsiteY12" fmla="*/ 365736 h 593177"/>
              <a:gd name="connsiteX13" fmla="*/ 425266 w 638784"/>
              <a:gd name="connsiteY13" fmla="*/ 365736 h 593177"/>
              <a:gd name="connsiteX14" fmla="*/ 425266 w 638784"/>
              <a:gd name="connsiteY14" fmla="*/ 291022 h 593177"/>
              <a:gd name="connsiteX15" fmla="*/ 408418 w 638784"/>
              <a:gd name="connsiteY15" fmla="*/ 302423 h 593177"/>
              <a:gd name="connsiteX16" fmla="*/ 401443 w 638784"/>
              <a:gd name="connsiteY16" fmla="*/ 289707 h 593177"/>
              <a:gd name="connsiteX17" fmla="*/ 351921 w 638784"/>
              <a:gd name="connsiteY17" fmla="*/ 271626 h 593177"/>
              <a:gd name="connsiteX18" fmla="*/ 384462 w 638784"/>
              <a:gd name="connsiteY18" fmla="*/ 319405 h 593177"/>
              <a:gd name="connsiteX19" fmla="*/ 351921 w 638784"/>
              <a:gd name="connsiteY19" fmla="*/ 367212 h 593177"/>
              <a:gd name="connsiteX20" fmla="*/ 319406 w 638784"/>
              <a:gd name="connsiteY20" fmla="*/ 318869 h 593177"/>
              <a:gd name="connsiteX21" fmla="*/ 351921 w 638784"/>
              <a:gd name="connsiteY21" fmla="*/ 271626 h 593177"/>
              <a:gd name="connsiteX22" fmla="*/ 380250 w 638784"/>
              <a:gd name="connsiteY22" fmla="*/ 205362 h 593177"/>
              <a:gd name="connsiteX23" fmla="*/ 266180 w 638784"/>
              <a:gd name="connsiteY23" fmla="*/ 319432 h 593177"/>
              <a:gd name="connsiteX24" fmla="*/ 380250 w 638784"/>
              <a:gd name="connsiteY24" fmla="*/ 433501 h 593177"/>
              <a:gd name="connsiteX25" fmla="*/ 494319 w 638784"/>
              <a:gd name="connsiteY25" fmla="*/ 319432 h 593177"/>
              <a:gd name="connsiteX26" fmla="*/ 380250 w 638784"/>
              <a:gd name="connsiteY26" fmla="*/ 205362 h 593177"/>
              <a:gd name="connsiteX27" fmla="*/ 380223 w 638784"/>
              <a:gd name="connsiteY27" fmla="*/ 167348 h 593177"/>
              <a:gd name="connsiteX28" fmla="*/ 532306 w 638784"/>
              <a:gd name="connsiteY28" fmla="*/ 319432 h 593177"/>
              <a:gd name="connsiteX29" fmla="*/ 380223 w 638784"/>
              <a:gd name="connsiteY29" fmla="*/ 471515 h 593177"/>
              <a:gd name="connsiteX30" fmla="*/ 228139 w 638784"/>
              <a:gd name="connsiteY30" fmla="*/ 319432 h 593177"/>
              <a:gd name="connsiteX31" fmla="*/ 380223 w 638784"/>
              <a:gd name="connsiteY31" fmla="*/ 167348 h 593177"/>
              <a:gd name="connsiteX32" fmla="*/ 27 w 638784"/>
              <a:gd name="connsiteY32" fmla="*/ 60683 h 593177"/>
              <a:gd name="connsiteX33" fmla="*/ 30422 w 638784"/>
              <a:gd name="connsiteY33" fmla="*/ 60871 h 593177"/>
              <a:gd name="connsiteX34" fmla="*/ 30422 w 638784"/>
              <a:gd name="connsiteY34" fmla="*/ 562782 h 593177"/>
              <a:gd name="connsiteX35" fmla="*/ 365441 w 638784"/>
              <a:gd name="connsiteY35" fmla="*/ 562594 h 593177"/>
              <a:gd name="connsiteX36" fmla="*/ 365441 w 638784"/>
              <a:gd name="connsiteY36" fmla="*/ 593177 h 593177"/>
              <a:gd name="connsiteX37" fmla="*/ 0 w 638784"/>
              <a:gd name="connsiteY37" fmla="*/ 593177 h 593177"/>
              <a:gd name="connsiteX38" fmla="*/ 60845 w 638784"/>
              <a:gd name="connsiteY38" fmla="*/ 0 h 593177"/>
              <a:gd name="connsiteX39" fmla="*/ 304168 w 638784"/>
              <a:gd name="connsiteY39" fmla="*/ 134 h 593177"/>
              <a:gd name="connsiteX40" fmla="*/ 441068 w 638784"/>
              <a:gd name="connsiteY40" fmla="*/ 134 h 593177"/>
              <a:gd name="connsiteX41" fmla="*/ 441068 w 638784"/>
              <a:gd name="connsiteY41" fmla="*/ 147282 h 593177"/>
              <a:gd name="connsiteX42" fmla="*/ 380223 w 638784"/>
              <a:gd name="connsiteY42" fmla="*/ 136873 h 593177"/>
              <a:gd name="connsiteX43" fmla="*/ 259581 w 638784"/>
              <a:gd name="connsiteY43" fmla="*/ 182506 h 593177"/>
              <a:gd name="connsiteX44" fmla="*/ 106478 w 638784"/>
              <a:gd name="connsiteY44" fmla="*/ 182506 h 593177"/>
              <a:gd name="connsiteX45" fmla="*/ 106478 w 638784"/>
              <a:gd name="connsiteY45" fmla="*/ 212928 h 593177"/>
              <a:gd name="connsiteX46" fmla="*/ 232030 w 638784"/>
              <a:gd name="connsiteY46" fmla="*/ 212928 h 593177"/>
              <a:gd name="connsiteX47" fmla="*/ 214324 w 638784"/>
              <a:gd name="connsiteY47" fmla="*/ 243350 h 593177"/>
              <a:gd name="connsiteX48" fmla="*/ 106478 w 638784"/>
              <a:gd name="connsiteY48" fmla="*/ 243350 h 593177"/>
              <a:gd name="connsiteX49" fmla="*/ 106478 w 638784"/>
              <a:gd name="connsiteY49" fmla="*/ 273772 h 593177"/>
              <a:gd name="connsiteX50" fmla="*/ 203485 w 638784"/>
              <a:gd name="connsiteY50" fmla="*/ 273772 h 593177"/>
              <a:gd name="connsiteX51" fmla="*/ 198415 w 638784"/>
              <a:gd name="connsiteY51" fmla="*/ 304194 h 593177"/>
              <a:gd name="connsiteX52" fmla="*/ 106478 w 638784"/>
              <a:gd name="connsiteY52" fmla="*/ 304194 h 593177"/>
              <a:gd name="connsiteX53" fmla="*/ 106478 w 638784"/>
              <a:gd name="connsiteY53" fmla="*/ 334616 h 593177"/>
              <a:gd name="connsiteX54" fmla="*/ 198415 w 638784"/>
              <a:gd name="connsiteY54" fmla="*/ 334616 h 593177"/>
              <a:gd name="connsiteX55" fmla="*/ 203485 w 638784"/>
              <a:gd name="connsiteY55" fmla="*/ 365038 h 593177"/>
              <a:gd name="connsiteX56" fmla="*/ 106478 w 638784"/>
              <a:gd name="connsiteY56" fmla="*/ 365038 h 593177"/>
              <a:gd name="connsiteX57" fmla="*/ 106478 w 638784"/>
              <a:gd name="connsiteY57" fmla="*/ 395461 h 593177"/>
              <a:gd name="connsiteX58" fmla="*/ 214351 w 638784"/>
              <a:gd name="connsiteY58" fmla="*/ 395461 h 593177"/>
              <a:gd name="connsiteX59" fmla="*/ 232057 w 638784"/>
              <a:gd name="connsiteY59" fmla="*/ 425883 h 593177"/>
              <a:gd name="connsiteX60" fmla="*/ 106478 w 638784"/>
              <a:gd name="connsiteY60" fmla="*/ 425883 h 593177"/>
              <a:gd name="connsiteX61" fmla="*/ 106478 w 638784"/>
              <a:gd name="connsiteY61" fmla="*/ 456305 h 593177"/>
              <a:gd name="connsiteX62" fmla="*/ 259608 w 638784"/>
              <a:gd name="connsiteY62" fmla="*/ 456305 h 593177"/>
              <a:gd name="connsiteX63" fmla="*/ 380223 w 638784"/>
              <a:gd name="connsiteY63" fmla="*/ 501884 h 593177"/>
              <a:gd name="connsiteX64" fmla="*/ 441068 w 638784"/>
              <a:gd name="connsiteY64" fmla="*/ 491475 h 593177"/>
              <a:gd name="connsiteX65" fmla="*/ 441068 w 638784"/>
              <a:gd name="connsiteY65" fmla="*/ 532440 h 593177"/>
              <a:gd name="connsiteX66" fmla="*/ 60845 w 638784"/>
              <a:gd name="connsiteY66" fmla="*/ 532306 h 59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8784" h="593177">
                <a:moveTo>
                  <a:pt x="533728" y="421322"/>
                </a:moveTo>
                <a:lnTo>
                  <a:pt x="638784" y="511381"/>
                </a:lnTo>
                <a:lnTo>
                  <a:pt x="574264" y="575901"/>
                </a:lnTo>
                <a:lnTo>
                  <a:pt x="484205" y="470845"/>
                </a:lnTo>
                <a:cubicBezTo>
                  <a:pt x="503735" y="457673"/>
                  <a:pt x="520556" y="440852"/>
                  <a:pt x="533728" y="421322"/>
                </a:cubicBezTo>
                <a:close/>
                <a:moveTo>
                  <a:pt x="351921" y="284745"/>
                </a:moveTo>
                <a:cubicBezTo>
                  <a:pt x="340948" y="284745"/>
                  <a:pt x="335717" y="295851"/>
                  <a:pt x="335717" y="319003"/>
                </a:cubicBezTo>
                <a:cubicBezTo>
                  <a:pt x="335717" y="342960"/>
                  <a:pt x="340814" y="354093"/>
                  <a:pt x="351921" y="354093"/>
                </a:cubicBezTo>
                <a:cubicBezTo>
                  <a:pt x="362893" y="354093"/>
                  <a:pt x="368124" y="342960"/>
                  <a:pt x="368124" y="319405"/>
                </a:cubicBezTo>
                <a:cubicBezTo>
                  <a:pt x="368124" y="295851"/>
                  <a:pt x="362893" y="284745"/>
                  <a:pt x="351921" y="284745"/>
                </a:cubicBezTo>
                <a:close/>
                <a:moveTo>
                  <a:pt x="427009" y="273101"/>
                </a:moveTo>
                <a:lnTo>
                  <a:pt x="441067" y="273101"/>
                </a:lnTo>
                <a:lnTo>
                  <a:pt x="441067" y="365736"/>
                </a:lnTo>
                <a:lnTo>
                  <a:pt x="425266" y="365736"/>
                </a:lnTo>
                <a:lnTo>
                  <a:pt x="425266" y="291022"/>
                </a:lnTo>
                <a:lnTo>
                  <a:pt x="408418" y="302423"/>
                </a:lnTo>
                <a:lnTo>
                  <a:pt x="401443" y="289707"/>
                </a:lnTo>
                <a:close/>
                <a:moveTo>
                  <a:pt x="351921" y="271626"/>
                </a:moveTo>
                <a:cubicBezTo>
                  <a:pt x="374026" y="271626"/>
                  <a:pt x="384462" y="287025"/>
                  <a:pt x="384462" y="319405"/>
                </a:cubicBezTo>
                <a:cubicBezTo>
                  <a:pt x="384462" y="351813"/>
                  <a:pt x="374026" y="367212"/>
                  <a:pt x="351921" y="367212"/>
                </a:cubicBezTo>
                <a:cubicBezTo>
                  <a:pt x="329708" y="367212"/>
                  <a:pt x="319406" y="351947"/>
                  <a:pt x="319406" y="318869"/>
                </a:cubicBezTo>
                <a:cubicBezTo>
                  <a:pt x="319406" y="287025"/>
                  <a:pt x="329976" y="271626"/>
                  <a:pt x="351921" y="271626"/>
                </a:cubicBezTo>
                <a:close/>
                <a:moveTo>
                  <a:pt x="380250" y="205362"/>
                </a:moveTo>
                <a:cubicBezTo>
                  <a:pt x="317259" y="205362"/>
                  <a:pt x="266180" y="256441"/>
                  <a:pt x="266180" y="319432"/>
                </a:cubicBezTo>
                <a:cubicBezTo>
                  <a:pt x="266180" y="382422"/>
                  <a:pt x="317259" y="433501"/>
                  <a:pt x="380250" y="433501"/>
                </a:cubicBezTo>
                <a:cubicBezTo>
                  <a:pt x="443240" y="433501"/>
                  <a:pt x="494319" y="382422"/>
                  <a:pt x="494319" y="319432"/>
                </a:cubicBezTo>
                <a:cubicBezTo>
                  <a:pt x="494319" y="256441"/>
                  <a:pt x="443240" y="205362"/>
                  <a:pt x="380250" y="205362"/>
                </a:cubicBezTo>
                <a:close/>
                <a:moveTo>
                  <a:pt x="380223" y="167348"/>
                </a:moveTo>
                <a:cubicBezTo>
                  <a:pt x="464219" y="167348"/>
                  <a:pt x="532306" y="235436"/>
                  <a:pt x="532306" y="319432"/>
                </a:cubicBezTo>
                <a:cubicBezTo>
                  <a:pt x="532306" y="403428"/>
                  <a:pt x="464219" y="471515"/>
                  <a:pt x="380223" y="471515"/>
                </a:cubicBezTo>
                <a:cubicBezTo>
                  <a:pt x="296227" y="471515"/>
                  <a:pt x="228139" y="403428"/>
                  <a:pt x="228139" y="319432"/>
                </a:cubicBezTo>
                <a:cubicBezTo>
                  <a:pt x="228139" y="235436"/>
                  <a:pt x="296253" y="167348"/>
                  <a:pt x="380223" y="167348"/>
                </a:cubicBezTo>
                <a:close/>
                <a:moveTo>
                  <a:pt x="27" y="60683"/>
                </a:moveTo>
                <a:lnTo>
                  <a:pt x="30422" y="60871"/>
                </a:lnTo>
                <a:lnTo>
                  <a:pt x="30422" y="562782"/>
                </a:lnTo>
                <a:lnTo>
                  <a:pt x="365441" y="562594"/>
                </a:lnTo>
                <a:lnTo>
                  <a:pt x="365441" y="593177"/>
                </a:lnTo>
                <a:lnTo>
                  <a:pt x="0" y="593177"/>
                </a:lnTo>
                <a:close/>
                <a:moveTo>
                  <a:pt x="60845" y="0"/>
                </a:moveTo>
                <a:lnTo>
                  <a:pt x="304168" y="134"/>
                </a:lnTo>
                <a:lnTo>
                  <a:pt x="441068" y="134"/>
                </a:lnTo>
                <a:lnTo>
                  <a:pt x="441068" y="147282"/>
                </a:lnTo>
                <a:cubicBezTo>
                  <a:pt x="422047" y="140548"/>
                  <a:pt x="401578" y="136873"/>
                  <a:pt x="380223" y="136873"/>
                </a:cubicBezTo>
                <a:cubicBezTo>
                  <a:pt x="333973" y="136873"/>
                  <a:pt x="291747" y="154123"/>
                  <a:pt x="259581" y="182506"/>
                </a:cubicBezTo>
                <a:lnTo>
                  <a:pt x="106478" y="182506"/>
                </a:lnTo>
                <a:lnTo>
                  <a:pt x="106478" y="212928"/>
                </a:lnTo>
                <a:lnTo>
                  <a:pt x="232030" y="212928"/>
                </a:lnTo>
                <a:cubicBezTo>
                  <a:pt x="225189" y="222425"/>
                  <a:pt x="219260" y="232619"/>
                  <a:pt x="214324" y="243350"/>
                </a:cubicBezTo>
                <a:lnTo>
                  <a:pt x="106478" y="243350"/>
                </a:lnTo>
                <a:lnTo>
                  <a:pt x="106478" y="273772"/>
                </a:lnTo>
                <a:lnTo>
                  <a:pt x="203485" y="273772"/>
                </a:lnTo>
                <a:cubicBezTo>
                  <a:pt x="200964" y="283618"/>
                  <a:pt x="199274" y="293785"/>
                  <a:pt x="198415" y="304194"/>
                </a:cubicBezTo>
                <a:lnTo>
                  <a:pt x="106478" y="304194"/>
                </a:lnTo>
                <a:lnTo>
                  <a:pt x="106478" y="334616"/>
                </a:lnTo>
                <a:lnTo>
                  <a:pt x="198415" y="334616"/>
                </a:lnTo>
                <a:cubicBezTo>
                  <a:pt x="199274" y="345025"/>
                  <a:pt x="200964" y="355193"/>
                  <a:pt x="203485" y="365038"/>
                </a:cubicBezTo>
                <a:lnTo>
                  <a:pt x="106478" y="365038"/>
                </a:lnTo>
                <a:lnTo>
                  <a:pt x="106478" y="395461"/>
                </a:lnTo>
                <a:lnTo>
                  <a:pt x="214351" y="395461"/>
                </a:lnTo>
                <a:cubicBezTo>
                  <a:pt x="219287" y="406218"/>
                  <a:pt x="225216" y="416386"/>
                  <a:pt x="232057" y="425883"/>
                </a:cubicBezTo>
                <a:lnTo>
                  <a:pt x="106478" y="425883"/>
                </a:lnTo>
                <a:lnTo>
                  <a:pt x="106478" y="456305"/>
                </a:lnTo>
                <a:lnTo>
                  <a:pt x="259608" y="456305"/>
                </a:lnTo>
                <a:cubicBezTo>
                  <a:pt x="291774" y="484688"/>
                  <a:pt x="333973" y="501938"/>
                  <a:pt x="380223" y="501884"/>
                </a:cubicBezTo>
                <a:cubicBezTo>
                  <a:pt x="401578" y="501884"/>
                  <a:pt x="422047" y="498209"/>
                  <a:pt x="441068" y="491475"/>
                </a:cubicBezTo>
                <a:lnTo>
                  <a:pt x="441068" y="532440"/>
                </a:lnTo>
                <a:lnTo>
                  <a:pt x="60845" y="532306"/>
                </a:lnTo>
                <a:close/>
              </a:path>
            </a:pathLst>
          </a:custGeom>
          <a:solidFill>
            <a:schemeClr val="tx1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9" name="Freihandform: Form 40">
            <a:extLst>
              <a:ext uri="{FF2B5EF4-FFF2-40B4-BE49-F238E27FC236}">
                <a16:creationId xmlns:a16="http://schemas.microsoft.com/office/drawing/2014/main" id="{A1A596C5-5226-C740-959A-DEA57A010820}"/>
              </a:ext>
            </a:extLst>
          </p:cNvPr>
          <p:cNvSpPr/>
          <p:nvPr/>
        </p:nvSpPr>
        <p:spPr bwMode="gray">
          <a:xfrm>
            <a:off x="5400057" y="1433744"/>
            <a:ext cx="255260" cy="422168"/>
          </a:xfrm>
          <a:custGeom>
            <a:avLst/>
            <a:gdLst>
              <a:gd name="connsiteX0" fmla="*/ 245323 w 340238"/>
              <a:gd name="connsiteY0" fmla="*/ 505475 h 562712"/>
              <a:gd name="connsiteX1" fmla="*/ 168624 w 340238"/>
              <a:gd name="connsiteY1" fmla="*/ 562698 h 562712"/>
              <a:gd name="connsiteX2" fmla="*/ 100241 w 340238"/>
              <a:gd name="connsiteY2" fmla="*/ 519989 h 562712"/>
              <a:gd name="connsiteX3" fmla="*/ 253746 w 340238"/>
              <a:gd name="connsiteY3" fmla="*/ 433149 h 562712"/>
              <a:gd name="connsiteX4" fmla="*/ 253746 w 340238"/>
              <a:gd name="connsiteY4" fmla="*/ 473739 h 562712"/>
              <a:gd name="connsiteX5" fmla="*/ 91227 w 340238"/>
              <a:gd name="connsiteY5" fmla="*/ 489459 h 562712"/>
              <a:gd name="connsiteX6" fmla="*/ 91227 w 340238"/>
              <a:gd name="connsiteY6" fmla="*/ 448870 h 562712"/>
              <a:gd name="connsiteX7" fmla="*/ 253746 w 340238"/>
              <a:gd name="connsiteY7" fmla="*/ 361171 h 562712"/>
              <a:gd name="connsiteX8" fmla="*/ 253746 w 340238"/>
              <a:gd name="connsiteY8" fmla="*/ 401761 h 562712"/>
              <a:gd name="connsiteX9" fmla="*/ 91227 w 340238"/>
              <a:gd name="connsiteY9" fmla="*/ 417481 h 562712"/>
              <a:gd name="connsiteX10" fmla="*/ 91227 w 340238"/>
              <a:gd name="connsiteY10" fmla="*/ 376892 h 562712"/>
              <a:gd name="connsiteX11" fmla="*/ 165941 w 340238"/>
              <a:gd name="connsiteY11" fmla="*/ 50 h 562712"/>
              <a:gd name="connsiteX12" fmla="*/ 340238 w 340238"/>
              <a:gd name="connsiteY12" fmla="*/ 170107 h 562712"/>
              <a:gd name="connsiteX13" fmla="*/ 270997 w 340238"/>
              <a:gd name="connsiteY13" fmla="*/ 307141 h 562712"/>
              <a:gd name="connsiteX14" fmla="*/ 253773 w 340238"/>
              <a:gd name="connsiteY14" fmla="*/ 329327 h 562712"/>
              <a:gd name="connsiteX15" fmla="*/ 91254 w 340238"/>
              <a:gd name="connsiteY15" fmla="*/ 345531 h 562712"/>
              <a:gd name="connsiteX16" fmla="*/ 69336 w 340238"/>
              <a:gd name="connsiteY16" fmla="*/ 307195 h 562712"/>
              <a:gd name="connsiteX17" fmla="*/ 95 w 340238"/>
              <a:gd name="connsiteY17" fmla="*/ 164340 h 562712"/>
              <a:gd name="connsiteX18" fmla="*/ 165941 w 340238"/>
              <a:gd name="connsiteY18" fmla="*/ 50 h 5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0238" h="562712">
                <a:moveTo>
                  <a:pt x="245323" y="505475"/>
                </a:moveTo>
                <a:cubicBezTo>
                  <a:pt x="235477" y="538687"/>
                  <a:pt x="204733" y="563395"/>
                  <a:pt x="168624" y="562698"/>
                </a:cubicBezTo>
                <a:cubicBezTo>
                  <a:pt x="138792" y="562161"/>
                  <a:pt x="113011" y="544965"/>
                  <a:pt x="100241" y="519989"/>
                </a:cubicBezTo>
                <a:close/>
                <a:moveTo>
                  <a:pt x="253746" y="433149"/>
                </a:moveTo>
                <a:lnTo>
                  <a:pt x="253746" y="473739"/>
                </a:lnTo>
                <a:lnTo>
                  <a:pt x="91227" y="489459"/>
                </a:lnTo>
                <a:lnTo>
                  <a:pt x="91227" y="448870"/>
                </a:lnTo>
                <a:close/>
                <a:moveTo>
                  <a:pt x="253746" y="361171"/>
                </a:moveTo>
                <a:lnTo>
                  <a:pt x="253746" y="401761"/>
                </a:lnTo>
                <a:lnTo>
                  <a:pt x="91227" y="417481"/>
                </a:lnTo>
                <a:lnTo>
                  <a:pt x="91227" y="376892"/>
                </a:lnTo>
                <a:close/>
                <a:moveTo>
                  <a:pt x="165941" y="50"/>
                </a:moveTo>
                <a:cubicBezTo>
                  <a:pt x="261822" y="-2258"/>
                  <a:pt x="340238" y="74790"/>
                  <a:pt x="340238" y="170107"/>
                </a:cubicBezTo>
                <a:cubicBezTo>
                  <a:pt x="340238" y="226310"/>
                  <a:pt x="312981" y="276156"/>
                  <a:pt x="270997" y="307141"/>
                </a:cubicBezTo>
                <a:cubicBezTo>
                  <a:pt x="263136" y="312909"/>
                  <a:pt x="257556" y="320608"/>
                  <a:pt x="253773" y="329327"/>
                </a:cubicBezTo>
                <a:lnTo>
                  <a:pt x="91254" y="345531"/>
                </a:lnTo>
                <a:cubicBezTo>
                  <a:pt x="89483" y="330373"/>
                  <a:pt x="81730" y="316343"/>
                  <a:pt x="69336" y="307195"/>
                </a:cubicBezTo>
                <a:cubicBezTo>
                  <a:pt x="25849" y="275163"/>
                  <a:pt x="-1837" y="222904"/>
                  <a:pt x="95" y="164340"/>
                </a:cubicBezTo>
                <a:cubicBezTo>
                  <a:pt x="3073" y="74763"/>
                  <a:pt x="76365" y="2196"/>
                  <a:pt x="165941" y="50"/>
                </a:cubicBezTo>
                <a:close/>
              </a:path>
            </a:pathLst>
          </a:custGeom>
          <a:solidFill>
            <a:schemeClr val="tx1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0" name="Freihandform: Form 43">
            <a:extLst>
              <a:ext uri="{FF2B5EF4-FFF2-40B4-BE49-F238E27FC236}">
                <a16:creationId xmlns:a16="http://schemas.microsoft.com/office/drawing/2014/main" id="{C5CABD73-BCB3-203A-C489-A35249F872DE}"/>
              </a:ext>
            </a:extLst>
          </p:cNvPr>
          <p:cNvSpPr/>
          <p:nvPr/>
        </p:nvSpPr>
        <p:spPr bwMode="gray">
          <a:xfrm>
            <a:off x="5402378" y="5069989"/>
            <a:ext cx="250619" cy="422221"/>
          </a:xfrm>
          <a:custGeom>
            <a:avLst/>
            <a:gdLst>
              <a:gd name="connsiteX0" fmla="*/ 324234 w 334052"/>
              <a:gd name="connsiteY0" fmla="*/ 562782 h 562782"/>
              <a:gd name="connsiteX1" fmla="*/ 334053 w 334052"/>
              <a:gd name="connsiteY1" fmla="*/ 492951 h 562782"/>
              <a:gd name="connsiteX2" fmla="*/ 281150 w 334052"/>
              <a:gd name="connsiteY2" fmla="*/ 347601 h 562782"/>
              <a:gd name="connsiteX3" fmla="*/ 299419 w 334052"/>
              <a:gd name="connsiteY3" fmla="*/ 347601 h 562782"/>
              <a:gd name="connsiteX4" fmla="*/ 315971 w 334052"/>
              <a:gd name="connsiteY4" fmla="*/ 331048 h 562782"/>
              <a:gd name="connsiteX5" fmla="*/ 315971 w 334052"/>
              <a:gd name="connsiteY5" fmla="*/ 331048 h 562782"/>
              <a:gd name="connsiteX6" fmla="*/ 299419 w 334052"/>
              <a:gd name="connsiteY6" fmla="*/ 314496 h 562782"/>
              <a:gd name="connsiteX7" fmla="*/ 269104 w 334052"/>
              <a:gd name="connsiteY7" fmla="*/ 314496 h 562782"/>
              <a:gd name="connsiteX8" fmla="*/ 207026 w 334052"/>
              <a:gd name="connsiteY8" fmla="*/ 143901 h 562782"/>
              <a:gd name="connsiteX9" fmla="*/ 227012 w 334052"/>
              <a:gd name="connsiteY9" fmla="*/ 99315 h 562782"/>
              <a:gd name="connsiteX10" fmla="*/ 183579 w 334052"/>
              <a:gd name="connsiteY10" fmla="*/ 41690 h 562782"/>
              <a:gd name="connsiteX11" fmla="*/ 183579 w 334052"/>
              <a:gd name="connsiteY11" fmla="*/ 16553 h 562782"/>
              <a:gd name="connsiteX12" fmla="*/ 167026 w 334052"/>
              <a:gd name="connsiteY12" fmla="*/ 0 h 562782"/>
              <a:gd name="connsiteX13" fmla="*/ 150474 w 334052"/>
              <a:gd name="connsiteY13" fmla="*/ 16553 h 562782"/>
              <a:gd name="connsiteX14" fmla="*/ 150474 w 334052"/>
              <a:gd name="connsiteY14" fmla="*/ 41690 h 562782"/>
              <a:gd name="connsiteX15" fmla="*/ 107041 w 334052"/>
              <a:gd name="connsiteY15" fmla="*/ 99315 h 562782"/>
              <a:gd name="connsiteX16" fmla="*/ 127027 w 334052"/>
              <a:gd name="connsiteY16" fmla="*/ 143901 h 562782"/>
              <a:gd name="connsiteX17" fmla="*/ 64949 w 334052"/>
              <a:gd name="connsiteY17" fmla="*/ 314496 h 562782"/>
              <a:gd name="connsiteX18" fmla="*/ 34634 w 334052"/>
              <a:gd name="connsiteY18" fmla="*/ 314496 h 562782"/>
              <a:gd name="connsiteX19" fmla="*/ 18082 w 334052"/>
              <a:gd name="connsiteY19" fmla="*/ 331048 h 562782"/>
              <a:gd name="connsiteX20" fmla="*/ 18082 w 334052"/>
              <a:gd name="connsiteY20" fmla="*/ 331048 h 562782"/>
              <a:gd name="connsiteX21" fmla="*/ 34634 w 334052"/>
              <a:gd name="connsiteY21" fmla="*/ 347601 h 562782"/>
              <a:gd name="connsiteX22" fmla="*/ 52903 w 334052"/>
              <a:gd name="connsiteY22" fmla="*/ 347601 h 562782"/>
              <a:gd name="connsiteX23" fmla="*/ 0 w 334052"/>
              <a:gd name="connsiteY23" fmla="*/ 492951 h 562782"/>
              <a:gd name="connsiteX24" fmla="*/ 9819 w 334052"/>
              <a:gd name="connsiteY24" fmla="*/ 562782 h 562782"/>
              <a:gd name="connsiteX25" fmla="*/ 9792 w 334052"/>
              <a:gd name="connsiteY25" fmla="*/ 562782 h 562782"/>
              <a:gd name="connsiteX26" fmla="*/ 9819 w 334052"/>
              <a:gd name="connsiteY26" fmla="*/ 562782 h 562782"/>
              <a:gd name="connsiteX27" fmla="*/ 88128 w 334052"/>
              <a:gd name="connsiteY27" fmla="*/ 347628 h 562782"/>
              <a:gd name="connsiteX28" fmla="*/ 150501 w 334052"/>
              <a:gd name="connsiteY28" fmla="*/ 347628 h 562782"/>
              <a:gd name="connsiteX29" fmla="*/ 150501 w 334052"/>
              <a:gd name="connsiteY29" fmla="*/ 364180 h 562782"/>
              <a:gd name="connsiteX30" fmla="*/ 167053 w 334052"/>
              <a:gd name="connsiteY30" fmla="*/ 380732 h 562782"/>
              <a:gd name="connsiteX31" fmla="*/ 183606 w 334052"/>
              <a:gd name="connsiteY31" fmla="*/ 364180 h 562782"/>
              <a:gd name="connsiteX32" fmla="*/ 183606 w 334052"/>
              <a:gd name="connsiteY32" fmla="*/ 347628 h 562782"/>
              <a:gd name="connsiteX33" fmla="*/ 245979 w 334052"/>
              <a:gd name="connsiteY33" fmla="*/ 347628 h 562782"/>
              <a:gd name="connsiteX34" fmla="*/ 324234 w 334052"/>
              <a:gd name="connsiteY34" fmla="*/ 562782 h 562782"/>
              <a:gd name="connsiteX35" fmla="*/ 167000 w 334052"/>
              <a:gd name="connsiteY35" fmla="*/ 74097 h 562782"/>
              <a:gd name="connsiteX36" fmla="*/ 192244 w 334052"/>
              <a:gd name="connsiteY36" fmla="*/ 99341 h 562782"/>
              <a:gd name="connsiteX37" fmla="*/ 167000 w 334052"/>
              <a:gd name="connsiteY37" fmla="*/ 124586 h 562782"/>
              <a:gd name="connsiteX38" fmla="*/ 141755 w 334052"/>
              <a:gd name="connsiteY38" fmla="*/ 99341 h 562782"/>
              <a:gd name="connsiteX39" fmla="*/ 167000 w 334052"/>
              <a:gd name="connsiteY39" fmla="*/ 74097 h 562782"/>
              <a:gd name="connsiteX40" fmla="*/ 183552 w 334052"/>
              <a:gd name="connsiteY40" fmla="*/ 314496 h 562782"/>
              <a:gd name="connsiteX41" fmla="*/ 183552 w 334052"/>
              <a:gd name="connsiteY41" fmla="*/ 297943 h 562782"/>
              <a:gd name="connsiteX42" fmla="*/ 167000 w 334052"/>
              <a:gd name="connsiteY42" fmla="*/ 281391 h 562782"/>
              <a:gd name="connsiteX43" fmla="*/ 150447 w 334052"/>
              <a:gd name="connsiteY43" fmla="*/ 297943 h 562782"/>
              <a:gd name="connsiteX44" fmla="*/ 150447 w 334052"/>
              <a:gd name="connsiteY44" fmla="*/ 314496 h 562782"/>
              <a:gd name="connsiteX45" fmla="*/ 100119 w 334052"/>
              <a:gd name="connsiteY45" fmla="*/ 314496 h 562782"/>
              <a:gd name="connsiteX46" fmla="*/ 156939 w 334052"/>
              <a:gd name="connsiteY46" fmla="*/ 158415 h 562782"/>
              <a:gd name="connsiteX47" fmla="*/ 167000 w 334052"/>
              <a:gd name="connsiteY47" fmla="*/ 159327 h 562782"/>
              <a:gd name="connsiteX48" fmla="*/ 177060 w 334052"/>
              <a:gd name="connsiteY48" fmla="*/ 158415 h 562782"/>
              <a:gd name="connsiteX49" fmla="*/ 233880 w 334052"/>
              <a:gd name="connsiteY49" fmla="*/ 314496 h 562782"/>
              <a:gd name="connsiteX50" fmla="*/ 183552 w 334052"/>
              <a:gd name="connsiteY50" fmla="*/ 314496 h 562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34052" h="562782">
                <a:moveTo>
                  <a:pt x="324234" y="562782"/>
                </a:moveTo>
                <a:lnTo>
                  <a:pt x="334053" y="492951"/>
                </a:lnTo>
                <a:lnTo>
                  <a:pt x="281150" y="347601"/>
                </a:lnTo>
                <a:lnTo>
                  <a:pt x="299419" y="347601"/>
                </a:lnTo>
                <a:cubicBezTo>
                  <a:pt x="308567" y="347601"/>
                  <a:pt x="315971" y="340196"/>
                  <a:pt x="315971" y="331048"/>
                </a:cubicBezTo>
                <a:lnTo>
                  <a:pt x="315971" y="331048"/>
                </a:lnTo>
                <a:cubicBezTo>
                  <a:pt x="315971" y="321900"/>
                  <a:pt x="308567" y="314496"/>
                  <a:pt x="299419" y="314496"/>
                </a:cubicBezTo>
                <a:lnTo>
                  <a:pt x="269104" y="314496"/>
                </a:lnTo>
                <a:lnTo>
                  <a:pt x="207026" y="143901"/>
                </a:lnTo>
                <a:cubicBezTo>
                  <a:pt x="219259" y="132902"/>
                  <a:pt x="227012" y="117020"/>
                  <a:pt x="227012" y="99315"/>
                </a:cubicBezTo>
                <a:cubicBezTo>
                  <a:pt x="227012" y="71978"/>
                  <a:pt x="208609" y="48906"/>
                  <a:pt x="183579" y="41690"/>
                </a:cubicBezTo>
                <a:lnTo>
                  <a:pt x="183579" y="16553"/>
                </a:lnTo>
                <a:cubicBezTo>
                  <a:pt x="183579" y="7404"/>
                  <a:pt x="176175" y="0"/>
                  <a:pt x="167026" y="0"/>
                </a:cubicBezTo>
                <a:cubicBezTo>
                  <a:pt x="157878" y="0"/>
                  <a:pt x="150474" y="7404"/>
                  <a:pt x="150474" y="16553"/>
                </a:cubicBezTo>
                <a:lnTo>
                  <a:pt x="150474" y="41690"/>
                </a:lnTo>
                <a:cubicBezTo>
                  <a:pt x="125417" y="48906"/>
                  <a:pt x="107041" y="71978"/>
                  <a:pt x="107041" y="99315"/>
                </a:cubicBezTo>
                <a:cubicBezTo>
                  <a:pt x="107041" y="117020"/>
                  <a:pt x="114794" y="132902"/>
                  <a:pt x="127027" y="143901"/>
                </a:cubicBezTo>
                <a:lnTo>
                  <a:pt x="64949" y="314496"/>
                </a:lnTo>
                <a:lnTo>
                  <a:pt x="34634" y="314496"/>
                </a:lnTo>
                <a:cubicBezTo>
                  <a:pt x="25486" y="314496"/>
                  <a:pt x="18082" y="321900"/>
                  <a:pt x="18082" y="331048"/>
                </a:cubicBezTo>
                <a:lnTo>
                  <a:pt x="18082" y="331048"/>
                </a:lnTo>
                <a:cubicBezTo>
                  <a:pt x="18082" y="340196"/>
                  <a:pt x="25486" y="347601"/>
                  <a:pt x="34634" y="347601"/>
                </a:cubicBezTo>
                <a:lnTo>
                  <a:pt x="52903" y="347601"/>
                </a:lnTo>
                <a:lnTo>
                  <a:pt x="0" y="492951"/>
                </a:lnTo>
                <a:lnTo>
                  <a:pt x="9819" y="562782"/>
                </a:lnTo>
                <a:lnTo>
                  <a:pt x="9792" y="562782"/>
                </a:lnTo>
                <a:lnTo>
                  <a:pt x="9819" y="562782"/>
                </a:lnTo>
                <a:lnTo>
                  <a:pt x="88128" y="347628"/>
                </a:lnTo>
                <a:lnTo>
                  <a:pt x="150501" y="347628"/>
                </a:lnTo>
                <a:lnTo>
                  <a:pt x="150501" y="364180"/>
                </a:lnTo>
                <a:cubicBezTo>
                  <a:pt x="150501" y="373328"/>
                  <a:pt x="157905" y="380732"/>
                  <a:pt x="167053" y="380732"/>
                </a:cubicBezTo>
                <a:cubicBezTo>
                  <a:pt x="176201" y="380732"/>
                  <a:pt x="183606" y="373328"/>
                  <a:pt x="183606" y="364180"/>
                </a:cubicBezTo>
                <a:lnTo>
                  <a:pt x="183606" y="347628"/>
                </a:lnTo>
                <a:lnTo>
                  <a:pt x="245979" y="347628"/>
                </a:lnTo>
                <a:lnTo>
                  <a:pt x="324234" y="562782"/>
                </a:lnTo>
                <a:close/>
                <a:moveTo>
                  <a:pt x="167000" y="74097"/>
                </a:moveTo>
                <a:cubicBezTo>
                  <a:pt x="180950" y="74097"/>
                  <a:pt x="192244" y="85391"/>
                  <a:pt x="192244" y="99341"/>
                </a:cubicBezTo>
                <a:cubicBezTo>
                  <a:pt x="192244" y="113292"/>
                  <a:pt x="180950" y="124586"/>
                  <a:pt x="167000" y="124586"/>
                </a:cubicBezTo>
                <a:cubicBezTo>
                  <a:pt x="153049" y="124586"/>
                  <a:pt x="141755" y="113292"/>
                  <a:pt x="141755" y="99341"/>
                </a:cubicBezTo>
                <a:cubicBezTo>
                  <a:pt x="141755" y="85418"/>
                  <a:pt x="153049" y="74097"/>
                  <a:pt x="167000" y="74097"/>
                </a:cubicBezTo>
                <a:close/>
                <a:moveTo>
                  <a:pt x="183552" y="314496"/>
                </a:moveTo>
                <a:lnTo>
                  <a:pt x="183552" y="297943"/>
                </a:lnTo>
                <a:cubicBezTo>
                  <a:pt x="183552" y="288795"/>
                  <a:pt x="176148" y="281391"/>
                  <a:pt x="167000" y="281391"/>
                </a:cubicBezTo>
                <a:cubicBezTo>
                  <a:pt x="157852" y="281391"/>
                  <a:pt x="150447" y="288795"/>
                  <a:pt x="150447" y="297943"/>
                </a:cubicBezTo>
                <a:lnTo>
                  <a:pt x="150447" y="314496"/>
                </a:lnTo>
                <a:lnTo>
                  <a:pt x="100119" y="314496"/>
                </a:lnTo>
                <a:lnTo>
                  <a:pt x="156939" y="158415"/>
                </a:lnTo>
                <a:cubicBezTo>
                  <a:pt x="160212" y="158978"/>
                  <a:pt x="163566" y="159327"/>
                  <a:pt x="167000" y="159327"/>
                </a:cubicBezTo>
                <a:cubicBezTo>
                  <a:pt x="170434" y="159327"/>
                  <a:pt x="173787" y="158978"/>
                  <a:pt x="177060" y="158415"/>
                </a:cubicBezTo>
                <a:lnTo>
                  <a:pt x="233880" y="314496"/>
                </a:lnTo>
                <a:lnTo>
                  <a:pt x="183552" y="314496"/>
                </a:lnTo>
                <a:close/>
              </a:path>
            </a:pathLst>
          </a:custGeom>
          <a:solidFill>
            <a:schemeClr val="tx1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" name="Freihandform: Form 46">
            <a:extLst>
              <a:ext uri="{FF2B5EF4-FFF2-40B4-BE49-F238E27FC236}">
                <a16:creationId xmlns:a16="http://schemas.microsoft.com/office/drawing/2014/main" id="{0BBAD786-21AD-CCB4-CB49-52EE037D9A37}"/>
              </a:ext>
            </a:extLst>
          </p:cNvPr>
          <p:cNvSpPr/>
          <p:nvPr/>
        </p:nvSpPr>
        <p:spPr bwMode="gray">
          <a:xfrm>
            <a:off x="6315493" y="1456927"/>
            <a:ext cx="444988" cy="456414"/>
          </a:xfrm>
          <a:custGeom>
            <a:avLst/>
            <a:gdLst>
              <a:gd name="connsiteX0" fmla="*/ 370940 w 593129"/>
              <a:gd name="connsiteY0" fmla="*/ 541532 h 608359"/>
              <a:gd name="connsiteX1" fmla="*/ 383844 w 593129"/>
              <a:gd name="connsiteY1" fmla="*/ 541532 h 608359"/>
              <a:gd name="connsiteX2" fmla="*/ 383844 w 593129"/>
              <a:gd name="connsiteY2" fmla="*/ 608359 h 608359"/>
              <a:gd name="connsiteX3" fmla="*/ 369277 w 593129"/>
              <a:gd name="connsiteY3" fmla="*/ 608359 h 608359"/>
              <a:gd name="connsiteX4" fmla="*/ 369277 w 593129"/>
              <a:gd name="connsiteY4" fmla="*/ 557199 h 608359"/>
              <a:gd name="connsiteX5" fmla="*/ 356373 w 593129"/>
              <a:gd name="connsiteY5" fmla="*/ 565247 h 608359"/>
              <a:gd name="connsiteX6" fmla="*/ 349559 w 593129"/>
              <a:gd name="connsiteY6" fmla="*/ 554087 h 608359"/>
              <a:gd name="connsiteX7" fmla="*/ 226448 w 593129"/>
              <a:gd name="connsiteY7" fmla="*/ 541532 h 608359"/>
              <a:gd name="connsiteX8" fmla="*/ 239352 w 593129"/>
              <a:gd name="connsiteY8" fmla="*/ 541532 h 608359"/>
              <a:gd name="connsiteX9" fmla="*/ 239352 w 593129"/>
              <a:gd name="connsiteY9" fmla="*/ 608359 h 608359"/>
              <a:gd name="connsiteX10" fmla="*/ 224785 w 593129"/>
              <a:gd name="connsiteY10" fmla="*/ 608359 h 608359"/>
              <a:gd name="connsiteX11" fmla="*/ 224785 w 593129"/>
              <a:gd name="connsiteY11" fmla="*/ 557199 h 608359"/>
              <a:gd name="connsiteX12" fmla="*/ 211881 w 593129"/>
              <a:gd name="connsiteY12" fmla="*/ 565247 h 608359"/>
              <a:gd name="connsiteX13" fmla="*/ 205094 w 593129"/>
              <a:gd name="connsiteY13" fmla="*/ 554087 h 608359"/>
              <a:gd name="connsiteX14" fmla="*/ 445252 w 593129"/>
              <a:gd name="connsiteY14" fmla="*/ 422419 h 608359"/>
              <a:gd name="connsiteX15" fmla="*/ 436479 w 593129"/>
              <a:gd name="connsiteY15" fmla="*/ 429206 h 608359"/>
              <a:gd name="connsiteX16" fmla="*/ 434360 w 593129"/>
              <a:gd name="connsiteY16" fmla="*/ 445249 h 608359"/>
              <a:gd name="connsiteX17" fmla="*/ 436989 w 593129"/>
              <a:gd name="connsiteY17" fmla="*/ 462365 h 608359"/>
              <a:gd name="connsiteX18" fmla="*/ 445386 w 593129"/>
              <a:gd name="connsiteY18" fmla="*/ 468025 h 608359"/>
              <a:gd name="connsiteX19" fmla="*/ 454293 w 593129"/>
              <a:gd name="connsiteY19" fmla="*/ 461238 h 608359"/>
              <a:gd name="connsiteX20" fmla="*/ 456438 w 593129"/>
              <a:gd name="connsiteY20" fmla="*/ 445142 h 608359"/>
              <a:gd name="connsiteX21" fmla="*/ 453836 w 593129"/>
              <a:gd name="connsiteY21" fmla="*/ 428080 h 608359"/>
              <a:gd name="connsiteX22" fmla="*/ 445252 w 593129"/>
              <a:gd name="connsiteY22" fmla="*/ 422419 h 608359"/>
              <a:gd name="connsiteX23" fmla="*/ 300787 w 593129"/>
              <a:gd name="connsiteY23" fmla="*/ 422419 h 608359"/>
              <a:gd name="connsiteX24" fmla="*/ 292016 w 593129"/>
              <a:gd name="connsiteY24" fmla="*/ 429206 h 608359"/>
              <a:gd name="connsiteX25" fmla="*/ 289896 w 593129"/>
              <a:gd name="connsiteY25" fmla="*/ 445249 h 608359"/>
              <a:gd name="connsiteX26" fmla="*/ 292525 w 593129"/>
              <a:gd name="connsiteY26" fmla="*/ 462365 h 608359"/>
              <a:gd name="connsiteX27" fmla="*/ 300922 w 593129"/>
              <a:gd name="connsiteY27" fmla="*/ 468025 h 608359"/>
              <a:gd name="connsiteX28" fmla="*/ 309829 w 593129"/>
              <a:gd name="connsiteY28" fmla="*/ 461238 h 608359"/>
              <a:gd name="connsiteX29" fmla="*/ 311975 w 593129"/>
              <a:gd name="connsiteY29" fmla="*/ 445142 h 608359"/>
              <a:gd name="connsiteX30" fmla="*/ 309373 w 593129"/>
              <a:gd name="connsiteY30" fmla="*/ 428080 h 608359"/>
              <a:gd name="connsiteX31" fmla="*/ 300787 w 593129"/>
              <a:gd name="connsiteY31" fmla="*/ 422419 h 608359"/>
              <a:gd name="connsiteX32" fmla="*/ 156295 w 593129"/>
              <a:gd name="connsiteY32" fmla="*/ 421239 h 608359"/>
              <a:gd name="connsiteX33" fmla="*/ 147523 w 593129"/>
              <a:gd name="connsiteY33" fmla="*/ 428026 h 608359"/>
              <a:gd name="connsiteX34" fmla="*/ 145403 w 593129"/>
              <a:gd name="connsiteY34" fmla="*/ 444069 h 608359"/>
              <a:gd name="connsiteX35" fmla="*/ 148032 w 593129"/>
              <a:gd name="connsiteY35" fmla="*/ 461185 h 608359"/>
              <a:gd name="connsiteX36" fmla="*/ 156430 w 593129"/>
              <a:gd name="connsiteY36" fmla="*/ 466845 h 608359"/>
              <a:gd name="connsiteX37" fmla="*/ 165336 w 593129"/>
              <a:gd name="connsiteY37" fmla="*/ 460058 h 608359"/>
              <a:gd name="connsiteX38" fmla="*/ 167482 w 593129"/>
              <a:gd name="connsiteY38" fmla="*/ 443962 h 608359"/>
              <a:gd name="connsiteX39" fmla="*/ 164880 w 593129"/>
              <a:gd name="connsiteY39" fmla="*/ 426900 h 608359"/>
              <a:gd name="connsiteX40" fmla="*/ 156295 w 593129"/>
              <a:gd name="connsiteY40" fmla="*/ 421239 h 608359"/>
              <a:gd name="connsiteX41" fmla="*/ 370940 w 593129"/>
              <a:gd name="connsiteY41" fmla="*/ 411822 h 608359"/>
              <a:gd name="connsiteX42" fmla="*/ 383844 w 593129"/>
              <a:gd name="connsiteY42" fmla="*/ 411822 h 608359"/>
              <a:gd name="connsiteX43" fmla="*/ 383844 w 593129"/>
              <a:gd name="connsiteY43" fmla="*/ 478649 h 608359"/>
              <a:gd name="connsiteX44" fmla="*/ 369277 w 593129"/>
              <a:gd name="connsiteY44" fmla="*/ 478649 h 608359"/>
              <a:gd name="connsiteX45" fmla="*/ 369277 w 593129"/>
              <a:gd name="connsiteY45" fmla="*/ 427489 h 608359"/>
              <a:gd name="connsiteX46" fmla="*/ 356373 w 593129"/>
              <a:gd name="connsiteY46" fmla="*/ 435537 h 608359"/>
              <a:gd name="connsiteX47" fmla="*/ 349559 w 593129"/>
              <a:gd name="connsiteY47" fmla="*/ 424350 h 608359"/>
              <a:gd name="connsiteX48" fmla="*/ 226448 w 593129"/>
              <a:gd name="connsiteY48" fmla="*/ 411822 h 608359"/>
              <a:gd name="connsiteX49" fmla="*/ 239352 w 593129"/>
              <a:gd name="connsiteY49" fmla="*/ 411822 h 608359"/>
              <a:gd name="connsiteX50" fmla="*/ 239352 w 593129"/>
              <a:gd name="connsiteY50" fmla="*/ 478649 h 608359"/>
              <a:gd name="connsiteX51" fmla="*/ 224785 w 593129"/>
              <a:gd name="connsiteY51" fmla="*/ 478649 h 608359"/>
              <a:gd name="connsiteX52" fmla="*/ 224785 w 593129"/>
              <a:gd name="connsiteY52" fmla="*/ 427489 h 608359"/>
              <a:gd name="connsiteX53" fmla="*/ 211881 w 593129"/>
              <a:gd name="connsiteY53" fmla="*/ 435537 h 608359"/>
              <a:gd name="connsiteX54" fmla="*/ 205094 w 593129"/>
              <a:gd name="connsiteY54" fmla="*/ 424350 h 608359"/>
              <a:gd name="connsiteX55" fmla="*/ 445761 w 593129"/>
              <a:gd name="connsiteY55" fmla="*/ 410642 h 608359"/>
              <a:gd name="connsiteX56" fmla="*/ 461053 w 593129"/>
              <a:gd name="connsiteY56" fmla="*/ 415256 h 608359"/>
              <a:gd name="connsiteX57" fmla="*/ 469825 w 593129"/>
              <a:gd name="connsiteY57" fmla="*/ 429528 h 608359"/>
              <a:gd name="connsiteX58" fmla="*/ 471435 w 593129"/>
              <a:gd name="connsiteY58" fmla="*/ 445222 h 608359"/>
              <a:gd name="connsiteX59" fmla="*/ 466096 w 593129"/>
              <a:gd name="connsiteY59" fmla="*/ 469742 h 608359"/>
              <a:gd name="connsiteX60" fmla="*/ 445359 w 593129"/>
              <a:gd name="connsiteY60" fmla="*/ 479829 h 608359"/>
              <a:gd name="connsiteX61" fmla="*/ 423629 w 593129"/>
              <a:gd name="connsiteY61" fmla="*/ 468133 h 608359"/>
              <a:gd name="connsiteX62" fmla="*/ 419283 w 593129"/>
              <a:gd name="connsiteY62" fmla="*/ 445169 h 608359"/>
              <a:gd name="connsiteX63" fmla="*/ 424622 w 593129"/>
              <a:gd name="connsiteY63" fmla="*/ 420729 h 608359"/>
              <a:gd name="connsiteX64" fmla="*/ 445761 w 593129"/>
              <a:gd name="connsiteY64" fmla="*/ 410642 h 608359"/>
              <a:gd name="connsiteX65" fmla="*/ 301271 w 593129"/>
              <a:gd name="connsiteY65" fmla="*/ 410642 h 608359"/>
              <a:gd name="connsiteX66" fmla="*/ 316562 w 593129"/>
              <a:gd name="connsiteY66" fmla="*/ 415256 h 608359"/>
              <a:gd name="connsiteX67" fmla="*/ 325335 w 593129"/>
              <a:gd name="connsiteY67" fmla="*/ 429528 h 608359"/>
              <a:gd name="connsiteX68" fmla="*/ 326944 w 593129"/>
              <a:gd name="connsiteY68" fmla="*/ 445222 h 608359"/>
              <a:gd name="connsiteX69" fmla="*/ 321605 w 593129"/>
              <a:gd name="connsiteY69" fmla="*/ 469742 h 608359"/>
              <a:gd name="connsiteX70" fmla="*/ 300868 w 593129"/>
              <a:gd name="connsiteY70" fmla="*/ 479829 h 608359"/>
              <a:gd name="connsiteX71" fmla="*/ 279138 w 593129"/>
              <a:gd name="connsiteY71" fmla="*/ 468133 h 608359"/>
              <a:gd name="connsiteX72" fmla="*/ 274792 w 593129"/>
              <a:gd name="connsiteY72" fmla="*/ 445169 h 608359"/>
              <a:gd name="connsiteX73" fmla="*/ 280131 w 593129"/>
              <a:gd name="connsiteY73" fmla="*/ 420729 h 608359"/>
              <a:gd name="connsiteX74" fmla="*/ 301271 w 593129"/>
              <a:gd name="connsiteY74" fmla="*/ 410642 h 608359"/>
              <a:gd name="connsiteX75" fmla="*/ 156778 w 593129"/>
              <a:gd name="connsiteY75" fmla="*/ 409462 h 608359"/>
              <a:gd name="connsiteX76" fmla="*/ 172070 w 593129"/>
              <a:gd name="connsiteY76" fmla="*/ 414076 h 608359"/>
              <a:gd name="connsiteX77" fmla="*/ 180842 w 593129"/>
              <a:gd name="connsiteY77" fmla="*/ 428348 h 608359"/>
              <a:gd name="connsiteX78" fmla="*/ 182452 w 593129"/>
              <a:gd name="connsiteY78" fmla="*/ 444042 h 608359"/>
              <a:gd name="connsiteX79" fmla="*/ 177113 w 593129"/>
              <a:gd name="connsiteY79" fmla="*/ 468562 h 608359"/>
              <a:gd name="connsiteX80" fmla="*/ 156376 w 593129"/>
              <a:gd name="connsiteY80" fmla="*/ 478649 h 608359"/>
              <a:gd name="connsiteX81" fmla="*/ 134646 w 593129"/>
              <a:gd name="connsiteY81" fmla="*/ 466953 h 608359"/>
              <a:gd name="connsiteX82" fmla="*/ 130300 w 593129"/>
              <a:gd name="connsiteY82" fmla="*/ 443989 h 608359"/>
              <a:gd name="connsiteX83" fmla="*/ 135639 w 593129"/>
              <a:gd name="connsiteY83" fmla="*/ 419549 h 608359"/>
              <a:gd name="connsiteX84" fmla="*/ 156778 w 593129"/>
              <a:gd name="connsiteY84" fmla="*/ 409462 h 608359"/>
              <a:gd name="connsiteX85" fmla="*/ 373006 w 593129"/>
              <a:gd name="connsiteY85" fmla="*/ 294051 h 608359"/>
              <a:gd name="connsiteX86" fmla="*/ 381564 w 593129"/>
              <a:gd name="connsiteY86" fmla="*/ 299738 h 608359"/>
              <a:gd name="connsiteX87" fmla="*/ 384166 w 593129"/>
              <a:gd name="connsiteY87" fmla="*/ 316800 h 608359"/>
              <a:gd name="connsiteX88" fmla="*/ 382046 w 593129"/>
              <a:gd name="connsiteY88" fmla="*/ 332870 h 608359"/>
              <a:gd name="connsiteX89" fmla="*/ 373140 w 593129"/>
              <a:gd name="connsiteY89" fmla="*/ 339657 h 608359"/>
              <a:gd name="connsiteX90" fmla="*/ 364743 w 593129"/>
              <a:gd name="connsiteY90" fmla="*/ 333997 h 608359"/>
              <a:gd name="connsiteX91" fmla="*/ 362114 w 593129"/>
              <a:gd name="connsiteY91" fmla="*/ 316881 h 608359"/>
              <a:gd name="connsiteX92" fmla="*/ 364233 w 593129"/>
              <a:gd name="connsiteY92" fmla="*/ 300838 h 608359"/>
              <a:gd name="connsiteX93" fmla="*/ 373006 w 593129"/>
              <a:gd name="connsiteY93" fmla="*/ 294051 h 608359"/>
              <a:gd name="connsiteX94" fmla="*/ 228515 w 593129"/>
              <a:gd name="connsiteY94" fmla="*/ 294051 h 608359"/>
              <a:gd name="connsiteX95" fmla="*/ 237073 w 593129"/>
              <a:gd name="connsiteY95" fmla="*/ 299738 h 608359"/>
              <a:gd name="connsiteX96" fmla="*/ 239676 w 593129"/>
              <a:gd name="connsiteY96" fmla="*/ 316800 h 608359"/>
              <a:gd name="connsiteX97" fmla="*/ 237556 w 593129"/>
              <a:gd name="connsiteY97" fmla="*/ 332870 h 608359"/>
              <a:gd name="connsiteX98" fmla="*/ 228649 w 593129"/>
              <a:gd name="connsiteY98" fmla="*/ 339657 h 608359"/>
              <a:gd name="connsiteX99" fmla="*/ 220253 w 593129"/>
              <a:gd name="connsiteY99" fmla="*/ 333997 h 608359"/>
              <a:gd name="connsiteX100" fmla="*/ 217623 w 593129"/>
              <a:gd name="connsiteY100" fmla="*/ 316881 h 608359"/>
              <a:gd name="connsiteX101" fmla="*/ 219742 w 593129"/>
              <a:gd name="connsiteY101" fmla="*/ 300838 h 608359"/>
              <a:gd name="connsiteX102" fmla="*/ 228515 w 593129"/>
              <a:gd name="connsiteY102" fmla="*/ 294051 h 608359"/>
              <a:gd name="connsiteX103" fmla="*/ 443159 w 593129"/>
              <a:gd name="connsiteY103" fmla="*/ 283427 h 608359"/>
              <a:gd name="connsiteX104" fmla="*/ 421805 w 593129"/>
              <a:gd name="connsiteY104" fmla="*/ 295983 h 608359"/>
              <a:gd name="connsiteX105" fmla="*/ 428592 w 593129"/>
              <a:gd name="connsiteY105" fmla="*/ 307170 h 608359"/>
              <a:gd name="connsiteX106" fmla="*/ 441523 w 593129"/>
              <a:gd name="connsiteY106" fmla="*/ 299095 h 608359"/>
              <a:gd name="connsiteX107" fmla="*/ 441523 w 593129"/>
              <a:gd name="connsiteY107" fmla="*/ 350254 h 608359"/>
              <a:gd name="connsiteX108" fmla="*/ 456090 w 593129"/>
              <a:gd name="connsiteY108" fmla="*/ 350254 h 608359"/>
              <a:gd name="connsiteX109" fmla="*/ 456090 w 593129"/>
              <a:gd name="connsiteY109" fmla="*/ 283427 h 608359"/>
              <a:gd name="connsiteX110" fmla="*/ 298668 w 593129"/>
              <a:gd name="connsiteY110" fmla="*/ 283427 h 608359"/>
              <a:gd name="connsiteX111" fmla="*/ 277313 w 593129"/>
              <a:gd name="connsiteY111" fmla="*/ 295983 h 608359"/>
              <a:gd name="connsiteX112" fmla="*/ 284100 w 593129"/>
              <a:gd name="connsiteY112" fmla="*/ 307170 h 608359"/>
              <a:gd name="connsiteX113" fmla="*/ 297031 w 593129"/>
              <a:gd name="connsiteY113" fmla="*/ 299095 h 608359"/>
              <a:gd name="connsiteX114" fmla="*/ 297031 w 593129"/>
              <a:gd name="connsiteY114" fmla="*/ 350254 h 608359"/>
              <a:gd name="connsiteX115" fmla="*/ 311598 w 593129"/>
              <a:gd name="connsiteY115" fmla="*/ 350254 h 608359"/>
              <a:gd name="connsiteX116" fmla="*/ 311598 w 593129"/>
              <a:gd name="connsiteY116" fmla="*/ 283427 h 608359"/>
              <a:gd name="connsiteX117" fmla="*/ 373569 w 593129"/>
              <a:gd name="connsiteY117" fmla="*/ 282247 h 608359"/>
              <a:gd name="connsiteX118" fmla="*/ 352429 w 593129"/>
              <a:gd name="connsiteY118" fmla="*/ 292334 h 608359"/>
              <a:gd name="connsiteX119" fmla="*/ 347091 w 593129"/>
              <a:gd name="connsiteY119" fmla="*/ 316774 h 608359"/>
              <a:gd name="connsiteX120" fmla="*/ 351437 w 593129"/>
              <a:gd name="connsiteY120" fmla="*/ 339738 h 608359"/>
              <a:gd name="connsiteX121" fmla="*/ 373167 w 593129"/>
              <a:gd name="connsiteY121" fmla="*/ 351435 h 608359"/>
              <a:gd name="connsiteX122" fmla="*/ 393905 w 593129"/>
              <a:gd name="connsiteY122" fmla="*/ 341347 h 608359"/>
              <a:gd name="connsiteX123" fmla="*/ 399297 w 593129"/>
              <a:gd name="connsiteY123" fmla="*/ 316801 h 608359"/>
              <a:gd name="connsiteX124" fmla="*/ 397687 w 593129"/>
              <a:gd name="connsiteY124" fmla="*/ 301107 h 608359"/>
              <a:gd name="connsiteX125" fmla="*/ 388861 w 593129"/>
              <a:gd name="connsiteY125" fmla="*/ 286861 h 608359"/>
              <a:gd name="connsiteX126" fmla="*/ 373569 w 593129"/>
              <a:gd name="connsiteY126" fmla="*/ 282247 h 608359"/>
              <a:gd name="connsiteX127" fmla="*/ 229078 w 593129"/>
              <a:gd name="connsiteY127" fmla="*/ 282247 h 608359"/>
              <a:gd name="connsiteX128" fmla="*/ 207938 w 593129"/>
              <a:gd name="connsiteY128" fmla="*/ 292334 h 608359"/>
              <a:gd name="connsiteX129" fmla="*/ 202599 w 593129"/>
              <a:gd name="connsiteY129" fmla="*/ 316774 h 608359"/>
              <a:gd name="connsiteX130" fmla="*/ 206945 w 593129"/>
              <a:gd name="connsiteY130" fmla="*/ 339738 h 608359"/>
              <a:gd name="connsiteX131" fmla="*/ 228675 w 593129"/>
              <a:gd name="connsiteY131" fmla="*/ 351435 h 608359"/>
              <a:gd name="connsiteX132" fmla="*/ 249413 w 593129"/>
              <a:gd name="connsiteY132" fmla="*/ 341347 h 608359"/>
              <a:gd name="connsiteX133" fmla="*/ 254805 w 593129"/>
              <a:gd name="connsiteY133" fmla="*/ 316801 h 608359"/>
              <a:gd name="connsiteX134" fmla="*/ 253195 w 593129"/>
              <a:gd name="connsiteY134" fmla="*/ 301107 h 608359"/>
              <a:gd name="connsiteX135" fmla="*/ 244370 w 593129"/>
              <a:gd name="connsiteY135" fmla="*/ 286861 h 608359"/>
              <a:gd name="connsiteX136" fmla="*/ 229078 w 593129"/>
              <a:gd name="connsiteY136" fmla="*/ 282247 h 608359"/>
              <a:gd name="connsiteX137" fmla="*/ 154203 w 593129"/>
              <a:gd name="connsiteY137" fmla="*/ 282247 h 608359"/>
              <a:gd name="connsiteX138" fmla="*/ 132849 w 593129"/>
              <a:gd name="connsiteY138" fmla="*/ 294802 h 608359"/>
              <a:gd name="connsiteX139" fmla="*/ 139636 w 593129"/>
              <a:gd name="connsiteY139" fmla="*/ 305989 h 608359"/>
              <a:gd name="connsiteX140" fmla="*/ 152566 w 593129"/>
              <a:gd name="connsiteY140" fmla="*/ 297914 h 608359"/>
              <a:gd name="connsiteX141" fmla="*/ 152566 w 593129"/>
              <a:gd name="connsiteY141" fmla="*/ 349074 h 608359"/>
              <a:gd name="connsiteX142" fmla="*/ 167134 w 593129"/>
              <a:gd name="connsiteY142" fmla="*/ 349074 h 608359"/>
              <a:gd name="connsiteX143" fmla="*/ 167134 w 593129"/>
              <a:gd name="connsiteY143" fmla="*/ 282247 h 608359"/>
              <a:gd name="connsiteX144" fmla="*/ 373006 w 593129"/>
              <a:gd name="connsiteY144" fmla="*/ 163885 h 608359"/>
              <a:gd name="connsiteX145" fmla="*/ 381564 w 593129"/>
              <a:gd name="connsiteY145" fmla="*/ 169572 h 608359"/>
              <a:gd name="connsiteX146" fmla="*/ 384166 w 593129"/>
              <a:gd name="connsiteY146" fmla="*/ 186635 h 608359"/>
              <a:gd name="connsiteX147" fmla="*/ 382046 w 593129"/>
              <a:gd name="connsiteY147" fmla="*/ 202704 h 608359"/>
              <a:gd name="connsiteX148" fmla="*/ 373140 w 593129"/>
              <a:gd name="connsiteY148" fmla="*/ 209491 h 608359"/>
              <a:gd name="connsiteX149" fmla="*/ 364743 w 593129"/>
              <a:gd name="connsiteY149" fmla="*/ 203831 h 608359"/>
              <a:gd name="connsiteX150" fmla="*/ 362114 w 593129"/>
              <a:gd name="connsiteY150" fmla="*/ 186715 h 608359"/>
              <a:gd name="connsiteX151" fmla="*/ 364233 w 593129"/>
              <a:gd name="connsiteY151" fmla="*/ 170672 h 608359"/>
              <a:gd name="connsiteX152" fmla="*/ 373006 w 593129"/>
              <a:gd name="connsiteY152" fmla="*/ 163885 h 608359"/>
              <a:gd name="connsiteX153" fmla="*/ 228515 w 593129"/>
              <a:gd name="connsiteY153" fmla="*/ 163885 h 608359"/>
              <a:gd name="connsiteX154" fmla="*/ 237073 w 593129"/>
              <a:gd name="connsiteY154" fmla="*/ 169572 h 608359"/>
              <a:gd name="connsiteX155" fmla="*/ 239676 w 593129"/>
              <a:gd name="connsiteY155" fmla="*/ 186635 h 608359"/>
              <a:gd name="connsiteX156" fmla="*/ 237556 w 593129"/>
              <a:gd name="connsiteY156" fmla="*/ 202704 h 608359"/>
              <a:gd name="connsiteX157" fmla="*/ 228649 w 593129"/>
              <a:gd name="connsiteY157" fmla="*/ 209491 h 608359"/>
              <a:gd name="connsiteX158" fmla="*/ 220253 w 593129"/>
              <a:gd name="connsiteY158" fmla="*/ 203831 h 608359"/>
              <a:gd name="connsiteX159" fmla="*/ 217623 w 593129"/>
              <a:gd name="connsiteY159" fmla="*/ 186715 h 608359"/>
              <a:gd name="connsiteX160" fmla="*/ 219742 w 593129"/>
              <a:gd name="connsiteY160" fmla="*/ 170672 h 608359"/>
              <a:gd name="connsiteX161" fmla="*/ 228515 w 593129"/>
              <a:gd name="connsiteY161" fmla="*/ 163885 h 608359"/>
              <a:gd name="connsiteX162" fmla="*/ 298668 w 593129"/>
              <a:gd name="connsiteY162" fmla="*/ 153262 h 608359"/>
              <a:gd name="connsiteX163" fmla="*/ 277313 w 593129"/>
              <a:gd name="connsiteY163" fmla="*/ 165817 h 608359"/>
              <a:gd name="connsiteX164" fmla="*/ 284100 w 593129"/>
              <a:gd name="connsiteY164" fmla="*/ 177004 h 608359"/>
              <a:gd name="connsiteX165" fmla="*/ 297031 w 593129"/>
              <a:gd name="connsiteY165" fmla="*/ 168929 h 608359"/>
              <a:gd name="connsiteX166" fmla="*/ 297031 w 593129"/>
              <a:gd name="connsiteY166" fmla="*/ 220088 h 608359"/>
              <a:gd name="connsiteX167" fmla="*/ 311598 w 593129"/>
              <a:gd name="connsiteY167" fmla="*/ 220088 h 608359"/>
              <a:gd name="connsiteX168" fmla="*/ 311598 w 593129"/>
              <a:gd name="connsiteY168" fmla="*/ 153262 h 608359"/>
              <a:gd name="connsiteX169" fmla="*/ 373569 w 593129"/>
              <a:gd name="connsiteY169" fmla="*/ 152081 h 608359"/>
              <a:gd name="connsiteX170" fmla="*/ 352429 w 593129"/>
              <a:gd name="connsiteY170" fmla="*/ 162168 h 608359"/>
              <a:gd name="connsiteX171" fmla="*/ 347091 w 593129"/>
              <a:gd name="connsiteY171" fmla="*/ 186608 h 608359"/>
              <a:gd name="connsiteX172" fmla="*/ 351437 w 593129"/>
              <a:gd name="connsiteY172" fmla="*/ 209572 h 608359"/>
              <a:gd name="connsiteX173" fmla="*/ 373167 w 593129"/>
              <a:gd name="connsiteY173" fmla="*/ 221269 h 608359"/>
              <a:gd name="connsiteX174" fmla="*/ 393905 w 593129"/>
              <a:gd name="connsiteY174" fmla="*/ 211182 h 608359"/>
              <a:gd name="connsiteX175" fmla="*/ 399297 w 593129"/>
              <a:gd name="connsiteY175" fmla="*/ 186635 h 608359"/>
              <a:gd name="connsiteX176" fmla="*/ 397687 w 593129"/>
              <a:gd name="connsiteY176" fmla="*/ 170941 h 608359"/>
              <a:gd name="connsiteX177" fmla="*/ 388861 w 593129"/>
              <a:gd name="connsiteY177" fmla="*/ 156696 h 608359"/>
              <a:gd name="connsiteX178" fmla="*/ 373569 w 593129"/>
              <a:gd name="connsiteY178" fmla="*/ 152081 h 608359"/>
              <a:gd name="connsiteX179" fmla="*/ 229078 w 593129"/>
              <a:gd name="connsiteY179" fmla="*/ 152081 h 608359"/>
              <a:gd name="connsiteX180" fmla="*/ 207938 w 593129"/>
              <a:gd name="connsiteY180" fmla="*/ 162168 h 608359"/>
              <a:gd name="connsiteX181" fmla="*/ 202599 w 593129"/>
              <a:gd name="connsiteY181" fmla="*/ 186608 h 608359"/>
              <a:gd name="connsiteX182" fmla="*/ 206945 w 593129"/>
              <a:gd name="connsiteY182" fmla="*/ 209572 h 608359"/>
              <a:gd name="connsiteX183" fmla="*/ 228675 w 593129"/>
              <a:gd name="connsiteY183" fmla="*/ 221269 h 608359"/>
              <a:gd name="connsiteX184" fmla="*/ 249413 w 593129"/>
              <a:gd name="connsiteY184" fmla="*/ 211182 h 608359"/>
              <a:gd name="connsiteX185" fmla="*/ 254805 w 593129"/>
              <a:gd name="connsiteY185" fmla="*/ 186635 h 608359"/>
              <a:gd name="connsiteX186" fmla="*/ 253195 w 593129"/>
              <a:gd name="connsiteY186" fmla="*/ 170941 h 608359"/>
              <a:gd name="connsiteX187" fmla="*/ 244370 w 593129"/>
              <a:gd name="connsiteY187" fmla="*/ 156696 h 608359"/>
              <a:gd name="connsiteX188" fmla="*/ 229078 w 593129"/>
              <a:gd name="connsiteY188" fmla="*/ 152081 h 608359"/>
              <a:gd name="connsiteX189" fmla="*/ 333194 w 593129"/>
              <a:gd name="connsiteY189" fmla="*/ 24 h 608359"/>
              <a:gd name="connsiteX190" fmla="*/ 483025 w 593129"/>
              <a:gd name="connsiteY190" fmla="*/ 138668 h 608359"/>
              <a:gd name="connsiteX191" fmla="*/ 593016 w 593129"/>
              <a:gd name="connsiteY191" fmla="*/ 267868 h 608359"/>
              <a:gd name="connsiteX192" fmla="*/ 475674 w 593129"/>
              <a:gd name="connsiteY192" fmla="*/ 380247 h 608359"/>
              <a:gd name="connsiteX193" fmla="*/ 80670 w 593129"/>
              <a:gd name="connsiteY193" fmla="*/ 380247 h 608359"/>
              <a:gd name="connsiteX194" fmla="*/ 0 w 593129"/>
              <a:gd name="connsiteY194" fmla="*/ 288873 h 608359"/>
              <a:gd name="connsiteX195" fmla="*/ 70207 w 593129"/>
              <a:gd name="connsiteY195" fmla="*/ 211155 h 608359"/>
              <a:gd name="connsiteX196" fmla="*/ 184410 w 593129"/>
              <a:gd name="connsiteY196" fmla="*/ 101914 h 608359"/>
              <a:gd name="connsiteX197" fmla="*/ 333194 w 593129"/>
              <a:gd name="connsiteY197" fmla="*/ 24 h 608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593129" h="608359">
                <a:moveTo>
                  <a:pt x="370940" y="541532"/>
                </a:moveTo>
                <a:lnTo>
                  <a:pt x="383844" y="541532"/>
                </a:lnTo>
                <a:lnTo>
                  <a:pt x="383844" y="608359"/>
                </a:lnTo>
                <a:lnTo>
                  <a:pt x="369277" y="608359"/>
                </a:lnTo>
                <a:lnTo>
                  <a:pt x="369277" y="557199"/>
                </a:lnTo>
                <a:lnTo>
                  <a:pt x="356373" y="565247"/>
                </a:lnTo>
                <a:lnTo>
                  <a:pt x="349559" y="554087"/>
                </a:lnTo>
                <a:close/>
                <a:moveTo>
                  <a:pt x="226448" y="541532"/>
                </a:moveTo>
                <a:lnTo>
                  <a:pt x="239352" y="541532"/>
                </a:lnTo>
                <a:lnTo>
                  <a:pt x="239352" y="608359"/>
                </a:lnTo>
                <a:lnTo>
                  <a:pt x="224785" y="608359"/>
                </a:lnTo>
                <a:lnTo>
                  <a:pt x="224785" y="557199"/>
                </a:lnTo>
                <a:lnTo>
                  <a:pt x="211881" y="565247"/>
                </a:lnTo>
                <a:lnTo>
                  <a:pt x="205094" y="554087"/>
                </a:lnTo>
                <a:close/>
                <a:moveTo>
                  <a:pt x="445252" y="422419"/>
                </a:moveTo>
                <a:cubicBezTo>
                  <a:pt x="441228" y="422419"/>
                  <a:pt x="438303" y="424673"/>
                  <a:pt x="436479" y="429206"/>
                </a:cubicBezTo>
                <a:cubicBezTo>
                  <a:pt x="435057" y="432801"/>
                  <a:pt x="434360" y="438140"/>
                  <a:pt x="434360" y="445249"/>
                </a:cubicBezTo>
                <a:cubicBezTo>
                  <a:pt x="434360" y="453002"/>
                  <a:pt x="435218" y="458716"/>
                  <a:pt x="436989" y="462365"/>
                </a:cubicBezTo>
                <a:cubicBezTo>
                  <a:pt x="438813" y="466148"/>
                  <a:pt x="441603" y="468025"/>
                  <a:pt x="445386" y="468025"/>
                </a:cubicBezTo>
                <a:cubicBezTo>
                  <a:pt x="449491" y="468025"/>
                  <a:pt x="452468" y="465772"/>
                  <a:pt x="454293" y="461238"/>
                </a:cubicBezTo>
                <a:cubicBezTo>
                  <a:pt x="455714" y="457670"/>
                  <a:pt x="456438" y="452305"/>
                  <a:pt x="456438" y="445142"/>
                </a:cubicBezTo>
                <a:cubicBezTo>
                  <a:pt x="456438" y="437389"/>
                  <a:pt x="455553" y="431701"/>
                  <a:pt x="453836" y="428080"/>
                </a:cubicBezTo>
                <a:cubicBezTo>
                  <a:pt x="452012" y="424297"/>
                  <a:pt x="449141" y="422419"/>
                  <a:pt x="445252" y="422419"/>
                </a:cubicBezTo>
                <a:close/>
                <a:moveTo>
                  <a:pt x="300787" y="422419"/>
                </a:moveTo>
                <a:cubicBezTo>
                  <a:pt x="296763" y="422419"/>
                  <a:pt x="293840" y="424673"/>
                  <a:pt x="292016" y="429206"/>
                </a:cubicBezTo>
                <a:cubicBezTo>
                  <a:pt x="290594" y="432801"/>
                  <a:pt x="289896" y="438140"/>
                  <a:pt x="289896" y="445249"/>
                </a:cubicBezTo>
                <a:cubicBezTo>
                  <a:pt x="289896" y="453002"/>
                  <a:pt x="290754" y="458716"/>
                  <a:pt x="292525" y="462365"/>
                </a:cubicBezTo>
                <a:cubicBezTo>
                  <a:pt x="294349" y="466148"/>
                  <a:pt x="297139" y="468025"/>
                  <a:pt x="300922" y="468025"/>
                </a:cubicBezTo>
                <a:cubicBezTo>
                  <a:pt x="305026" y="468025"/>
                  <a:pt x="308004" y="465772"/>
                  <a:pt x="309829" y="461238"/>
                </a:cubicBezTo>
                <a:cubicBezTo>
                  <a:pt x="311224" y="457670"/>
                  <a:pt x="311948" y="452305"/>
                  <a:pt x="311975" y="445142"/>
                </a:cubicBezTo>
                <a:cubicBezTo>
                  <a:pt x="311975" y="437389"/>
                  <a:pt x="311089" y="431701"/>
                  <a:pt x="309373" y="428080"/>
                </a:cubicBezTo>
                <a:cubicBezTo>
                  <a:pt x="307548" y="424297"/>
                  <a:pt x="304678" y="422419"/>
                  <a:pt x="300787" y="422419"/>
                </a:cubicBezTo>
                <a:close/>
                <a:moveTo>
                  <a:pt x="156295" y="421239"/>
                </a:moveTo>
                <a:cubicBezTo>
                  <a:pt x="152271" y="421239"/>
                  <a:pt x="149347" y="423493"/>
                  <a:pt x="147523" y="428026"/>
                </a:cubicBezTo>
                <a:cubicBezTo>
                  <a:pt x="146101" y="431621"/>
                  <a:pt x="145403" y="436960"/>
                  <a:pt x="145403" y="444069"/>
                </a:cubicBezTo>
                <a:cubicBezTo>
                  <a:pt x="145403" y="451822"/>
                  <a:pt x="146262" y="457536"/>
                  <a:pt x="148032" y="461185"/>
                </a:cubicBezTo>
                <a:cubicBezTo>
                  <a:pt x="149857" y="464968"/>
                  <a:pt x="152647" y="466845"/>
                  <a:pt x="156430" y="466845"/>
                </a:cubicBezTo>
                <a:cubicBezTo>
                  <a:pt x="160534" y="466845"/>
                  <a:pt x="163512" y="464592"/>
                  <a:pt x="165336" y="460058"/>
                </a:cubicBezTo>
                <a:cubicBezTo>
                  <a:pt x="166758" y="456490"/>
                  <a:pt x="167455" y="451125"/>
                  <a:pt x="167482" y="443962"/>
                </a:cubicBezTo>
                <a:cubicBezTo>
                  <a:pt x="167482" y="436209"/>
                  <a:pt x="166597" y="430521"/>
                  <a:pt x="164880" y="426900"/>
                </a:cubicBezTo>
                <a:cubicBezTo>
                  <a:pt x="163056" y="423117"/>
                  <a:pt x="160185" y="421239"/>
                  <a:pt x="156295" y="421239"/>
                </a:cubicBezTo>
                <a:close/>
                <a:moveTo>
                  <a:pt x="370940" y="411822"/>
                </a:moveTo>
                <a:lnTo>
                  <a:pt x="383844" y="411822"/>
                </a:lnTo>
                <a:lnTo>
                  <a:pt x="383844" y="478649"/>
                </a:lnTo>
                <a:lnTo>
                  <a:pt x="369277" y="478649"/>
                </a:lnTo>
                <a:lnTo>
                  <a:pt x="369277" y="427489"/>
                </a:lnTo>
                <a:lnTo>
                  <a:pt x="356373" y="435537"/>
                </a:lnTo>
                <a:lnTo>
                  <a:pt x="349559" y="424350"/>
                </a:lnTo>
                <a:close/>
                <a:moveTo>
                  <a:pt x="226448" y="411822"/>
                </a:moveTo>
                <a:lnTo>
                  <a:pt x="239352" y="411822"/>
                </a:lnTo>
                <a:lnTo>
                  <a:pt x="239352" y="478649"/>
                </a:lnTo>
                <a:lnTo>
                  <a:pt x="224785" y="478649"/>
                </a:lnTo>
                <a:lnTo>
                  <a:pt x="224785" y="427489"/>
                </a:lnTo>
                <a:lnTo>
                  <a:pt x="211881" y="435537"/>
                </a:lnTo>
                <a:lnTo>
                  <a:pt x="205094" y="424350"/>
                </a:lnTo>
                <a:close/>
                <a:moveTo>
                  <a:pt x="445761" y="410642"/>
                </a:moveTo>
                <a:cubicBezTo>
                  <a:pt x="451797" y="410642"/>
                  <a:pt x="456895" y="412171"/>
                  <a:pt x="461053" y="415256"/>
                </a:cubicBezTo>
                <a:cubicBezTo>
                  <a:pt x="465291" y="418395"/>
                  <a:pt x="468243" y="423143"/>
                  <a:pt x="469825" y="429528"/>
                </a:cubicBezTo>
                <a:cubicBezTo>
                  <a:pt x="470899" y="433660"/>
                  <a:pt x="471435" y="438891"/>
                  <a:pt x="471435" y="445222"/>
                </a:cubicBezTo>
                <a:cubicBezTo>
                  <a:pt x="471435" y="456195"/>
                  <a:pt x="469638" y="464377"/>
                  <a:pt x="466096" y="469742"/>
                </a:cubicBezTo>
                <a:cubicBezTo>
                  <a:pt x="461670" y="476476"/>
                  <a:pt x="454749" y="479829"/>
                  <a:pt x="445359" y="479829"/>
                </a:cubicBezTo>
                <a:cubicBezTo>
                  <a:pt x="435218" y="479829"/>
                  <a:pt x="427975" y="475940"/>
                  <a:pt x="423629" y="468133"/>
                </a:cubicBezTo>
                <a:cubicBezTo>
                  <a:pt x="420732" y="462875"/>
                  <a:pt x="419283" y="455229"/>
                  <a:pt x="419283" y="445169"/>
                </a:cubicBezTo>
                <a:cubicBezTo>
                  <a:pt x="419283" y="434250"/>
                  <a:pt x="421080" y="426094"/>
                  <a:pt x="424622" y="420729"/>
                </a:cubicBezTo>
                <a:cubicBezTo>
                  <a:pt x="429075" y="413995"/>
                  <a:pt x="436104" y="410642"/>
                  <a:pt x="445761" y="410642"/>
                </a:cubicBezTo>
                <a:close/>
                <a:moveTo>
                  <a:pt x="301271" y="410642"/>
                </a:moveTo>
                <a:cubicBezTo>
                  <a:pt x="307307" y="410642"/>
                  <a:pt x="312404" y="412171"/>
                  <a:pt x="316562" y="415256"/>
                </a:cubicBezTo>
                <a:cubicBezTo>
                  <a:pt x="320801" y="418395"/>
                  <a:pt x="323752" y="423143"/>
                  <a:pt x="325335" y="429528"/>
                </a:cubicBezTo>
                <a:cubicBezTo>
                  <a:pt x="326408" y="433660"/>
                  <a:pt x="326944" y="438891"/>
                  <a:pt x="326944" y="445222"/>
                </a:cubicBezTo>
                <a:cubicBezTo>
                  <a:pt x="326944" y="456195"/>
                  <a:pt x="325147" y="464377"/>
                  <a:pt x="321605" y="469742"/>
                </a:cubicBezTo>
                <a:cubicBezTo>
                  <a:pt x="317179" y="476476"/>
                  <a:pt x="310258" y="479829"/>
                  <a:pt x="300868" y="479829"/>
                </a:cubicBezTo>
                <a:cubicBezTo>
                  <a:pt x="290727" y="479829"/>
                  <a:pt x="283484" y="475940"/>
                  <a:pt x="279138" y="468133"/>
                </a:cubicBezTo>
                <a:cubicBezTo>
                  <a:pt x="276241" y="462875"/>
                  <a:pt x="274792" y="455229"/>
                  <a:pt x="274792" y="445169"/>
                </a:cubicBezTo>
                <a:cubicBezTo>
                  <a:pt x="274792" y="434250"/>
                  <a:pt x="276590" y="426094"/>
                  <a:pt x="280131" y="420729"/>
                </a:cubicBezTo>
                <a:cubicBezTo>
                  <a:pt x="284584" y="413995"/>
                  <a:pt x="291613" y="410642"/>
                  <a:pt x="301271" y="410642"/>
                </a:cubicBezTo>
                <a:close/>
                <a:moveTo>
                  <a:pt x="156778" y="409462"/>
                </a:moveTo>
                <a:cubicBezTo>
                  <a:pt x="162814" y="409462"/>
                  <a:pt x="167912" y="410991"/>
                  <a:pt x="172070" y="414076"/>
                </a:cubicBezTo>
                <a:cubicBezTo>
                  <a:pt x="176308" y="417215"/>
                  <a:pt x="179260" y="421964"/>
                  <a:pt x="180842" y="428348"/>
                </a:cubicBezTo>
                <a:cubicBezTo>
                  <a:pt x="181916" y="432480"/>
                  <a:pt x="182452" y="437711"/>
                  <a:pt x="182452" y="444042"/>
                </a:cubicBezTo>
                <a:cubicBezTo>
                  <a:pt x="182452" y="455015"/>
                  <a:pt x="180655" y="463197"/>
                  <a:pt x="177113" y="468562"/>
                </a:cubicBezTo>
                <a:cubicBezTo>
                  <a:pt x="172687" y="475296"/>
                  <a:pt x="165766" y="478649"/>
                  <a:pt x="156376" y="478649"/>
                </a:cubicBezTo>
                <a:cubicBezTo>
                  <a:pt x="146235" y="478649"/>
                  <a:pt x="138992" y="474760"/>
                  <a:pt x="134646" y="466953"/>
                </a:cubicBezTo>
                <a:cubicBezTo>
                  <a:pt x="131749" y="461695"/>
                  <a:pt x="130300" y="454049"/>
                  <a:pt x="130300" y="443989"/>
                </a:cubicBezTo>
                <a:cubicBezTo>
                  <a:pt x="130300" y="433070"/>
                  <a:pt x="132097" y="424914"/>
                  <a:pt x="135639" y="419549"/>
                </a:cubicBezTo>
                <a:cubicBezTo>
                  <a:pt x="140092" y="412815"/>
                  <a:pt x="147121" y="409462"/>
                  <a:pt x="156778" y="409462"/>
                </a:cubicBezTo>
                <a:close/>
                <a:moveTo>
                  <a:pt x="373006" y="294051"/>
                </a:moveTo>
                <a:cubicBezTo>
                  <a:pt x="376896" y="294051"/>
                  <a:pt x="379767" y="295929"/>
                  <a:pt x="381564" y="299738"/>
                </a:cubicBezTo>
                <a:cubicBezTo>
                  <a:pt x="383307" y="303333"/>
                  <a:pt x="384166" y="309047"/>
                  <a:pt x="384166" y="316800"/>
                </a:cubicBezTo>
                <a:cubicBezTo>
                  <a:pt x="384166" y="323937"/>
                  <a:pt x="383468" y="329275"/>
                  <a:pt x="382046" y="332870"/>
                </a:cubicBezTo>
                <a:cubicBezTo>
                  <a:pt x="380222" y="337404"/>
                  <a:pt x="377271" y="339657"/>
                  <a:pt x="373140" y="339657"/>
                </a:cubicBezTo>
                <a:cubicBezTo>
                  <a:pt x="369357" y="339657"/>
                  <a:pt x="366567" y="337779"/>
                  <a:pt x="364743" y="333997"/>
                </a:cubicBezTo>
                <a:cubicBezTo>
                  <a:pt x="363000" y="330348"/>
                  <a:pt x="362114" y="324634"/>
                  <a:pt x="362114" y="316881"/>
                </a:cubicBezTo>
                <a:cubicBezTo>
                  <a:pt x="362114" y="309772"/>
                  <a:pt x="362812" y="304433"/>
                  <a:pt x="364233" y="300838"/>
                </a:cubicBezTo>
                <a:cubicBezTo>
                  <a:pt x="366058" y="296304"/>
                  <a:pt x="368982" y="294051"/>
                  <a:pt x="373006" y="294051"/>
                </a:cubicBezTo>
                <a:close/>
                <a:moveTo>
                  <a:pt x="228515" y="294051"/>
                </a:moveTo>
                <a:cubicBezTo>
                  <a:pt x="232432" y="294051"/>
                  <a:pt x="235276" y="295929"/>
                  <a:pt x="237073" y="299738"/>
                </a:cubicBezTo>
                <a:cubicBezTo>
                  <a:pt x="238817" y="303333"/>
                  <a:pt x="239676" y="309047"/>
                  <a:pt x="239676" y="316800"/>
                </a:cubicBezTo>
                <a:cubicBezTo>
                  <a:pt x="239676" y="323937"/>
                  <a:pt x="238978" y="329275"/>
                  <a:pt x="237556" y="332870"/>
                </a:cubicBezTo>
                <a:cubicBezTo>
                  <a:pt x="235731" y="337404"/>
                  <a:pt x="232781" y="339657"/>
                  <a:pt x="228649" y="339657"/>
                </a:cubicBezTo>
                <a:cubicBezTo>
                  <a:pt x="224867" y="339657"/>
                  <a:pt x="222077" y="337779"/>
                  <a:pt x="220253" y="333997"/>
                </a:cubicBezTo>
                <a:cubicBezTo>
                  <a:pt x="218509" y="330348"/>
                  <a:pt x="217623" y="324634"/>
                  <a:pt x="217623" y="316881"/>
                </a:cubicBezTo>
                <a:cubicBezTo>
                  <a:pt x="217623" y="309772"/>
                  <a:pt x="218321" y="304433"/>
                  <a:pt x="219742" y="300838"/>
                </a:cubicBezTo>
                <a:cubicBezTo>
                  <a:pt x="221567" y="296304"/>
                  <a:pt x="224491" y="294051"/>
                  <a:pt x="228515" y="294051"/>
                </a:cubicBezTo>
                <a:close/>
                <a:moveTo>
                  <a:pt x="443159" y="283427"/>
                </a:moveTo>
                <a:lnTo>
                  <a:pt x="421805" y="295983"/>
                </a:lnTo>
                <a:lnTo>
                  <a:pt x="428592" y="307170"/>
                </a:lnTo>
                <a:lnTo>
                  <a:pt x="441523" y="299095"/>
                </a:lnTo>
                <a:lnTo>
                  <a:pt x="441523" y="350254"/>
                </a:lnTo>
                <a:lnTo>
                  <a:pt x="456090" y="350254"/>
                </a:lnTo>
                <a:lnTo>
                  <a:pt x="456090" y="283427"/>
                </a:lnTo>
                <a:close/>
                <a:moveTo>
                  <a:pt x="298668" y="283427"/>
                </a:moveTo>
                <a:lnTo>
                  <a:pt x="277313" y="295983"/>
                </a:lnTo>
                <a:lnTo>
                  <a:pt x="284100" y="307170"/>
                </a:lnTo>
                <a:lnTo>
                  <a:pt x="297031" y="299095"/>
                </a:lnTo>
                <a:lnTo>
                  <a:pt x="297031" y="350254"/>
                </a:lnTo>
                <a:lnTo>
                  <a:pt x="311598" y="350254"/>
                </a:lnTo>
                <a:lnTo>
                  <a:pt x="311598" y="283427"/>
                </a:lnTo>
                <a:close/>
                <a:moveTo>
                  <a:pt x="373569" y="282247"/>
                </a:moveTo>
                <a:cubicBezTo>
                  <a:pt x="363911" y="282247"/>
                  <a:pt x="356856" y="285600"/>
                  <a:pt x="352429" y="292334"/>
                </a:cubicBezTo>
                <a:cubicBezTo>
                  <a:pt x="348862" y="297726"/>
                  <a:pt x="347091" y="305855"/>
                  <a:pt x="347091" y="316774"/>
                </a:cubicBezTo>
                <a:cubicBezTo>
                  <a:pt x="347091" y="326834"/>
                  <a:pt x="348539" y="334480"/>
                  <a:pt x="351437" y="339738"/>
                </a:cubicBezTo>
                <a:cubicBezTo>
                  <a:pt x="355756" y="347545"/>
                  <a:pt x="363000" y="351435"/>
                  <a:pt x="373167" y="351435"/>
                </a:cubicBezTo>
                <a:cubicBezTo>
                  <a:pt x="382557" y="351435"/>
                  <a:pt x="389478" y="348081"/>
                  <a:pt x="393905" y="341347"/>
                </a:cubicBezTo>
                <a:cubicBezTo>
                  <a:pt x="397445" y="335955"/>
                  <a:pt x="399216" y="327800"/>
                  <a:pt x="399297" y="316801"/>
                </a:cubicBezTo>
                <a:cubicBezTo>
                  <a:pt x="399297" y="310496"/>
                  <a:pt x="398760" y="305265"/>
                  <a:pt x="397687" y="301107"/>
                </a:cubicBezTo>
                <a:cubicBezTo>
                  <a:pt x="396050" y="294749"/>
                  <a:pt x="393100" y="290000"/>
                  <a:pt x="388861" y="286861"/>
                </a:cubicBezTo>
                <a:cubicBezTo>
                  <a:pt x="384703" y="283776"/>
                  <a:pt x="379606" y="282247"/>
                  <a:pt x="373569" y="282247"/>
                </a:cubicBezTo>
                <a:close/>
                <a:moveTo>
                  <a:pt x="229078" y="282247"/>
                </a:moveTo>
                <a:cubicBezTo>
                  <a:pt x="219420" y="282247"/>
                  <a:pt x="212364" y="285600"/>
                  <a:pt x="207938" y="292334"/>
                </a:cubicBezTo>
                <a:cubicBezTo>
                  <a:pt x="204370" y="297726"/>
                  <a:pt x="202599" y="305855"/>
                  <a:pt x="202599" y="316774"/>
                </a:cubicBezTo>
                <a:cubicBezTo>
                  <a:pt x="202599" y="326834"/>
                  <a:pt x="204048" y="334480"/>
                  <a:pt x="206945" y="339738"/>
                </a:cubicBezTo>
                <a:cubicBezTo>
                  <a:pt x="211265" y="347545"/>
                  <a:pt x="218508" y="351435"/>
                  <a:pt x="228675" y="351435"/>
                </a:cubicBezTo>
                <a:cubicBezTo>
                  <a:pt x="238065" y="351435"/>
                  <a:pt x="244987" y="348081"/>
                  <a:pt x="249413" y="341347"/>
                </a:cubicBezTo>
                <a:cubicBezTo>
                  <a:pt x="252954" y="335955"/>
                  <a:pt x="254751" y="327800"/>
                  <a:pt x="254805" y="316801"/>
                </a:cubicBezTo>
                <a:cubicBezTo>
                  <a:pt x="254805" y="310496"/>
                  <a:pt x="254269" y="305265"/>
                  <a:pt x="253195" y="301107"/>
                </a:cubicBezTo>
                <a:cubicBezTo>
                  <a:pt x="251559" y="294749"/>
                  <a:pt x="248608" y="290000"/>
                  <a:pt x="244370" y="286861"/>
                </a:cubicBezTo>
                <a:cubicBezTo>
                  <a:pt x="240211" y="283776"/>
                  <a:pt x="235114" y="282247"/>
                  <a:pt x="229078" y="282247"/>
                </a:cubicBezTo>
                <a:close/>
                <a:moveTo>
                  <a:pt x="154203" y="282247"/>
                </a:moveTo>
                <a:lnTo>
                  <a:pt x="132849" y="294802"/>
                </a:lnTo>
                <a:lnTo>
                  <a:pt x="139636" y="305989"/>
                </a:lnTo>
                <a:lnTo>
                  <a:pt x="152566" y="297914"/>
                </a:lnTo>
                <a:lnTo>
                  <a:pt x="152566" y="349074"/>
                </a:lnTo>
                <a:lnTo>
                  <a:pt x="167134" y="349074"/>
                </a:lnTo>
                <a:lnTo>
                  <a:pt x="167134" y="282247"/>
                </a:lnTo>
                <a:close/>
                <a:moveTo>
                  <a:pt x="373006" y="163885"/>
                </a:moveTo>
                <a:cubicBezTo>
                  <a:pt x="376896" y="163885"/>
                  <a:pt x="379767" y="165763"/>
                  <a:pt x="381564" y="169572"/>
                </a:cubicBezTo>
                <a:cubicBezTo>
                  <a:pt x="383307" y="173167"/>
                  <a:pt x="384166" y="178881"/>
                  <a:pt x="384166" y="186635"/>
                </a:cubicBezTo>
                <a:cubicBezTo>
                  <a:pt x="384166" y="193771"/>
                  <a:pt x="383468" y="199109"/>
                  <a:pt x="382046" y="202704"/>
                </a:cubicBezTo>
                <a:cubicBezTo>
                  <a:pt x="380222" y="207238"/>
                  <a:pt x="377271" y="209491"/>
                  <a:pt x="373140" y="209491"/>
                </a:cubicBezTo>
                <a:cubicBezTo>
                  <a:pt x="369357" y="209491"/>
                  <a:pt x="366567" y="207613"/>
                  <a:pt x="364743" y="203831"/>
                </a:cubicBezTo>
                <a:cubicBezTo>
                  <a:pt x="363000" y="200182"/>
                  <a:pt x="362114" y="194468"/>
                  <a:pt x="362114" y="186715"/>
                </a:cubicBezTo>
                <a:cubicBezTo>
                  <a:pt x="362114" y="179606"/>
                  <a:pt x="362812" y="174267"/>
                  <a:pt x="364233" y="170672"/>
                </a:cubicBezTo>
                <a:cubicBezTo>
                  <a:pt x="366058" y="166139"/>
                  <a:pt x="368982" y="163885"/>
                  <a:pt x="373006" y="163885"/>
                </a:cubicBezTo>
                <a:close/>
                <a:moveTo>
                  <a:pt x="228515" y="163885"/>
                </a:moveTo>
                <a:cubicBezTo>
                  <a:pt x="232432" y="163885"/>
                  <a:pt x="235276" y="165763"/>
                  <a:pt x="237073" y="169572"/>
                </a:cubicBezTo>
                <a:cubicBezTo>
                  <a:pt x="238817" y="173167"/>
                  <a:pt x="239676" y="178881"/>
                  <a:pt x="239676" y="186635"/>
                </a:cubicBezTo>
                <a:cubicBezTo>
                  <a:pt x="239676" y="193771"/>
                  <a:pt x="238978" y="199109"/>
                  <a:pt x="237556" y="202704"/>
                </a:cubicBezTo>
                <a:cubicBezTo>
                  <a:pt x="235731" y="207238"/>
                  <a:pt x="232781" y="209491"/>
                  <a:pt x="228649" y="209491"/>
                </a:cubicBezTo>
                <a:cubicBezTo>
                  <a:pt x="224867" y="209491"/>
                  <a:pt x="222077" y="207613"/>
                  <a:pt x="220253" y="203831"/>
                </a:cubicBezTo>
                <a:cubicBezTo>
                  <a:pt x="218509" y="200182"/>
                  <a:pt x="217623" y="194468"/>
                  <a:pt x="217623" y="186715"/>
                </a:cubicBezTo>
                <a:cubicBezTo>
                  <a:pt x="217623" y="179606"/>
                  <a:pt x="218321" y="174267"/>
                  <a:pt x="219742" y="170672"/>
                </a:cubicBezTo>
                <a:cubicBezTo>
                  <a:pt x="221567" y="166139"/>
                  <a:pt x="224491" y="163885"/>
                  <a:pt x="228515" y="163885"/>
                </a:cubicBezTo>
                <a:close/>
                <a:moveTo>
                  <a:pt x="298668" y="153262"/>
                </a:moveTo>
                <a:lnTo>
                  <a:pt x="277313" y="165817"/>
                </a:lnTo>
                <a:lnTo>
                  <a:pt x="284100" y="177004"/>
                </a:lnTo>
                <a:lnTo>
                  <a:pt x="297031" y="168929"/>
                </a:lnTo>
                <a:lnTo>
                  <a:pt x="297031" y="220088"/>
                </a:lnTo>
                <a:lnTo>
                  <a:pt x="311598" y="220088"/>
                </a:lnTo>
                <a:lnTo>
                  <a:pt x="311598" y="153262"/>
                </a:lnTo>
                <a:close/>
                <a:moveTo>
                  <a:pt x="373569" y="152081"/>
                </a:moveTo>
                <a:cubicBezTo>
                  <a:pt x="363911" y="152081"/>
                  <a:pt x="356856" y="155435"/>
                  <a:pt x="352429" y="162168"/>
                </a:cubicBezTo>
                <a:cubicBezTo>
                  <a:pt x="348862" y="167561"/>
                  <a:pt x="347091" y="175689"/>
                  <a:pt x="347091" y="186608"/>
                </a:cubicBezTo>
                <a:cubicBezTo>
                  <a:pt x="347091" y="196668"/>
                  <a:pt x="348539" y="204314"/>
                  <a:pt x="351437" y="209572"/>
                </a:cubicBezTo>
                <a:cubicBezTo>
                  <a:pt x="355756" y="217379"/>
                  <a:pt x="363000" y="221269"/>
                  <a:pt x="373167" y="221269"/>
                </a:cubicBezTo>
                <a:cubicBezTo>
                  <a:pt x="382557" y="221269"/>
                  <a:pt x="389478" y="217915"/>
                  <a:pt x="393905" y="211182"/>
                </a:cubicBezTo>
                <a:cubicBezTo>
                  <a:pt x="397445" y="205789"/>
                  <a:pt x="399216" y="197634"/>
                  <a:pt x="399297" y="186635"/>
                </a:cubicBezTo>
                <a:cubicBezTo>
                  <a:pt x="399297" y="180330"/>
                  <a:pt x="398760" y="175099"/>
                  <a:pt x="397687" y="170941"/>
                </a:cubicBezTo>
                <a:cubicBezTo>
                  <a:pt x="396050" y="164583"/>
                  <a:pt x="393100" y="159834"/>
                  <a:pt x="388861" y="156696"/>
                </a:cubicBezTo>
                <a:cubicBezTo>
                  <a:pt x="384703" y="153610"/>
                  <a:pt x="379606" y="152081"/>
                  <a:pt x="373569" y="152081"/>
                </a:cubicBezTo>
                <a:close/>
                <a:moveTo>
                  <a:pt x="229078" y="152081"/>
                </a:moveTo>
                <a:cubicBezTo>
                  <a:pt x="219420" y="152081"/>
                  <a:pt x="212364" y="155435"/>
                  <a:pt x="207938" y="162168"/>
                </a:cubicBezTo>
                <a:cubicBezTo>
                  <a:pt x="204370" y="167561"/>
                  <a:pt x="202599" y="175689"/>
                  <a:pt x="202599" y="186608"/>
                </a:cubicBezTo>
                <a:cubicBezTo>
                  <a:pt x="202599" y="196668"/>
                  <a:pt x="204048" y="204314"/>
                  <a:pt x="206945" y="209572"/>
                </a:cubicBezTo>
                <a:cubicBezTo>
                  <a:pt x="211265" y="217379"/>
                  <a:pt x="218508" y="221269"/>
                  <a:pt x="228675" y="221269"/>
                </a:cubicBezTo>
                <a:cubicBezTo>
                  <a:pt x="238065" y="221269"/>
                  <a:pt x="244987" y="217915"/>
                  <a:pt x="249413" y="211182"/>
                </a:cubicBezTo>
                <a:cubicBezTo>
                  <a:pt x="252954" y="205789"/>
                  <a:pt x="254751" y="197634"/>
                  <a:pt x="254805" y="186635"/>
                </a:cubicBezTo>
                <a:cubicBezTo>
                  <a:pt x="254805" y="180330"/>
                  <a:pt x="254269" y="175099"/>
                  <a:pt x="253195" y="170941"/>
                </a:cubicBezTo>
                <a:cubicBezTo>
                  <a:pt x="251559" y="164583"/>
                  <a:pt x="248608" y="159834"/>
                  <a:pt x="244370" y="156696"/>
                </a:cubicBezTo>
                <a:cubicBezTo>
                  <a:pt x="240211" y="153610"/>
                  <a:pt x="235114" y="152081"/>
                  <a:pt x="229078" y="152081"/>
                </a:cubicBezTo>
                <a:close/>
                <a:moveTo>
                  <a:pt x="333194" y="24"/>
                </a:moveTo>
                <a:cubicBezTo>
                  <a:pt x="333194" y="24"/>
                  <a:pt x="456841" y="-5234"/>
                  <a:pt x="483025" y="138668"/>
                </a:cubicBezTo>
                <a:cubicBezTo>
                  <a:pt x="483025" y="138668"/>
                  <a:pt x="597228" y="143899"/>
                  <a:pt x="593016" y="267868"/>
                </a:cubicBezTo>
                <a:cubicBezTo>
                  <a:pt x="593016" y="267868"/>
                  <a:pt x="593016" y="377108"/>
                  <a:pt x="475674" y="380247"/>
                </a:cubicBezTo>
                <a:cubicBezTo>
                  <a:pt x="475674" y="380247"/>
                  <a:pt x="475674" y="380247"/>
                  <a:pt x="80670" y="380247"/>
                </a:cubicBezTo>
                <a:cubicBezTo>
                  <a:pt x="80670" y="380247"/>
                  <a:pt x="0" y="376035"/>
                  <a:pt x="0" y="288873"/>
                </a:cubicBezTo>
                <a:cubicBezTo>
                  <a:pt x="0" y="288873"/>
                  <a:pt x="0" y="222717"/>
                  <a:pt x="70207" y="211155"/>
                </a:cubicBezTo>
                <a:cubicBezTo>
                  <a:pt x="70207" y="211155"/>
                  <a:pt x="64976" y="101914"/>
                  <a:pt x="184410" y="101914"/>
                </a:cubicBezTo>
                <a:cubicBezTo>
                  <a:pt x="184410" y="101914"/>
                  <a:pt x="217945" y="24"/>
                  <a:pt x="333194" y="24"/>
                </a:cubicBezTo>
                <a:close/>
              </a:path>
            </a:pathLst>
          </a:custGeom>
          <a:solidFill>
            <a:schemeClr val="tx1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22" name="Gerader Verbinder 27">
            <a:extLst>
              <a:ext uri="{FF2B5EF4-FFF2-40B4-BE49-F238E27FC236}">
                <a16:creationId xmlns:a16="http://schemas.microsoft.com/office/drawing/2014/main" id="{9D4D4CDE-9327-5DAD-092E-288D7C0F3D38}"/>
              </a:ext>
            </a:extLst>
          </p:cNvPr>
          <p:cNvCxnSpPr>
            <a:cxnSpLocks/>
          </p:cNvCxnSpPr>
          <p:nvPr/>
        </p:nvCxnSpPr>
        <p:spPr bwMode="gray">
          <a:xfrm>
            <a:off x="6010965" y="5057631"/>
            <a:ext cx="0" cy="468000"/>
          </a:xfrm>
          <a:prstGeom prst="line">
            <a:avLst/>
          </a:prstGeom>
          <a:ln w="9525">
            <a:solidFill>
              <a:schemeClr val="tx1"/>
            </a:solidFill>
            <a:prstDash val="solid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Internet Of Things outline">
            <a:extLst>
              <a:ext uri="{FF2B5EF4-FFF2-40B4-BE49-F238E27FC236}">
                <a16:creationId xmlns:a16="http://schemas.microsoft.com/office/drawing/2014/main" id="{EDA02EF0-DA0F-28C4-A9A7-133035BC714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99389" y="1647806"/>
            <a:ext cx="914400" cy="914400"/>
          </a:xfrm>
          <a:prstGeom prst="rect">
            <a:avLst/>
          </a:prstGeom>
        </p:spPr>
      </p:pic>
      <p:pic>
        <p:nvPicPr>
          <p:cNvPr id="15" name="Graphic 14" descr="Lights On outline">
            <a:extLst>
              <a:ext uri="{FF2B5EF4-FFF2-40B4-BE49-F238E27FC236}">
                <a16:creationId xmlns:a16="http://schemas.microsoft.com/office/drawing/2014/main" id="{3246559F-1893-E69F-EE89-183D0A0ECAD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2713" y="1585680"/>
            <a:ext cx="914400" cy="914400"/>
          </a:xfrm>
          <a:prstGeom prst="rect">
            <a:avLst/>
          </a:prstGeom>
        </p:spPr>
      </p:pic>
      <p:pic>
        <p:nvPicPr>
          <p:cNvPr id="17" name="Graphic 16" descr="Steering Wheel outline">
            <a:extLst>
              <a:ext uri="{FF2B5EF4-FFF2-40B4-BE49-F238E27FC236}">
                <a16:creationId xmlns:a16="http://schemas.microsoft.com/office/drawing/2014/main" id="{201202BA-5034-49BD-85CB-D1637B969BD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28342" y="4224305"/>
            <a:ext cx="914400" cy="914400"/>
          </a:xfrm>
          <a:prstGeom prst="rect">
            <a:avLst/>
          </a:prstGeom>
        </p:spPr>
      </p:pic>
      <p:pic>
        <p:nvPicPr>
          <p:cNvPr id="19" name="Graphic 18" descr="Robot outline">
            <a:extLst>
              <a:ext uri="{FF2B5EF4-FFF2-40B4-BE49-F238E27FC236}">
                <a16:creationId xmlns:a16="http://schemas.microsoft.com/office/drawing/2014/main" id="{B6A25CD8-DBDB-F34F-783B-629844563F4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4267" y="4163790"/>
            <a:ext cx="914400" cy="9144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25893F4-9C1C-DAE1-90F5-65792D5FC371}"/>
              </a:ext>
            </a:extLst>
          </p:cNvPr>
          <p:cNvGrpSpPr/>
          <p:nvPr/>
        </p:nvGrpSpPr>
        <p:grpSpPr>
          <a:xfrm>
            <a:off x="11155601" y="705485"/>
            <a:ext cx="614680" cy="581660"/>
            <a:chOff x="11155601" y="705485"/>
            <a:chExt cx="614680" cy="581660"/>
          </a:xfrm>
        </p:grpSpPr>
        <p:sp>
          <p:nvSpPr>
            <p:cNvPr id="8" name="Freihandform: Form 204">
              <a:extLst>
                <a:ext uri="{FF2B5EF4-FFF2-40B4-BE49-F238E27FC236}">
                  <a16:creationId xmlns:a16="http://schemas.microsoft.com/office/drawing/2014/main" id="{C83271DE-1D99-2729-336B-31CD774A864D}"/>
                </a:ext>
              </a:extLst>
            </p:cNvPr>
            <p:cNvSpPr/>
            <p:nvPr/>
          </p:nvSpPr>
          <p:spPr bwMode="gray">
            <a:xfrm>
              <a:off x="11155601" y="705485"/>
              <a:ext cx="614680" cy="581660"/>
            </a:xfrm>
            <a:custGeom>
              <a:avLst/>
              <a:gdLst>
                <a:gd name="connsiteX0" fmla="*/ 0 w 562755"/>
                <a:gd name="connsiteY0" fmla="*/ 0 h 532306"/>
                <a:gd name="connsiteX1" fmla="*/ 30422 w 562755"/>
                <a:gd name="connsiteY1" fmla="*/ 365012 h 532306"/>
                <a:gd name="connsiteX2" fmla="*/ 289895 w 562755"/>
                <a:gd name="connsiteY2" fmla="*/ 365012 h 532306"/>
                <a:gd name="connsiteX3" fmla="*/ 456278 w 562755"/>
                <a:gd name="connsiteY3" fmla="*/ 532306 h 532306"/>
                <a:gd name="connsiteX4" fmla="*/ 456278 w 562755"/>
                <a:gd name="connsiteY4" fmla="*/ 365012 h 532306"/>
                <a:gd name="connsiteX5" fmla="*/ 532333 w 562755"/>
                <a:gd name="connsiteY5" fmla="*/ 365012 h 532306"/>
                <a:gd name="connsiteX6" fmla="*/ 562755 w 562755"/>
                <a:gd name="connsiteY6" fmla="*/ 0 h 532306"/>
                <a:gd name="connsiteX7" fmla="*/ 0 w 562755"/>
                <a:gd name="connsiteY7" fmla="*/ 0 h 53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55" h="532306">
                  <a:moveTo>
                    <a:pt x="0" y="0"/>
                  </a:moveTo>
                  <a:lnTo>
                    <a:pt x="30422" y="365012"/>
                  </a:lnTo>
                  <a:lnTo>
                    <a:pt x="289895" y="365012"/>
                  </a:lnTo>
                  <a:lnTo>
                    <a:pt x="456278" y="532306"/>
                  </a:lnTo>
                  <a:lnTo>
                    <a:pt x="456278" y="365012"/>
                  </a:lnTo>
                  <a:lnTo>
                    <a:pt x="532333" y="365012"/>
                  </a:lnTo>
                  <a:lnTo>
                    <a:pt x="56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Freihandform: Form 205">
              <a:extLst>
                <a:ext uri="{FF2B5EF4-FFF2-40B4-BE49-F238E27FC236}">
                  <a16:creationId xmlns:a16="http://schemas.microsoft.com/office/drawing/2014/main" id="{4EC69D4C-F738-56C3-27EF-A27F4B989040}"/>
                </a:ext>
              </a:extLst>
            </p:cNvPr>
            <p:cNvSpPr/>
            <p:nvPr/>
          </p:nvSpPr>
          <p:spPr bwMode="gray">
            <a:xfrm>
              <a:off x="11300381" y="775335"/>
              <a:ext cx="325755" cy="244475"/>
            </a:xfrm>
            <a:custGeom>
              <a:avLst/>
              <a:gdLst>
                <a:gd name="connsiteX0" fmla="*/ 546954 w 546953"/>
                <a:gd name="connsiteY0" fmla="*/ 56337 h 410644"/>
                <a:gd name="connsiteX1" fmla="*/ 191198 w 546953"/>
                <a:gd name="connsiteY1" fmla="*/ 410645 h 410644"/>
                <a:gd name="connsiteX2" fmla="*/ 0 w 546953"/>
                <a:gd name="connsiteY2" fmla="*/ 219071 h 410644"/>
                <a:gd name="connsiteX3" fmla="*/ 56954 w 546953"/>
                <a:gd name="connsiteY3" fmla="*/ 162734 h 410644"/>
                <a:gd name="connsiteX4" fmla="*/ 179447 w 546953"/>
                <a:gd name="connsiteY4" fmla="*/ 269104 h 410644"/>
                <a:gd name="connsiteX5" fmla="*/ 490456 w 546953"/>
                <a:gd name="connsiteY5" fmla="*/ 0 h 410644"/>
                <a:gd name="connsiteX6" fmla="*/ 546954 w 546953"/>
                <a:gd name="connsiteY6" fmla="*/ 56337 h 410644"/>
                <a:gd name="connsiteX7" fmla="*/ 546954 w 546953"/>
                <a:gd name="connsiteY7" fmla="*/ 56337 h 41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6953" h="410644">
                  <a:moveTo>
                    <a:pt x="546954" y="56337"/>
                  </a:moveTo>
                  <a:lnTo>
                    <a:pt x="191198" y="410645"/>
                  </a:lnTo>
                  <a:lnTo>
                    <a:pt x="0" y="219071"/>
                  </a:lnTo>
                  <a:lnTo>
                    <a:pt x="56954" y="162734"/>
                  </a:lnTo>
                  <a:lnTo>
                    <a:pt x="179447" y="269104"/>
                  </a:lnTo>
                  <a:lnTo>
                    <a:pt x="490456" y="0"/>
                  </a:lnTo>
                  <a:lnTo>
                    <a:pt x="546954" y="56337"/>
                  </a:lnTo>
                  <a:lnTo>
                    <a:pt x="546954" y="56337"/>
                  </a:lnTo>
                  <a:close/>
                </a:path>
              </a:pathLst>
            </a:custGeom>
            <a:solidFill>
              <a:schemeClr val="tx1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5008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A12F4-FB58-550A-2CB2-1910909A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E281BEF-4881-EB6E-1D8D-B0F091043B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6147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281BEF-4881-EB6E-1D8D-B0F091043B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4BCE994-BCF1-759D-2287-6D4D40E29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80" y="107325"/>
            <a:ext cx="11314876" cy="576000"/>
          </a:xfrm>
        </p:spPr>
        <p:txBody>
          <a:bodyPr vert="horz"/>
          <a:lstStyle/>
          <a:p>
            <a:br>
              <a:rPr lang="en-US" altLang="zh-CN" dirty="0"/>
            </a:br>
            <a:r>
              <a:rPr lang="zh-CN" altLang="en-US" dirty="0"/>
              <a:t>西门子</a:t>
            </a:r>
            <a:r>
              <a:rPr lang="en-US" altLang="zh-CN" dirty="0"/>
              <a:t>AIoT Lighting</a:t>
            </a:r>
            <a:r>
              <a:rPr lang="zh-CN" altLang="en-US" dirty="0"/>
              <a:t>软硬件一体化解决方案 </a:t>
            </a:r>
            <a:r>
              <a:rPr lang="en-US" altLang="zh-CN" dirty="0"/>
              <a:t>– </a:t>
            </a:r>
            <a:r>
              <a:rPr lang="zh-CN" altLang="en-US" dirty="0">
                <a:solidFill>
                  <a:srgbClr val="FF9000"/>
                </a:solidFill>
              </a:rPr>
              <a:t>单站点或多站点分布式应用场景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4B551-5147-6A83-2C1A-97D3FF0342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2025 | SI B CN | AIoT Lighting V1.0 | 2025-10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250C7-3303-EA35-1AAB-1F321871FD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0671B27-D588-B16D-B74B-F04369DE8CE1}"/>
              </a:ext>
            </a:extLst>
          </p:cNvPr>
          <p:cNvGrpSpPr/>
          <p:nvPr/>
        </p:nvGrpSpPr>
        <p:grpSpPr>
          <a:xfrm>
            <a:off x="3848549" y="834538"/>
            <a:ext cx="4364610" cy="1443303"/>
            <a:chOff x="410400" y="909148"/>
            <a:chExt cx="4364610" cy="14433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5662FB5-3D16-2575-C8A3-B8972A49ADD2}"/>
                </a:ext>
              </a:extLst>
            </p:cNvPr>
            <p:cNvSpPr/>
            <p:nvPr/>
          </p:nvSpPr>
          <p:spPr bwMode="auto">
            <a:xfrm>
              <a:off x="1096255" y="1291119"/>
              <a:ext cx="3073206" cy="317955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879BAA"/>
              </a:solidFill>
              <a:miter lim="800000"/>
            </a:ln>
            <a:effectLst/>
          </p:spPr>
          <p:txBody>
            <a:bodyPr wrap="square" lIns="108000" tIns="108000" rIns="108000" bIns="108000" numCol="1" spcCol="7200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879BAA"/>
                </a:buClr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AIoT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Lighting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应用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98642B8-219C-7924-CCCC-11962D9E6699}"/>
                </a:ext>
              </a:extLst>
            </p:cNvPr>
            <p:cNvSpPr/>
            <p:nvPr/>
          </p:nvSpPr>
          <p:spPr bwMode="auto">
            <a:xfrm>
              <a:off x="1096255" y="1906744"/>
              <a:ext cx="3073206" cy="317955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879BAA"/>
              </a:solidFill>
              <a:miter lim="800000"/>
            </a:ln>
            <a:effectLst/>
          </p:spPr>
          <p:txBody>
            <a:bodyPr wrap="square" lIns="108000" tIns="108000" rIns="108000" bIns="108000" numCol="1" spcCol="7200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879BAA"/>
                </a:buClr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轻量化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IoT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物联网平台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879BAA"/>
                </a:buClr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FIN Framework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）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27BC44B-B1F8-42E8-D8CE-D870A20E07FB}"/>
                </a:ext>
              </a:extLst>
            </p:cNvPr>
            <p:cNvSpPr/>
            <p:nvPr/>
          </p:nvSpPr>
          <p:spPr>
            <a:xfrm>
              <a:off x="410400" y="909148"/>
              <a:ext cx="4364610" cy="144330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173B3B9-34B9-DA98-2EB6-D242F463DC60}"/>
                </a:ext>
              </a:extLst>
            </p:cNvPr>
            <p:cNvSpPr txBox="1"/>
            <p:nvPr/>
          </p:nvSpPr>
          <p:spPr>
            <a:xfrm>
              <a:off x="480765" y="988718"/>
              <a:ext cx="221518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AIoT 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Lighting@Server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C1703FE-9697-35CA-BB01-EA2A3F56AFAE}"/>
                </a:ext>
              </a:extLst>
            </p:cNvPr>
            <p:cNvSpPr txBox="1"/>
            <p:nvPr/>
          </p:nvSpPr>
          <p:spPr>
            <a:xfrm>
              <a:off x="2696379" y="1685882"/>
              <a:ext cx="1295307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Haystack Restful API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45861A9-450C-0A89-1022-86C9DF852CEC}"/>
                </a:ext>
              </a:extLst>
            </p:cNvPr>
            <p:cNvCxnSpPr>
              <a:cxnSpLocks/>
            </p:cNvCxnSpPr>
            <p:nvPr/>
          </p:nvCxnSpPr>
          <p:spPr>
            <a:xfrm>
              <a:off x="2518558" y="1609074"/>
              <a:ext cx="0" cy="297670"/>
            </a:xfrm>
            <a:prstGeom prst="straightConnector1">
              <a:avLst/>
            </a:prstGeom>
            <a:ln w="9525">
              <a:solidFill>
                <a:schemeClr val="accent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94930F9D-59B6-422A-636C-90DF8C671BD5}"/>
              </a:ext>
            </a:extLst>
          </p:cNvPr>
          <p:cNvSpPr txBox="1"/>
          <p:nvPr/>
        </p:nvSpPr>
        <p:spPr>
          <a:xfrm>
            <a:off x="6159739" y="2464057"/>
            <a:ext cx="1213616" cy="23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 Network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328F8DB-758D-477F-D835-C1D28492D8A6}"/>
              </a:ext>
            </a:extLst>
          </p:cNvPr>
          <p:cNvGrpSpPr/>
          <p:nvPr/>
        </p:nvGrpSpPr>
        <p:grpSpPr>
          <a:xfrm>
            <a:off x="509343" y="3263353"/>
            <a:ext cx="3376855" cy="2987150"/>
            <a:chOff x="509343" y="3263353"/>
            <a:chExt cx="3376855" cy="298715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19F5E50-33F8-32D1-A3CB-601D0CB1E3EB}"/>
                </a:ext>
              </a:extLst>
            </p:cNvPr>
            <p:cNvGrpSpPr/>
            <p:nvPr/>
          </p:nvGrpSpPr>
          <p:grpSpPr>
            <a:xfrm>
              <a:off x="509343" y="3263353"/>
              <a:ext cx="3376855" cy="2987150"/>
              <a:chOff x="166444" y="3420586"/>
              <a:chExt cx="3376855" cy="298715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47468ED8-CFC8-5E37-41C3-A3F630365A5B}"/>
                  </a:ext>
                </a:extLst>
              </p:cNvPr>
              <p:cNvGrpSpPr/>
              <p:nvPr/>
            </p:nvGrpSpPr>
            <p:grpSpPr>
              <a:xfrm>
                <a:off x="279891" y="3860795"/>
                <a:ext cx="3174477" cy="2332413"/>
                <a:chOff x="479916" y="3917945"/>
                <a:chExt cx="3174477" cy="2332413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7CD9608-4B9C-74D3-1F55-D54BC548781F}"/>
                    </a:ext>
                  </a:extLst>
                </p:cNvPr>
                <p:cNvSpPr txBox="1"/>
                <p:nvPr/>
              </p:nvSpPr>
              <p:spPr>
                <a:xfrm>
                  <a:off x="3243189" y="4706315"/>
                  <a:ext cx="411204" cy="1592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MQTT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63ADC34-A4E4-1FCF-6B63-AA17A3A4952E}"/>
                    </a:ext>
                  </a:extLst>
                </p:cNvPr>
                <p:cNvGrpSpPr/>
                <p:nvPr/>
              </p:nvGrpSpPr>
              <p:grpSpPr>
                <a:xfrm>
                  <a:off x="479916" y="3917945"/>
                  <a:ext cx="3163102" cy="2332413"/>
                  <a:chOff x="1644845" y="4078122"/>
                  <a:chExt cx="3163102" cy="2332413"/>
                </a:xfrm>
              </p:grpSpPr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7E641E25-99B1-D990-C90A-0F79BFAFB64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16605" y="5157055"/>
                    <a:ext cx="906955" cy="34731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IoT</a:t>
                    </a: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传感器</a:t>
                    </a: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66D9B51C-B0D4-D612-FFF4-B7933A0CFAD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00992" y="5157055"/>
                    <a:ext cx="906955" cy="347824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无线协转</a:t>
                    </a: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r>
                      <a:rPr lang="zh-CN" altLang="en-US" sz="100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设备</a:t>
                    </a: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cxnSp>
                <p:nvCxnSpPr>
                  <p:cNvPr id="74" name="Straight Arrow Connector 73">
                    <a:extLst>
                      <a:ext uri="{FF2B5EF4-FFF2-40B4-BE49-F238E27FC236}">
                        <a16:creationId xmlns:a16="http://schemas.microsoft.com/office/drawing/2014/main" id="{E5523882-010D-2A1E-075A-700F0138E4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79575" y="5475010"/>
                    <a:ext cx="1" cy="571825"/>
                  </a:xfrm>
                  <a:prstGeom prst="straightConnector1">
                    <a:avLst/>
                  </a:prstGeom>
                  <a:ln w="9525">
                    <a:solidFill>
                      <a:schemeClr val="accent1"/>
                    </a:solidFill>
                    <a:headEnd type="triangl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" name="TextBox 77">
                    <a:extLst>
                      <a:ext uri="{FF2B5EF4-FFF2-40B4-BE49-F238E27FC236}">
                        <a16:creationId xmlns:a16="http://schemas.microsoft.com/office/drawing/2014/main" id="{58D1984C-9997-E8A7-B7F6-CE62E64E1A0D}"/>
                      </a:ext>
                    </a:extLst>
                  </p:cNvPr>
                  <p:cNvSpPr txBox="1"/>
                  <p:nvPr/>
                </p:nvSpPr>
                <p:spPr>
                  <a:xfrm>
                    <a:off x="2135266" y="4851307"/>
                    <a:ext cx="984941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BACnet IP/UDP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D42F0E04-4CDC-323D-EB2E-A99F41FCF243}"/>
                      </a:ext>
                    </a:extLst>
                  </p:cNvPr>
                  <p:cNvSpPr txBox="1"/>
                  <p:nvPr/>
                </p:nvSpPr>
                <p:spPr>
                  <a:xfrm>
                    <a:off x="3264200" y="4851307"/>
                    <a:ext cx="83318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MQTT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70171957-C84F-E6F2-4DA6-BDAB50E33EB2}"/>
                      </a:ext>
                    </a:extLst>
                  </p:cNvPr>
                  <p:cNvSpPr txBox="1"/>
                  <p:nvPr/>
                </p:nvSpPr>
                <p:spPr>
                  <a:xfrm>
                    <a:off x="2177246" y="5683978"/>
                    <a:ext cx="83318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BACnet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FF31038E-4760-1C5C-F3D5-BE2AB2B814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12608" y="6055428"/>
                    <a:ext cx="906955" cy="35510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智能灯具</a:t>
                    </a: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60A43BFE-57A9-504F-8FD5-0FD169DF3072}"/>
                      </a:ext>
                    </a:extLst>
                  </p:cNvPr>
                  <p:cNvSpPr txBox="1"/>
                  <p:nvPr/>
                </p:nvSpPr>
                <p:spPr>
                  <a:xfrm>
                    <a:off x="3881591" y="5674338"/>
                    <a:ext cx="83318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KNX IP/TCP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6" name="Rectangle 85">
                    <a:extLst>
                      <a:ext uri="{FF2B5EF4-FFF2-40B4-BE49-F238E27FC236}">
                        <a16:creationId xmlns:a16="http://schemas.microsoft.com/office/drawing/2014/main" id="{9064B8C3-464E-F5F3-F156-5DF56DB9AF7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302212" y="4078122"/>
                    <a:ext cx="1728501" cy="346205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西门子</a:t>
                    </a:r>
                    <a:r>
                      <a:rPr kumimoji="0" lang="en-US" altLang="zh-CN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F200</a:t>
                    </a: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边缘引擎</a:t>
                    </a: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（内置</a:t>
                    </a:r>
                    <a:r>
                      <a:rPr kumimoji="0" lang="en-US" altLang="zh-CN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FIN Framework</a:t>
                    </a: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）</a:t>
                    </a: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cxnSp>
                <p:nvCxnSpPr>
                  <p:cNvPr id="106" name="Straight Arrow Connector 105">
                    <a:extLst>
                      <a:ext uri="{FF2B5EF4-FFF2-40B4-BE49-F238E27FC236}">
                        <a16:creationId xmlns:a16="http://schemas.microsoft.com/office/drawing/2014/main" id="{E5716D08-5F67-7504-72EC-FE3FF9C7B1E4}"/>
                      </a:ext>
                    </a:extLst>
                  </p:cNvPr>
                  <p:cNvCxnSpPr>
                    <a:cxnSpLocks/>
                    <a:stCxn id="86" idx="2"/>
                    <a:endCxn id="71" idx="0"/>
                  </p:cNvCxnSpPr>
                  <p:nvPr/>
                </p:nvCxnSpPr>
                <p:spPr>
                  <a:xfrm>
                    <a:off x="3166463" y="4424327"/>
                    <a:ext cx="3620" cy="732728"/>
                  </a:xfrm>
                  <a:prstGeom prst="straightConnector1">
                    <a:avLst/>
                  </a:prstGeom>
                  <a:ln w="9525">
                    <a:solidFill>
                      <a:schemeClr val="accent1"/>
                    </a:solidFill>
                    <a:headEnd type="triangl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>
                    <a:extLst>
                      <a:ext uri="{FF2B5EF4-FFF2-40B4-BE49-F238E27FC236}">
                        <a16:creationId xmlns:a16="http://schemas.microsoft.com/office/drawing/2014/main" id="{6A20E89A-F162-0CC7-032F-B3F5E48A7267}"/>
                      </a:ext>
                    </a:extLst>
                  </p:cNvPr>
                  <p:cNvCxnSpPr/>
                  <p:nvPr/>
                </p:nvCxnSpPr>
                <p:spPr>
                  <a:xfrm>
                    <a:off x="2079574" y="4777971"/>
                    <a:ext cx="2265746" cy="0"/>
                  </a:xfrm>
                  <a:prstGeom prst="line">
                    <a:avLst/>
                  </a:prstGeom>
                  <a:ln w="9525">
                    <a:solidFill>
                      <a:schemeClr val="accent1"/>
                    </a:solidFill>
                    <a:headEnd w="lg" len="lg"/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>
                    <a:extLst>
                      <a:ext uri="{FF2B5EF4-FFF2-40B4-BE49-F238E27FC236}">
                        <a16:creationId xmlns:a16="http://schemas.microsoft.com/office/drawing/2014/main" id="{EAB705F7-7EB8-13B1-92E5-F2E260101E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91468" y="4777971"/>
                    <a:ext cx="3164" cy="365615"/>
                  </a:xfrm>
                  <a:prstGeom prst="straightConnector1">
                    <a:avLst/>
                  </a:prstGeom>
                  <a:ln w="9525">
                    <a:solidFill>
                      <a:schemeClr val="accent1"/>
                    </a:solidFill>
                    <a:headEnd w="lg" len="lg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Arrow Connector 113">
                    <a:extLst>
                      <a:ext uri="{FF2B5EF4-FFF2-40B4-BE49-F238E27FC236}">
                        <a16:creationId xmlns:a16="http://schemas.microsoft.com/office/drawing/2014/main" id="{17439417-005F-FAAA-674B-EDDBEE8D88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49822" y="4777971"/>
                    <a:ext cx="3163" cy="367433"/>
                  </a:xfrm>
                  <a:prstGeom prst="straightConnector1">
                    <a:avLst/>
                  </a:prstGeom>
                  <a:ln w="9525">
                    <a:solidFill>
                      <a:schemeClr val="accent1"/>
                    </a:solidFill>
                    <a:headEnd w="lg" len="lg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Straight Arrow Connector 114">
                    <a:extLst>
                      <a:ext uri="{FF2B5EF4-FFF2-40B4-BE49-F238E27FC236}">
                        <a16:creationId xmlns:a16="http://schemas.microsoft.com/office/drawing/2014/main" id="{FB68FCBF-4970-AF7D-B77D-C765BA8D8D9A}"/>
                      </a:ext>
                    </a:extLst>
                  </p:cNvPr>
                  <p:cNvCxnSpPr>
                    <a:cxnSpLocks/>
                    <a:endCxn id="82" idx="0"/>
                  </p:cNvCxnSpPr>
                  <p:nvPr/>
                </p:nvCxnSpPr>
                <p:spPr>
                  <a:xfrm>
                    <a:off x="3762922" y="4787398"/>
                    <a:ext cx="3164" cy="1268030"/>
                  </a:xfrm>
                  <a:prstGeom prst="straightConnector1">
                    <a:avLst/>
                  </a:prstGeom>
                  <a:ln w="9525">
                    <a:solidFill>
                      <a:schemeClr val="accent1"/>
                    </a:solidFill>
                    <a:headEnd w="lg" len="lg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0AE48AD8-F36E-6AD2-21DE-74C742E058C0}"/>
                      </a:ext>
                    </a:extLst>
                  </p:cNvPr>
                  <p:cNvGrpSpPr/>
                  <p:nvPr/>
                </p:nvGrpSpPr>
                <p:grpSpPr>
                  <a:xfrm>
                    <a:off x="1657359" y="5146251"/>
                    <a:ext cx="924691" cy="362649"/>
                    <a:chOff x="8935611" y="269446"/>
                    <a:chExt cx="924691" cy="362649"/>
                  </a:xfrm>
                </p:grpSpPr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C5FEE207-00BE-CB0F-A309-5BFE7DC1628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935611" y="269446"/>
                      <a:ext cx="906955" cy="34731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rgbClr val="879BAA"/>
                      </a:solidFill>
                      <a:miter lim="800000"/>
                    </a:ln>
                    <a:effectLst/>
                  </p:spPr>
                  <p:txBody>
                    <a:bodyPr wrap="square" lIns="108000" tIns="108000" rIns="108000" bIns="108000" numCol="1" spcCol="72000" rtlCol="0" anchor="ctr" anchorCtr="0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879BAA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31" name="Right Triangle 30">
                      <a:extLst>
                        <a:ext uri="{FF2B5EF4-FFF2-40B4-BE49-F238E27FC236}">
                          <a16:creationId xmlns:a16="http://schemas.microsoft.com/office/drawing/2014/main" id="{7F13CE53-400D-7C07-2781-5F3A4816C5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8290" y="279237"/>
                      <a:ext cx="922012" cy="352858"/>
                    </a:xfrm>
                    <a:prstGeom prst="rtTriangl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08000" tIns="72000" rIns="108000" bIns="72000" rtlCol="0" anchor="t" anchorCtr="0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B2257803-5854-9C64-413B-ADE6EE7DB5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86697" y="380452"/>
                      <a:ext cx="659579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BMS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系统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B5D15284-4F49-FDEF-3EA7-DE9134708019}"/>
                      </a:ext>
                    </a:extLst>
                  </p:cNvPr>
                  <p:cNvGrpSpPr/>
                  <p:nvPr/>
                </p:nvGrpSpPr>
                <p:grpSpPr>
                  <a:xfrm>
                    <a:off x="1644845" y="6043983"/>
                    <a:ext cx="924691" cy="362649"/>
                    <a:chOff x="8935611" y="269446"/>
                    <a:chExt cx="924691" cy="362649"/>
                  </a:xfrm>
                </p:grpSpPr>
                <p:sp>
                  <p:nvSpPr>
                    <p:cNvPr id="34" name="Rectangle 33">
                      <a:extLst>
                        <a:ext uri="{FF2B5EF4-FFF2-40B4-BE49-F238E27FC236}">
                          <a16:creationId xmlns:a16="http://schemas.microsoft.com/office/drawing/2014/main" id="{6DCB1B61-50C8-0027-AB7F-43E0832E525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935611" y="269446"/>
                      <a:ext cx="906955" cy="34731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rgbClr val="879BAA"/>
                      </a:solidFill>
                      <a:miter lim="800000"/>
                    </a:ln>
                    <a:effectLst/>
                  </p:spPr>
                  <p:txBody>
                    <a:bodyPr wrap="square" lIns="108000" tIns="108000" rIns="108000" bIns="108000" numCol="1" spcCol="72000" rtlCol="0" anchor="ctr" anchorCtr="0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879BAA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35" name="Right Triangle 34">
                      <a:extLst>
                        <a:ext uri="{FF2B5EF4-FFF2-40B4-BE49-F238E27FC236}">
                          <a16:creationId xmlns:a16="http://schemas.microsoft.com/office/drawing/2014/main" id="{2C2A39AF-B998-9E9A-0767-4B30C82D02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8290" y="279237"/>
                      <a:ext cx="922012" cy="352858"/>
                    </a:xfrm>
                    <a:prstGeom prst="rtTriangl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08000" tIns="72000" rIns="108000" bIns="72000" rtlCol="0" anchor="t" anchorCtr="0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FAB49AB7-0483-5D49-D002-9A474284410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86697" y="380452"/>
                      <a:ext cx="659579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TRA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</p:grpSp>
          </p:grp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D96196-83AC-381C-292F-34A4DD980F89}"/>
                  </a:ext>
                </a:extLst>
              </p:cNvPr>
              <p:cNvSpPr/>
              <p:nvPr/>
            </p:nvSpPr>
            <p:spPr>
              <a:xfrm>
                <a:off x="166444" y="3420586"/>
                <a:ext cx="3376855" cy="29871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28945F73-9004-1F78-A491-5FD395252B32}"/>
                </a:ext>
              </a:extLst>
            </p:cNvPr>
            <p:cNvSpPr txBox="1"/>
            <p:nvPr/>
          </p:nvSpPr>
          <p:spPr>
            <a:xfrm>
              <a:off x="518867" y="3279407"/>
              <a:ext cx="900351" cy="246221"/>
            </a:xfrm>
            <a:prstGeom prst="rect">
              <a:avLst/>
            </a:prstGeom>
            <a:solidFill>
              <a:schemeClr val="bg2">
                <a:lumMod val="25000"/>
                <a:lumOff val="75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小场景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9788CC8-4585-4C93-C031-605E81F110F5}"/>
              </a:ext>
            </a:extLst>
          </p:cNvPr>
          <p:cNvGrpSpPr/>
          <p:nvPr/>
        </p:nvGrpSpPr>
        <p:grpSpPr>
          <a:xfrm>
            <a:off x="4343835" y="3263353"/>
            <a:ext cx="3376855" cy="2987150"/>
            <a:chOff x="166444" y="3420586"/>
            <a:chExt cx="3376855" cy="2987150"/>
          </a:xfrm>
        </p:grpSpPr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34E1ED13-39F6-F70E-A80C-574DE3A76F0F}"/>
                </a:ext>
              </a:extLst>
            </p:cNvPr>
            <p:cNvGrpSpPr/>
            <p:nvPr/>
          </p:nvGrpSpPr>
          <p:grpSpPr>
            <a:xfrm>
              <a:off x="279891" y="3860795"/>
              <a:ext cx="3174477" cy="2332413"/>
              <a:chOff x="479916" y="3917945"/>
              <a:chExt cx="3174477" cy="2332413"/>
            </a:xfrm>
          </p:grpSpPr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1853C7E7-E0BE-FDA3-48FA-0834AA29B16E}"/>
                  </a:ext>
                </a:extLst>
              </p:cNvPr>
              <p:cNvSpPr txBox="1"/>
              <p:nvPr/>
            </p:nvSpPr>
            <p:spPr>
              <a:xfrm>
                <a:off x="3243189" y="4706315"/>
                <a:ext cx="411204" cy="1592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MQTT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8FB6A4FA-676D-D33F-DF73-A37A163F5E69}"/>
                  </a:ext>
                </a:extLst>
              </p:cNvPr>
              <p:cNvGrpSpPr/>
              <p:nvPr/>
            </p:nvGrpSpPr>
            <p:grpSpPr>
              <a:xfrm>
                <a:off x="479916" y="3917945"/>
                <a:ext cx="3163102" cy="2332413"/>
                <a:chOff x="1644845" y="4078122"/>
                <a:chExt cx="3163102" cy="2332413"/>
              </a:xfrm>
            </p:grpSpPr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2223748E-8962-F84B-1FFB-33EFA6800215}"/>
                    </a:ext>
                  </a:extLst>
                </p:cNvPr>
                <p:cNvSpPr/>
                <p:nvPr/>
              </p:nvSpPr>
              <p:spPr bwMode="auto">
                <a:xfrm>
                  <a:off x="2716605" y="5157055"/>
                  <a:ext cx="906955" cy="34731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IoT</a:t>
                  </a: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传感器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88E602AC-B92A-10A8-A10C-1FF92960DE2D}"/>
                    </a:ext>
                  </a:extLst>
                </p:cNvPr>
                <p:cNvSpPr/>
                <p:nvPr/>
              </p:nvSpPr>
              <p:spPr bwMode="auto">
                <a:xfrm>
                  <a:off x="3900992" y="5157055"/>
                  <a:ext cx="906955" cy="347824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无线协转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设备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151" name="Straight Arrow Connector 150">
                  <a:extLst>
                    <a:ext uri="{FF2B5EF4-FFF2-40B4-BE49-F238E27FC236}">
                      <a16:creationId xmlns:a16="http://schemas.microsoft.com/office/drawing/2014/main" id="{3770E9EF-1A5C-BCC2-7F54-16BB3E4A22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79575" y="5475010"/>
                  <a:ext cx="1" cy="571825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2D2FB77E-BE93-4E28-3CC1-DD194257190C}"/>
                    </a:ext>
                  </a:extLst>
                </p:cNvPr>
                <p:cNvSpPr txBox="1"/>
                <p:nvPr/>
              </p:nvSpPr>
              <p:spPr>
                <a:xfrm>
                  <a:off x="2135266" y="4851307"/>
                  <a:ext cx="984941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BACnet IP/UDP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69D7BB0B-0A85-B6F7-C5C8-17A9633BF9FE}"/>
                    </a:ext>
                  </a:extLst>
                </p:cNvPr>
                <p:cNvSpPr txBox="1"/>
                <p:nvPr/>
              </p:nvSpPr>
              <p:spPr>
                <a:xfrm>
                  <a:off x="3264200" y="4851307"/>
                  <a:ext cx="83318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MQTT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1EC2BD3C-AB08-88B7-5600-3A20E0B181F0}"/>
                    </a:ext>
                  </a:extLst>
                </p:cNvPr>
                <p:cNvSpPr txBox="1"/>
                <p:nvPr/>
              </p:nvSpPr>
              <p:spPr>
                <a:xfrm>
                  <a:off x="2177246" y="5683978"/>
                  <a:ext cx="83318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BACnet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F42C3A4E-B2E7-2B48-AABE-344F3D5A7202}"/>
                    </a:ext>
                  </a:extLst>
                </p:cNvPr>
                <p:cNvSpPr/>
                <p:nvPr/>
              </p:nvSpPr>
              <p:spPr bwMode="auto">
                <a:xfrm>
                  <a:off x="3312608" y="6055428"/>
                  <a:ext cx="906955" cy="355107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智能灯具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2557C036-AE26-D9EA-AA1B-DFC750B7A047}"/>
                    </a:ext>
                  </a:extLst>
                </p:cNvPr>
                <p:cNvSpPr txBox="1"/>
                <p:nvPr/>
              </p:nvSpPr>
              <p:spPr>
                <a:xfrm>
                  <a:off x="3881591" y="5674338"/>
                  <a:ext cx="83318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KNX IP/TCP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71C13D04-C763-F2A3-9857-FBCFE623E047}"/>
                    </a:ext>
                  </a:extLst>
                </p:cNvPr>
                <p:cNvSpPr/>
                <p:nvPr/>
              </p:nvSpPr>
              <p:spPr bwMode="auto">
                <a:xfrm>
                  <a:off x="2302212" y="4078122"/>
                  <a:ext cx="1728501" cy="34620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西门子</a:t>
                  </a:r>
                  <a:r>
                    <a: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F200</a:t>
                  </a: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边缘引擎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（内置</a:t>
                  </a:r>
                  <a:r>
                    <a: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FIN Framework</a:t>
                  </a: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）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158" name="Straight Arrow Connector 157">
                  <a:extLst>
                    <a:ext uri="{FF2B5EF4-FFF2-40B4-BE49-F238E27FC236}">
                      <a16:creationId xmlns:a16="http://schemas.microsoft.com/office/drawing/2014/main" id="{0DFF3B9B-B473-3587-9AF1-2FDD7A223A8B}"/>
                    </a:ext>
                  </a:extLst>
                </p:cNvPr>
                <p:cNvCxnSpPr>
                  <a:cxnSpLocks/>
                  <a:stCxn id="157" idx="2"/>
                  <a:endCxn id="149" idx="0"/>
                </p:cNvCxnSpPr>
                <p:nvPr/>
              </p:nvCxnSpPr>
              <p:spPr>
                <a:xfrm>
                  <a:off x="3166463" y="4424327"/>
                  <a:ext cx="3620" cy="732728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98509297-BF1D-1B27-A164-F6F7B65200B5}"/>
                    </a:ext>
                  </a:extLst>
                </p:cNvPr>
                <p:cNvCxnSpPr/>
                <p:nvPr/>
              </p:nvCxnSpPr>
              <p:spPr>
                <a:xfrm>
                  <a:off x="2079574" y="4777971"/>
                  <a:ext cx="2265746" cy="0"/>
                </a:xfrm>
                <a:prstGeom prst="line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Arrow Connector 159">
                  <a:extLst>
                    <a:ext uri="{FF2B5EF4-FFF2-40B4-BE49-F238E27FC236}">
                      <a16:creationId xmlns:a16="http://schemas.microsoft.com/office/drawing/2014/main" id="{1B867E07-2DEF-E5DA-DA90-0437373CB9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91468" y="4777971"/>
                  <a:ext cx="3164" cy="365615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Arrow Connector 160">
                  <a:extLst>
                    <a:ext uri="{FF2B5EF4-FFF2-40B4-BE49-F238E27FC236}">
                      <a16:creationId xmlns:a16="http://schemas.microsoft.com/office/drawing/2014/main" id="{C8414C03-897E-3CC3-973E-5E53DF400E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49822" y="4777971"/>
                  <a:ext cx="3163" cy="367433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Arrow Connector 161">
                  <a:extLst>
                    <a:ext uri="{FF2B5EF4-FFF2-40B4-BE49-F238E27FC236}">
                      <a16:creationId xmlns:a16="http://schemas.microsoft.com/office/drawing/2014/main" id="{C2EAD5EA-B8D6-ADF8-94E8-88D0311B4D75}"/>
                    </a:ext>
                  </a:extLst>
                </p:cNvPr>
                <p:cNvCxnSpPr>
                  <a:cxnSpLocks/>
                  <a:endCxn id="155" idx="0"/>
                </p:cNvCxnSpPr>
                <p:nvPr/>
              </p:nvCxnSpPr>
              <p:spPr>
                <a:xfrm>
                  <a:off x="3762922" y="4787398"/>
                  <a:ext cx="3164" cy="1268030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7E27D104-E4D5-838D-30BF-EF6813D8AC2D}"/>
                    </a:ext>
                  </a:extLst>
                </p:cNvPr>
                <p:cNvGrpSpPr/>
                <p:nvPr/>
              </p:nvGrpSpPr>
              <p:grpSpPr>
                <a:xfrm>
                  <a:off x="1657359" y="5146251"/>
                  <a:ext cx="924691" cy="362649"/>
                  <a:chOff x="8935611" y="269446"/>
                  <a:chExt cx="924691" cy="362649"/>
                </a:xfrm>
              </p:grpSpPr>
              <p:sp>
                <p:nvSpPr>
                  <p:cNvPr id="168" name="Rectangle 167">
                    <a:extLst>
                      <a:ext uri="{FF2B5EF4-FFF2-40B4-BE49-F238E27FC236}">
                        <a16:creationId xmlns:a16="http://schemas.microsoft.com/office/drawing/2014/main" id="{B415E8E2-FD0D-6FDC-DB66-F76A2CA732A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935611" y="269446"/>
                    <a:ext cx="906955" cy="34731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169" name="Right Triangle 168">
                    <a:extLst>
                      <a:ext uri="{FF2B5EF4-FFF2-40B4-BE49-F238E27FC236}">
                        <a16:creationId xmlns:a16="http://schemas.microsoft.com/office/drawing/2014/main" id="{BDD4C634-84FB-FE2B-0DB7-B70A7ECCFE74}"/>
                      </a:ext>
                    </a:extLst>
                  </p:cNvPr>
                  <p:cNvSpPr/>
                  <p:nvPr/>
                </p:nvSpPr>
                <p:spPr>
                  <a:xfrm>
                    <a:off x="8938290" y="279237"/>
                    <a:ext cx="922012" cy="352858"/>
                  </a:xfrm>
                  <a:prstGeom prst="rtTriangl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tIns="72000" rIns="108000" bIns="72000" rtlCol="0" anchor="t" anchorCtr="0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2" name="TextBox 171">
                    <a:extLst>
                      <a:ext uri="{FF2B5EF4-FFF2-40B4-BE49-F238E27FC236}">
                        <a16:creationId xmlns:a16="http://schemas.microsoft.com/office/drawing/2014/main" id="{D7B95A86-E795-11AF-EDD7-36B1B4F2EFFB}"/>
                      </a:ext>
                    </a:extLst>
                  </p:cNvPr>
                  <p:cNvSpPr txBox="1"/>
                  <p:nvPr/>
                </p:nvSpPr>
                <p:spPr>
                  <a:xfrm>
                    <a:off x="9086697" y="380452"/>
                    <a:ext cx="659579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BMS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系统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F1AC95B6-88E1-439E-3AE3-907A1205D93C}"/>
                    </a:ext>
                  </a:extLst>
                </p:cNvPr>
                <p:cNvGrpSpPr/>
                <p:nvPr/>
              </p:nvGrpSpPr>
              <p:grpSpPr>
                <a:xfrm>
                  <a:off x="1644845" y="6043983"/>
                  <a:ext cx="924691" cy="362649"/>
                  <a:chOff x="8935611" y="269446"/>
                  <a:chExt cx="924691" cy="362649"/>
                </a:xfrm>
              </p:grpSpPr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1E6D3195-0487-EE44-CB03-8243319C047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935611" y="269446"/>
                    <a:ext cx="906955" cy="34731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166" name="Right Triangle 165">
                    <a:extLst>
                      <a:ext uri="{FF2B5EF4-FFF2-40B4-BE49-F238E27FC236}">
                        <a16:creationId xmlns:a16="http://schemas.microsoft.com/office/drawing/2014/main" id="{027F7D5D-5C65-5A0A-46AC-0F90962D8973}"/>
                      </a:ext>
                    </a:extLst>
                  </p:cNvPr>
                  <p:cNvSpPr/>
                  <p:nvPr/>
                </p:nvSpPr>
                <p:spPr>
                  <a:xfrm>
                    <a:off x="8938290" y="279237"/>
                    <a:ext cx="922012" cy="352858"/>
                  </a:xfrm>
                  <a:prstGeom prst="rtTriangl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tIns="72000" rIns="108000" bIns="72000" rtlCol="0" anchor="t" anchorCtr="0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B9CEBDCB-46EA-AFEF-3188-8D10A7E49B23}"/>
                      </a:ext>
                    </a:extLst>
                  </p:cNvPr>
                  <p:cNvSpPr txBox="1"/>
                  <p:nvPr/>
                </p:nvSpPr>
                <p:spPr>
                  <a:xfrm>
                    <a:off x="9086697" y="380452"/>
                    <a:ext cx="659579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TRA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71FD0A38-2C76-F0E8-AE2E-219D556D381E}"/>
                </a:ext>
              </a:extLst>
            </p:cNvPr>
            <p:cNvSpPr/>
            <p:nvPr/>
          </p:nvSpPr>
          <p:spPr>
            <a:xfrm>
              <a:off x="166444" y="3420586"/>
              <a:ext cx="3376855" cy="298715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B8AA1866-B611-3F50-3FAB-1629E696990B}"/>
              </a:ext>
            </a:extLst>
          </p:cNvPr>
          <p:cNvGrpSpPr/>
          <p:nvPr/>
        </p:nvGrpSpPr>
        <p:grpSpPr>
          <a:xfrm>
            <a:off x="8230766" y="3263353"/>
            <a:ext cx="3376855" cy="2987150"/>
            <a:chOff x="166444" y="3420586"/>
            <a:chExt cx="3376855" cy="2987150"/>
          </a:xfrm>
        </p:grpSpPr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3FF53CB2-CDBC-AA95-495E-0E69DCE78A7C}"/>
                </a:ext>
              </a:extLst>
            </p:cNvPr>
            <p:cNvGrpSpPr/>
            <p:nvPr/>
          </p:nvGrpSpPr>
          <p:grpSpPr>
            <a:xfrm>
              <a:off x="279891" y="3860795"/>
              <a:ext cx="3174477" cy="2332413"/>
              <a:chOff x="479916" y="3917945"/>
              <a:chExt cx="3174477" cy="2332413"/>
            </a:xfrm>
          </p:grpSpPr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8B97884C-0BA4-93EA-0A12-1D5E43464975}"/>
                  </a:ext>
                </a:extLst>
              </p:cNvPr>
              <p:cNvSpPr txBox="1"/>
              <p:nvPr/>
            </p:nvSpPr>
            <p:spPr>
              <a:xfrm>
                <a:off x="3243189" y="4706315"/>
                <a:ext cx="411204" cy="1592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MQTT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27260F9F-D3FB-8B6D-DC47-AEDD1A5DB956}"/>
                  </a:ext>
                </a:extLst>
              </p:cNvPr>
              <p:cNvGrpSpPr/>
              <p:nvPr/>
            </p:nvGrpSpPr>
            <p:grpSpPr>
              <a:xfrm>
                <a:off x="479916" y="3917945"/>
                <a:ext cx="3163102" cy="2332413"/>
                <a:chOff x="1644845" y="4078122"/>
                <a:chExt cx="3163102" cy="2332413"/>
              </a:xfrm>
            </p:grpSpPr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7535AD14-F374-D112-D88E-57B6B95B3D3C}"/>
                    </a:ext>
                  </a:extLst>
                </p:cNvPr>
                <p:cNvSpPr/>
                <p:nvPr/>
              </p:nvSpPr>
              <p:spPr bwMode="auto">
                <a:xfrm>
                  <a:off x="2716605" y="5157055"/>
                  <a:ext cx="906955" cy="34731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IoT</a:t>
                  </a: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传感器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7F83CAE7-B6FA-DE48-C4F9-72EAAA65164B}"/>
                    </a:ext>
                  </a:extLst>
                </p:cNvPr>
                <p:cNvSpPr/>
                <p:nvPr/>
              </p:nvSpPr>
              <p:spPr bwMode="auto">
                <a:xfrm>
                  <a:off x="3900992" y="5157055"/>
                  <a:ext cx="906955" cy="347824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无线协转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设备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202" name="Straight Arrow Connector 201">
                  <a:extLst>
                    <a:ext uri="{FF2B5EF4-FFF2-40B4-BE49-F238E27FC236}">
                      <a16:creationId xmlns:a16="http://schemas.microsoft.com/office/drawing/2014/main" id="{2723558D-0F14-DAEB-3367-E59BB1A018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79575" y="5475010"/>
                  <a:ext cx="1" cy="571825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B7B4D462-6221-931B-8B6E-BB672A598B4C}"/>
                    </a:ext>
                  </a:extLst>
                </p:cNvPr>
                <p:cNvSpPr txBox="1"/>
                <p:nvPr/>
              </p:nvSpPr>
              <p:spPr>
                <a:xfrm>
                  <a:off x="2135266" y="4851307"/>
                  <a:ext cx="984941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BACnet IP/UDP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727F532-D757-B98B-AE5C-C7D5F06693E3}"/>
                    </a:ext>
                  </a:extLst>
                </p:cNvPr>
                <p:cNvSpPr txBox="1"/>
                <p:nvPr/>
              </p:nvSpPr>
              <p:spPr>
                <a:xfrm>
                  <a:off x="3264200" y="4851307"/>
                  <a:ext cx="83318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MQTT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3E7E7217-36AA-77BB-4B29-65C646C3DEFB}"/>
                    </a:ext>
                  </a:extLst>
                </p:cNvPr>
                <p:cNvSpPr txBox="1"/>
                <p:nvPr/>
              </p:nvSpPr>
              <p:spPr>
                <a:xfrm>
                  <a:off x="2177246" y="5683978"/>
                  <a:ext cx="83318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BACnet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AB12B318-6BCB-551A-0EB4-E1B063585775}"/>
                    </a:ext>
                  </a:extLst>
                </p:cNvPr>
                <p:cNvSpPr/>
                <p:nvPr/>
              </p:nvSpPr>
              <p:spPr bwMode="auto">
                <a:xfrm>
                  <a:off x="3312608" y="6055428"/>
                  <a:ext cx="906955" cy="355107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智能灯具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5808D8A0-7689-8F49-6EFF-22487D1BEC30}"/>
                    </a:ext>
                  </a:extLst>
                </p:cNvPr>
                <p:cNvSpPr txBox="1"/>
                <p:nvPr/>
              </p:nvSpPr>
              <p:spPr>
                <a:xfrm>
                  <a:off x="3881591" y="5674338"/>
                  <a:ext cx="83318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KNX IP/TCP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5A58BD7C-4018-1644-7992-0CF3C63B7ACE}"/>
                    </a:ext>
                  </a:extLst>
                </p:cNvPr>
                <p:cNvSpPr/>
                <p:nvPr/>
              </p:nvSpPr>
              <p:spPr bwMode="auto">
                <a:xfrm>
                  <a:off x="2302212" y="4078122"/>
                  <a:ext cx="1728501" cy="34620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西门子</a:t>
                  </a:r>
                  <a:r>
                    <a: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F200</a:t>
                  </a: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边缘引擎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（内置</a:t>
                  </a:r>
                  <a:r>
                    <a: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FIN Framework</a:t>
                  </a: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）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217" name="Straight Arrow Connector 216">
                  <a:extLst>
                    <a:ext uri="{FF2B5EF4-FFF2-40B4-BE49-F238E27FC236}">
                      <a16:creationId xmlns:a16="http://schemas.microsoft.com/office/drawing/2014/main" id="{B37B08A8-5D01-1D04-B62E-51D28A9A9DED}"/>
                    </a:ext>
                  </a:extLst>
                </p:cNvPr>
                <p:cNvCxnSpPr>
                  <a:cxnSpLocks/>
                  <a:stCxn id="216" idx="2"/>
                  <a:endCxn id="198" idx="0"/>
                </p:cNvCxnSpPr>
                <p:nvPr/>
              </p:nvCxnSpPr>
              <p:spPr>
                <a:xfrm>
                  <a:off x="3166463" y="4424327"/>
                  <a:ext cx="3620" cy="732728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>
                  <a:extLst>
                    <a:ext uri="{FF2B5EF4-FFF2-40B4-BE49-F238E27FC236}">
                      <a16:creationId xmlns:a16="http://schemas.microsoft.com/office/drawing/2014/main" id="{74E2A78A-66D2-B0BB-DAA9-81976C7C7DA5}"/>
                    </a:ext>
                  </a:extLst>
                </p:cNvPr>
                <p:cNvCxnSpPr/>
                <p:nvPr/>
              </p:nvCxnSpPr>
              <p:spPr>
                <a:xfrm>
                  <a:off x="2079574" y="4777971"/>
                  <a:ext cx="2265746" cy="0"/>
                </a:xfrm>
                <a:prstGeom prst="line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Arrow Connector 218">
                  <a:extLst>
                    <a:ext uri="{FF2B5EF4-FFF2-40B4-BE49-F238E27FC236}">
                      <a16:creationId xmlns:a16="http://schemas.microsoft.com/office/drawing/2014/main" id="{C41DF916-1B28-96F2-B76B-74D0643DA0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91468" y="4777971"/>
                  <a:ext cx="3164" cy="365615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Arrow Connector 219">
                  <a:extLst>
                    <a:ext uri="{FF2B5EF4-FFF2-40B4-BE49-F238E27FC236}">
                      <a16:creationId xmlns:a16="http://schemas.microsoft.com/office/drawing/2014/main" id="{295DEA76-4E2A-D13B-8A6B-D4D9C33DF0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49822" y="4777971"/>
                  <a:ext cx="3163" cy="367433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Arrow Connector 221">
                  <a:extLst>
                    <a:ext uri="{FF2B5EF4-FFF2-40B4-BE49-F238E27FC236}">
                      <a16:creationId xmlns:a16="http://schemas.microsoft.com/office/drawing/2014/main" id="{9B0B428A-4002-78EB-3915-8D0A30181E9D}"/>
                    </a:ext>
                  </a:extLst>
                </p:cNvPr>
                <p:cNvCxnSpPr>
                  <a:cxnSpLocks/>
                  <a:endCxn id="212" idx="0"/>
                </p:cNvCxnSpPr>
                <p:nvPr/>
              </p:nvCxnSpPr>
              <p:spPr>
                <a:xfrm>
                  <a:off x="3762922" y="4787398"/>
                  <a:ext cx="3164" cy="1268030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3" name="Group 222">
                  <a:extLst>
                    <a:ext uri="{FF2B5EF4-FFF2-40B4-BE49-F238E27FC236}">
                      <a16:creationId xmlns:a16="http://schemas.microsoft.com/office/drawing/2014/main" id="{E626F15D-EDCF-F42C-B966-914C793C653B}"/>
                    </a:ext>
                  </a:extLst>
                </p:cNvPr>
                <p:cNvGrpSpPr/>
                <p:nvPr/>
              </p:nvGrpSpPr>
              <p:grpSpPr>
                <a:xfrm>
                  <a:off x="1657359" y="5146251"/>
                  <a:ext cx="924691" cy="362649"/>
                  <a:chOff x="8935611" y="269446"/>
                  <a:chExt cx="924691" cy="362649"/>
                </a:xfrm>
              </p:grpSpPr>
              <p:sp>
                <p:nvSpPr>
                  <p:cNvPr id="230" name="Rectangle 229">
                    <a:extLst>
                      <a:ext uri="{FF2B5EF4-FFF2-40B4-BE49-F238E27FC236}">
                        <a16:creationId xmlns:a16="http://schemas.microsoft.com/office/drawing/2014/main" id="{71E6F4EC-9222-192C-DCFE-042C7ED3F3F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935611" y="269446"/>
                    <a:ext cx="906955" cy="34731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231" name="Right Triangle 230">
                    <a:extLst>
                      <a:ext uri="{FF2B5EF4-FFF2-40B4-BE49-F238E27FC236}">
                        <a16:creationId xmlns:a16="http://schemas.microsoft.com/office/drawing/2014/main" id="{8E7B359B-45EE-61D9-5494-EB9C0D42C389}"/>
                      </a:ext>
                    </a:extLst>
                  </p:cNvPr>
                  <p:cNvSpPr/>
                  <p:nvPr/>
                </p:nvSpPr>
                <p:spPr>
                  <a:xfrm>
                    <a:off x="8938290" y="279237"/>
                    <a:ext cx="922012" cy="352858"/>
                  </a:xfrm>
                  <a:prstGeom prst="rtTriangl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tIns="72000" rIns="108000" bIns="72000" rtlCol="0" anchor="t" anchorCtr="0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2" name="TextBox 231">
                    <a:extLst>
                      <a:ext uri="{FF2B5EF4-FFF2-40B4-BE49-F238E27FC236}">
                        <a16:creationId xmlns:a16="http://schemas.microsoft.com/office/drawing/2014/main" id="{67D594E9-7457-B2AE-43EB-92B495AE5BBE}"/>
                      </a:ext>
                    </a:extLst>
                  </p:cNvPr>
                  <p:cNvSpPr txBox="1"/>
                  <p:nvPr/>
                </p:nvSpPr>
                <p:spPr>
                  <a:xfrm>
                    <a:off x="9086697" y="380452"/>
                    <a:ext cx="659579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BMS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系统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24" name="Group 223">
                  <a:extLst>
                    <a:ext uri="{FF2B5EF4-FFF2-40B4-BE49-F238E27FC236}">
                      <a16:creationId xmlns:a16="http://schemas.microsoft.com/office/drawing/2014/main" id="{D3452BF2-AE8C-5B36-BC19-3E7680C63905}"/>
                    </a:ext>
                  </a:extLst>
                </p:cNvPr>
                <p:cNvGrpSpPr/>
                <p:nvPr/>
              </p:nvGrpSpPr>
              <p:grpSpPr>
                <a:xfrm>
                  <a:off x="1644845" y="6043983"/>
                  <a:ext cx="924691" cy="362649"/>
                  <a:chOff x="8935611" y="269446"/>
                  <a:chExt cx="924691" cy="362649"/>
                </a:xfrm>
              </p:grpSpPr>
              <p:sp>
                <p:nvSpPr>
                  <p:cNvPr id="226" name="Rectangle 225">
                    <a:extLst>
                      <a:ext uri="{FF2B5EF4-FFF2-40B4-BE49-F238E27FC236}">
                        <a16:creationId xmlns:a16="http://schemas.microsoft.com/office/drawing/2014/main" id="{B6A58667-B26D-5CC2-B79F-BDAF07F706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935611" y="269446"/>
                    <a:ext cx="906955" cy="34731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227" name="Right Triangle 226">
                    <a:extLst>
                      <a:ext uri="{FF2B5EF4-FFF2-40B4-BE49-F238E27FC236}">
                        <a16:creationId xmlns:a16="http://schemas.microsoft.com/office/drawing/2014/main" id="{DC07AC36-BD17-9720-3ED1-2FA8A7563A5A}"/>
                      </a:ext>
                    </a:extLst>
                  </p:cNvPr>
                  <p:cNvSpPr/>
                  <p:nvPr/>
                </p:nvSpPr>
                <p:spPr>
                  <a:xfrm>
                    <a:off x="8938290" y="279237"/>
                    <a:ext cx="922012" cy="352858"/>
                  </a:xfrm>
                  <a:prstGeom prst="rtTriangl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tIns="72000" rIns="108000" bIns="72000" rtlCol="0" anchor="t" anchorCtr="0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9" name="TextBox 228">
                    <a:extLst>
                      <a:ext uri="{FF2B5EF4-FFF2-40B4-BE49-F238E27FC236}">
                        <a16:creationId xmlns:a16="http://schemas.microsoft.com/office/drawing/2014/main" id="{06058BC1-CECE-7E65-1FAE-5B7A409A9C78}"/>
                      </a:ext>
                    </a:extLst>
                  </p:cNvPr>
                  <p:cNvSpPr txBox="1"/>
                  <p:nvPr/>
                </p:nvSpPr>
                <p:spPr>
                  <a:xfrm>
                    <a:off x="9086697" y="380452"/>
                    <a:ext cx="659579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TRA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4BFFB727-0A51-EB96-ACEF-285AD6142932}"/>
                </a:ext>
              </a:extLst>
            </p:cNvPr>
            <p:cNvSpPr/>
            <p:nvPr/>
          </p:nvSpPr>
          <p:spPr>
            <a:xfrm>
              <a:off x="166444" y="3420586"/>
              <a:ext cx="3376855" cy="298715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DE97FB73-8686-D8AE-BF46-40532217CA52}"/>
              </a:ext>
            </a:extLst>
          </p:cNvPr>
          <p:cNvCxnSpPr>
            <a:cxnSpLocks/>
          </p:cNvCxnSpPr>
          <p:nvPr/>
        </p:nvCxnSpPr>
        <p:spPr>
          <a:xfrm>
            <a:off x="2144408" y="2803211"/>
            <a:ext cx="7721423" cy="0"/>
          </a:xfrm>
          <a:prstGeom prst="lin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9D295038-05F8-EF9E-D8BB-01A80A13B012}"/>
              </a:ext>
            </a:extLst>
          </p:cNvPr>
          <p:cNvCxnSpPr>
            <a:cxnSpLocks/>
          </p:cNvCxnSpPr>
          <p:nvPr/>
        </p:nvCxnSpPr>
        <p:spPr>
          <a:xfrm>
            <a:off x="2144407" y="2803211"/>
            <a:ext cx="0" cy="879727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B3C9C0D0-2673-5E68-AEEB-C7E0B5047CD3}"/>
              </a:ext>
            </a:extLst>
          </p:cNvPr>
          <p:cNvCxnSpPr>
            <a:cxnSpLocks/>
          </p:cNvCxnSpPr>
          <p:nvPr/>
        </p:nvCxnSpPr>
        <p:spPr>
          <a:xfrm>
            <a:off x="9856305" y="2803211"/>
            <a:ext cx="0" cy="898987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125D6F7A-42E2-7227-1D24-F85B30D7FF90}"/>
              </a:ext>
            </a:extLst>
          </p:cNvPr>
          <p:cNvCxnSpPr>
            <a:cxnSpLocks/>
          </p:cNvCxnSpPr>
          <p:nvPr/>
        </p:nvCxnSpPr>
        <p:spPr>
          <a:xfrm flipH="1" flipV="1">
            <a:off x="5964179" y="2268316"/>
            <a:ext cx="1408" cy="1405097"/>
          </a:xfrm>
          <a:prstGeom prst="straightConnector1">
            <a:avLst/>
          </a:prstGeom>
          <a:ln w="952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9ACAFADC-58EA-F223-54AA-97770E85D854}"/>
              </a:ext>
            </a:extLst>
          </p:cNvPr>
          <p:cNvSpPr txBox="1"/>
          <p:nvPr/>
        </p:nvSpPr>
        <p:spPr>
          <a:xfrm>
            <a:off x="8241216" y="3279407"/>
            <a:ext cx="900351" cy="246221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小场景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BD58D854-696F-E46D-EDF0-869CACB37829}"/>
              </a:ext>
            </a:extLst>
          </p:cNvPr>
          <p:cNvSpPr txBox="1"/>
          <p:nvPr/>
        </p:nvSpPr>
        <p:spPr>
          <a:xfrm>
            <a:off x="4353360" y="3279410"/>
            <a:ext cx="900351" cy="246221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小场景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F350FB9-DC75-CA33-7727-7A422F437ACC}"/>
              </a:ext>
            </a:extLst>
          </p:cNvPr>
          <p:cNvGrpSpPr/>
          <p:nvPr/>
        </p:nvGrpSpPr>
        <p:grpSpPr>
          <a:xfrm>
            <a:off x="6147583" y="2873280"/>
            <a:ext cx="1072972" cy="739587"/>
            <a:chOff x="505255" y="2115155"/>
            <a:chExt cx="1549803" cy="1087901"/>
          </a:xfrm>
        </p:grpSpPr>
        <p:pic>
          <p:nvPicPr>
            <p:cNvPr id="267" name="Picture 266">
              <a:extLst>
                <a:ext uri="{FF2B5EF4-FFF2-40B4-BE49-F238E27FC236}">
                  <a16:creationId xmlns:a16="http://schemas.microsoft.com/office/drawing/2014/main" id="{533C250E-2991-7E96-B885-5B437E698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5255" y="2115155"/>
              <a:ext cx="1549803" cy="1087901"/>
            </a:xfrm>
            <a:prstGeom prst="rect">
              <a:avLst/>
            </a:prstGeom>
          </p:spPr>
        </p:pic>
        <p:pic>
          <p:nvPicPr>
            <p:cNvPr id="268" name="Picture 267" descr="A computer screen shot of a machine&#10;&#10;Description automatically generated">
              <a:extLst>
                <a:ext uri="{FF2B5EF4-FFF2-40B4-BE49-F238E27FC236}">
                  <a16:creationId xmlns:a16="http://schemas.microsoft.com/office/drawing/2014/main" id="{49B85539-25B2-5A38-6622-ABF370552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816" y="2267842"/>
              <a:ext cx="1271773" cy="770576"/>
            </a:xfrm>
            <a:prstGeom prst="rect">
              <a:avLst/>
            </a:prstGeom>
          </p:spPr>
        </p:pic>
      </p:grpSp>
      <p:pic>
        <p:nvPicPr>
          <p:cNvPr id="269" name="Picture 268">
            <a:extLst>
              <a:ext uri="{FF2B5EF4-FFF2-40B4-BE49-F238E27FC236}">
                <a16:creationId xmlns:a16="http://schemas.microsoft.com/office/drawing/2014/main" id="{DC29245D-1BC4-FDA4-E706-FA5FCFD5FB8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5" t="14794" r="15047"/>
          <a:stretch/>
        </p:blipFill>
        <p:spPr>
          <a:xfrm>
            <a:off x="2190032" y="2803211"/>
            <a:ext cx="992822" cy="972988"/>
          </a:xfrm>
          <a:prstGeom prst="rect">
            <a:avLst/>
          </a:prstGeom>
        </p:spPr>
      </p:pic>
      <p:pic>
        <p:nvPicPr>
          <p:cNvPr id="272" name="Picture 271" descr="A computer screen shot of a blue and pink building&#10;&#10;Description automatically generated">
            <a:extLst>
              <a:ext uri="{FF2B5EF4-FFF2-40B4-BE49-F238E27FC236}">
                <a16:creationId xmlns:a16="http://schemas.microsoft.com/office/drawing/2014/main" id="{BF467479-8C78-7891-A08A-54B42FB073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2385" y="2834712"/>
            <a:ext cx="1016328" cy="747064"/>
          </a:xfrm>
          <a:prstGeom prst="rect">
            <a:avLst/>
          </a:prstGeom>
        </p:spPr>
      </p:pic>
      <p:sp>
        <p:nvSpPr>
          <p:cNvPr id="273" name="TextBox 272">
            <a:extLst>
              <a:ext uri="{FF2B5EF4-FFF2-40B4-BE49-F238E27FC236}">
                <a16:creationId xmlns:a16="http://schemas.microsoft.com/office/drawing/2014/main" id="{13217BFF-22FF-BD1E-FA76-71D1DA21B4FB}"/>
              </a:ext>
            </a:extLst>
          </p:cNvPr>
          <p:cNvSpPr txBox="1"/>
          <p:nvPr/>
        </p:nvSpPr>
        <p:spPr>
          <a:xfrm>
            <a:off x="1079373" y="2978326"/>
            <a:ext cx="158667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iemens Sans Global" pitchFamily="2" charset="-122"/>
              </a:rPr>
              <a:t>边缘控制器</a:t>
            </a:r>
            <a:endParaRPr kumimoji="0" lang="en-US" sz="1200" b="1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iemens Sans Global" pitchFamily="2" charset="-122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526A4B11-3441-F5D4-2B9D-AD1D51FF5A63}"/>
              </a:ext>
            </a:extLst>
          </p:cNvPr>
          <p:cNvSpPr txBox="1"/>
          <p:nvPr/>
        </p:nvSpPr>
        <p:spPr>
          <a:xfrm>
            <a:off x="4966599" y="2978326"/>
            <a:ext cx="127968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iemens Sans Global" pitchFamily="2" charset="-122"/>
              </a:rPr>
              <a:t>嵌入式触摸屏</a:t>
            </a:r>
            <a:endParaRPr kumimoji="0" lang="en-US" sz="1200" b="1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iemens Sans Global" pitchFamily="2" charset="-122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467F3EF9-D6B7-189F-CD3D-D0ABD4490AF3}"/>
              </a:ext>
            </a:extLst>
          </p:cNvPr>
          <p:cNvSpPr txBox="1"/>
          <p:nvPr/>
        </p:nvSpPr>
        <p:spPr>
          <a:xfrm>
            <a:off x="9030570" y="2966970"/>
            <a:ext cx="127968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iemens Sans Global" pitchFamily="2" charset="-122"/>
              </a:rPr>
              <a:t>网页访问</a:t>
            </a:r>
            <a:endParaRPr kumimoji="0" lang="en-US" sz="1200" b="1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iemens Sans Global" pitchFamily="2" charset="-122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966FABD-5A14-9E65-58C7-8AE2117D92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44" y="834538"/>
            <a:ext cx="3190912" cy="172759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A89859-4E55-10A7-15E3-66073FDCDC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5282" y="834538"/>
            <a:ext cx="3182340" cy="172759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C6266825-E555-84CE-0878-6EE95244E38D}"/>
              </a:ext>
            </a:extLst>
          </p:cNvPr>
          <p:cNvGrpSpPr/>
          <p:nvPr/>
        </p:nvGrpSpPr>
        <p:grpSpPr>
          <a:xfrm>
            <a:off x="11246741" y="354167"/>
            <a:ext cx="614680" cy="581660"/>
            <a:chOff x="11155601" y="705485"/>
            <a:chExt cx="614680" cy="581660"/>
          </a:xfrm>
        </p:grpSpPr>
        <p:sp>
          <p:nvSpPr>
            <p:cNvPr id="26" name="Freihandform: Form 204">
              <a:extLst>
                <a:ext uri="{FF2B5EF4-FFF2-40B4-BE49-F238E27FC236}">
                  <a16:creationId xmlns:a16="http://schemas.microsoft.com/office/drawing/2014/main" id="{E896AC91-ABB5-4BA1-E0A1-EB9800352196}"/>
                </a:ext>
              </a:extLst>
            </p:cNvPr>
            <p:cNvSpPr/>
            <p:nvPr/>
          </p:nvSpPr>
          <p:spPr bwMode="gray">
            <a:xfrm>
              <a:off x="11155601" y="705485"/>
              <a:ext cx="614680" cy="581660"/>
            </a:xfrm>
            <a:custGeom>
              <a:avLst/>
              <a:gdLst>
                <a:gd name="connsiteX0" fmla="*/ 0 w 562755"/>
                <a:gd name="connsiteY0" fmla="*/ 0 h 532306"/>
                <a:gd name="connsiteX1" fmla="*/ 30422 w 562755"/>
                <a:gd name="connsiteY1" fmla="*/ 365012 h 532306"/>
                <a:gd name="connsiteX2" fmla="*/ 289895 w 562755"/>
                <a:gd name="connsiteY2" fmla="*/ 365012 h 532306"/>
                <a:gd name="connsiteX3" fmla="*/ 456278 w 562755"/>
                <a:gd name="connsiteY3" fmla="*/ 532306 h 532306"/>
                <a:gd name="connsiteX4" fmla="*/ 456278 w 562755"/>
                <a:gd name="connsiteY4" fmla="*/ 365012 h 532306"/>
                <a:gd name="connsiteX5" fmla="*/ 532333 w 562755"/>
                <a:gd name="connsiteY5" fmla="*/ 365012 h 532306"/>
                <a:gd name="connsiteX6" fmla="*/ 562755 w 562755"/>
                <a:gd name="connsiteY6" fmla="*/ 0 h 532306"/>
                <a:gd name="connsiteX7" fmla="*/ 0 w 562755"/>
                <a:gd name="connsiteY7" fmla="*/ 0 h 53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55" h="532306">
                  <a:moveTo>
                    <a:pt x="0" y="0"/>
                  </a:moveTo>
                  <a:lnTo>
                    <a:pt x="30422" y="365012"/>
                  </a:lnTo>
                  <a:lnTo>
                    <a:pt x="289895" y="365012"/>
                  </a:lnTo>
                  <a:lnTo>
                    <a:pt x="456278" y="532306"/>
                  </a:lnTo>
                  <a:lnTo>
                    <a:pt x="456278" y="365012"/>
                  </a:lnTo>
                  <a:lnTo>
                    <a:pt x="532333" y="365012"/>
                  </a:lnTo>
                  <a:lnTo>
                    <a:pt x="56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7" name="Freihandform: Form 205">
              <a:extLst>
                <a:ext uri="{FF2B5EF4-FFF2-40B4-BE49-F238E27FC236}">
                  <a16:creationId xmlns:a16="http://schemas.microsoft.com/office/drawing/2014/main" id="{655E3E5F-D056-7125-B511-2CA7CF5C91FE}"/>
                </a:ext>
              </a:extLst>
            </p:cNvPr>
            <p:cNvSpPr/>
            <p:nvPr/>
          </p:nvSpPr>
          <p:spPr bwMode="gray">
            <a:xfrm>
              <a:off x="11300381" y="775335"/>
              <a:ext cx="325755" cy="244475"/>
            </a:xfrm>
            <a:custGeom>
              <a:avLst/>
              <a:gdLst>
                <a:gd name="connsiteX0" fmla="*/ 546954 w 546953"/>
                <a:gd name="connsiteY0" fmla="*/ 56337 h 410644"/>
                <a:gd name="connsiteX1" fmla="*/ 191198 w 546953"/>
                <a:gd name="connsiteY1" fmla="*/ 410645 h 410644"/>
                <a:gd name="connsiteX2" fmla="*/ 0 w 546953"/>
                <a:gd name="connsiteY2" fmla="*/ 219071 h 410644"/>
                <a:gd name="connsiteX3" fmla="*/ 56954 w 546953"/>
                <a:gd name="connsiteY3" fmla="*/ 162734 h 410644"/>
                <a:gd name="connsiteX4" fmla="*/ 179447 w 546953"/>
                <a:gd name="connsiteY4" fmla="*/ 269104 h 410644"/>
                <a:gd name="connsiteX5" fmla="*/ 490456 w 546953"/>
                <a:gd name="connsiteY5" fmla="*/ 0 h 410644"/>
                <a:gd name="connsiteX6" fmla="*/ 546954 w 546953"/>
                <a:gd name="connsiteY6" fmla="*/ 56337 h 410644"/>
                <a:gd name="connsiteX7" fmla="*/ 546954 w 546953"/>
                <a:gd name="connsiteY7" fmla="*/ 56337 h 41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6953" h="410644">
                  <a:moveTo>
                    <a:pt x="546954" y="56337"/>
                  </a:moveTo>
                  <a:lnTo>
                    <a:pt x="191198" y="410645"/>
                  </a:lnTo>
                  <a:lnTo>
                    <a:pt x="0" y="219071"/>
                  </a:lnTo>
                  <a:lnTo>
                    <a:pt x="56954" y="162734"/>
                  </a:lnTo>
                  <a:lnTo>
                    <a:pt x="179447" y="269104"/>
                  </a:lnTo>
                  <a:lnTo>
                    <a:pt x="490456" y="0"/>
                  </a:lnTo>
                  <a:lnTo>
                    <a:pt x="546954" y="56337"/>
                  </a:lnTo>
                  <a:lnTo>
                    <a:pt x="546954" y="56337"/>
                  </a:lnTo>
                  <a:close/>
                </a:path>
              </a:pathLst>
            </a:custGeom>
            <a:solidFill>
              <a:schemeClr val="tx1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4233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66AA53C-B9FD-117A-534A-0BD1D027B93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7539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624" imgH="623" progId="TCLayout.ActiveDocument.1">
                  <p:embed/>
                </p:oleObj>
              </mc:Choice>
              <mc:Fallback>
                <p:oleObj name="think-cell Slide" r:id="rId6" imgW="624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20174-A6CE-B9C7-4E7B-8329B5EE44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2025 | SI B CN | AIoT Lighting V1.0 | 2025-10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312398-5A04-6555-B629-2AAF51914B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图片 9">
            <a:extLst>
              <a:ext uri="{FF2B5EF4-FFF2-40B4-BE49-F238E27FC236}">
                <a16:creationId xmlns:a16="http://schemas.microsoft.com/office/drawing/2014/main" id="{6E711F36-3914-EDE8-BAFB-662F0D2D3E0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721" t="14255" r="3186" b="13283"/>
          <a:stretch>
            <a:fillRect/>
          </a:stretch>
        </p:blipFill>
        <p:spPr>
          <a:xfrm>
            <a:off x="0" y="-10160"/>
            <a:ext cx="12192000" cy="6868160"/>
          </a:xfrm>
          <a:prstGeom prst="rect">
            <a:avLst/>
          </a:prstGeom>
        </p:spPr>
      </p:pic>
      <p:grpSp>
        <p:nvGrpSpPr>
          <p:cNvPr id="7" name="组合 20">
            <a:extLst>
              <a:ext uri="{FF2B5EF4-FFF2-40B4-BE49-F238E27FC236}">
                <a16:creationId xmlns:a16="http://schemas.microsoft.com/office/drawing/2014/main" id="{925F6AC6-23CA-B0C5-FFC7-55E576660A75}"/>
              </a:ext>
            </a:extLst>
          </p:cNvPr>
          <p:cNvGrpSpPr/>
          <p:nvPr/>
        </p:nvGrpSpPr>
        <p:grpSpPr>
          <a:xfrm>
            <a:off x="2517140" y="2131060"/>
            <a:ext cx="199390" cy="137795"/>
            <a:chOff x="12438" y="442"/>
            <a:chExt cx="1143" cy="616"/>
          </a:xfrm>
        </p:grpSpPr>
        <p:pic>
          <p:nvPicPr>
            <p:cNvPr id="8" name="image43.png" descr="image43.png">
              <a:extLst>
                <a:ext uri="{FF2B5EF4-FFF2-40B4-BE49-F238E27FC236}">
                  <a16:creationId xmlns:a16="http://schemas.microsoft.com/office/drawing/2014/main" id="{EAD1623A-E3D6-B7D1-D8E8-B22FA1B70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6200000">
              <a:off x="12438" y="442"/>
              <a:ext cx="617" cy="617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9" name="图片 22" descr="wifi">
              <a:extLst>
                <a:ext uri="{FF2B5EF4-FFF2-40B4-BE49-F238E27FC236}">
                  <a16:creationId xmlns:a16="http://schemas.microsoft.com/office/drawing/2014/main" id="{B7187643-428F-030E-9B08-075EB3D07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580000">
              <a:off x="13115" y="496"/>
              <a:ext cx="467" cy="467"/>
            </a:xfrm>
            <a:prstGeom prst="rect">
              <a:avLst/>
            </a:prstGeom>
          </p:spPr>
        </p:pic>
      </p:grpSp>
      <p:grpSp>
        <p:nvGrpSpPr>
          <p:cNvPr id="10" name="组合 23">
            <a:extLst>
              <a:ext uri="{FF2B5EF4-FFF2-40B4-BE49-F238E27FC236}">
                <a16:creationId xmlns:a16="http://schemas.microsoft.com/office/drawing/2014/main" id="{3AB7237A-B28B-F46F-1CF0-B9DD825339BE}"/>
              </a:ext>
            </a:extLst>
          </p:cNvPr>
          <p:cNvGrpSpPr/>
          <p:nvPr/>
        </p:nvGrpSpPr>
        <p:grpSpPr>
          <a:xfrm>
            <a:off x="2833370" y="2743200"/>
            <a:ext cx="161290" cy="125095"/>
            <a:chOff x="12438" y="442"/>
            <a:chExt cx="1143" cy="616"/>
          </a:xfrm>
        </p:grpSpPr>
        <p:pic>
          <p:nvPicPr>
            <p:cNvPr id="11" name="image43.png" descr="image43.png">
              <a:extLst>
                <a:ext uri="{FF2B5EF4-FFF2-40B4-BE49-F238E27FC236}">
                  <a16:creationId xmlns:a16="http://schemas.microsoft.com/office/drawing/2014/main" id="{47A01C63-6B83-AE36-FD4A-C0601C0AC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6200000">
              <a:off x="12438" y="442"/>
              <a:ext cx="617" cy="617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2" name="图片 26" descr="wifi">
              <a:extLst>
                <a:ext uri="{FF2B5EF4-FFF2-40B4-BE49-F238E27FC236}">
                  <a16:creationId xmlns:a16="http://schemas.microsoft.com/office/drawing/2014/main" id="{FA45D027-7177-9AF7-DFFF-9AE180B83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580000">
              <a:off x="13115" y="496"/>
              <a:ext cx="467" cy="467"/>
            </a:xfrm>
            <a:prstGeom prst="rect">
              <a:avLst/>
            </a:prstGeom>
          </p:spPr>
        </p:pic>
      </p:grpSp>
      <p:grpSp>
        <p:nvGrpSpPr>
          <p:cNvPr id="13" name="Group 7">
            <a:extLst>
              <a:ext uri="{FF2B5EF4-FFF2-40B4-BE49-F238E27FC236}">
                <a16:creationId xmlns:a16="http://schemas.microsoft.com/office/drawing/2014/main" id="{A2F0EE0A-AAE6-2647-F73D-8A6C36044993}"/>
              </a:ext>
            </a:extLst>
          </p:cNvPr>
          <p:cNvGrpSpPr/>
          <p:nvPr/>
        </p:nvGrpSpPr>
        <p:grpSpPr>
          <a:xfrm>
            <a:off x="1973128" y="229204"/>
            <a:ext cx="2302668" cy="567050"/>
            <a:chOff x="2930762" y="1617439"/>
            <a:chExt cx="1664077" cy="567788"/>
          </a:xfrm>
          <a:solidFill>
            <a:srgbClr val="0F8287"/>
          </a:solidFill>
        </p:grpSpPr>
        <p:sp>
          <p:nvSpPr>
            <p:cNvPr id="14" name="Rectangle 220">
              <a:extLst>
                <a:ext uri="{FF2B5EF4-FFF2-40B4-BE49-F238E27FC236}">
                  <a16:creationId xmlns:a16="http://schemas.microsoft.com/office/drawing/2014/main" id="{E5330923-D692-613F-759E-89D43C2A8ADA}"/>
                </a:ext>
              </a:extLst>
            </p:cNvPr>
            <p:cNvSpPr/>
            <p:nvPr/>
          </p:nvSpPr>
          <p:spPr>
            <a:xfrm>
              <a:off x="3382858" y="1617439"/>
              <a:ext cx="1211981" cy="567788"/>
            </a:xfrm>
            <a:prstGeom prst="rect">
              <a:avLst/>
            </a:prstGeom>
            <a:grpFill/>
            <a:ln>
              <a:noFill/>
            </a:ln>
            <a:effectLst>
              <a:softEdge rad="635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无线人体感应器</a:t>
              </a:r>
            </a:p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（吸顶式，免布线）</a:t>
              </a:r>
            </a:p>
          </p:txBody>
        </p:sp>
        <p:cxnSp>
          <p:nvCxnSpPr>
            <p:cNvPr id="15" name="Straight Connector 221">
              <a:extLst>
                <a:ext uri="{FF2B5EF4-FFF2-40B4-BE49-F238E27FC236}">
                  <a16:creationId xmlns:a16="http://schemas.microsoft.com/office/drawing/2014/main" id="{5AC27984-B922-6A33-9869-406803DA2CC0}"/>
                </a:ext>
              </a:extLst>
            </p:cNvPr>
            <p:cNvCxnSpPr/>
            <p:nvPr/>
          </p:nvCxnSpPr>
          <p:spPr>
            <a:xfrm flipV="1">
              <a:off x="2930762" y="1935024"/>
              <a:ext cx="553889" cy="3179"/>
            </a:xfrm>
            <a:prstGeom prst="line">
              <a:avLst/>
            </a:prstGeom>
            <a:grpFill/>
            <a:ln w="38100" cmpd="sng">
              <a:solidFill>
                <a:srgbClr val="0F8287"/>
              </a:solidFill>
              <a:headEnd type="triangl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Slide Number Placeholder">
            <a:extLst>
              <a:ext uri="{FF2B5EF4-FFF2-40B4-BE49-F238E27FC236}">
                <a16:creationId xmlns:a16="http://schemas.microsoft.com/office/drawing/2014/main" id="{6A6DFE70-EACD-1241-5FB1-747BC785ED68}"/>
              </a:ext>
            </a:extLst>
          </p:cNvPr>
          <p:cNvSpPr txBox="1"/>
          <p:nvPr/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7" name="组合 42">
            <a:extLst>
              <a:ext uri="{FF2B5EF4-FFF2-40B4-BE49-F238E27FC236}">
                <a16:creationId xmlns:a16="http://schemas.microsoft.com/office/drawing/2014/main" id="{07FD7B7C-B12D-F5DF-F52F-A4F7176BDCF8}"/>
              </a:ext>
            </a:extLst>
          </p:cNvPr>
          <p:cNvGrpSpPr/>
          <p:nvPr/>
        </p:nvGrpSpPr>
        <p:grpSpPr>
          <a:xfrm>
            <a:off x="1489075" y="492760"/>
            <a:ext cx="301625" cy="252095"/>
            <a:chOff x="12438" y="442"/>
            <a:chExt cx="1143" cy="616"/>
          </a:xfrm>
        </p:grpSpPr>
        <p:pic>
          <p:nvPicPr>
            <p:cNvPr id="18" name="image43.png" descr="image43.png">
              <a:extLst>
                <a:ext uri="{FF2B5EF4-FFF2-40B4-BE49-F238E27FC236}">
                  <a16:creationId xmlns:a16="http://schemas.microsoft.com/office/drawing/2014/main" id="{FF3C4169-2628-25E2-AD78-F4E700D40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6200000">
              <a:off x="12438" y="442"/>
              <a:ext cx="617" cy="617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9" name="图片 44" descr="wifi">
              <a:extLst>
                <a:ext uri="{FF2B5EF4-FFF2-40B4-BE49-F238E27FC236}">
                  <a16:creationId xmlns:a16="http://schemas.microsoft.com/office/drawing/2014/main" id="{CBCCB9F0-0DD9-65BE-BE49-FB880F9E0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580000">
              <a:off x="13115" y="496"/>
              <a:ext cx="467" cy="467"/>
            </a:xfrm>
            <a:prstGeom prst="rect">
              <a:avLst/>
            </a:prstGeom>
          </p:spPr>
        </p:pic>
      </p:grpSp>
      <p:sp>
        <p:nvSpPr>
          <p:cNvPr id="20" name="object 43">
            <a:extLst>
              <a:ext uri="{FF2B5EF4-FFF2-40B4-BE49-F238E27FC236}">
                <a16:creationId xmlns:a16="http://schemas.microsoft.com/office/drawing/2014/main" id="{1D04DCDF-49CC-DE02-CDE8-0AC764A03573}"/>
              </a:ext>
            </a:extLst>
          </p:cNvPr>
          <p:cNvSpPr>
            <a:spLocks noChangeAspect="1"/>
          </p:cNvSpPr>
          <p:nvPr/>
        </p:nvSpPr>
        <p:spPr>
          <a:xfrm>
            <a:off x="1797685" y="2425700"/>
            <a:ext cx="175260" cy="318770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  <a:ln w="9525">
            <a:noFill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1" name="Group 7">
            <a:extLst>
              <a:ext uri="{FF2B5EF4-FFF2-40B4-BE49-F238E27FC236}">
                <a16:creationId xmlns:a16="http://schemas.microsoft.com/office/drawing/2014/main" id="{13DEA9CE-DCBE-2F6A-A12D-2FF84B99E2A1}"/>
              </a:ext>
            </a:extLst>
          </p:cNvPr>
          <p:cNvGrpSpPr/>
          <p:nvPr/>
        </p:nvGrpSpPr>
        <p:grpSpPr>
          <a:xfrm>
            <a:off x="1978209" y="2301207"/>
            <a:ext cx="2056287" cy="567050"/>
            <a:chOff x="2725635" y="2049799"/>
            <a:chExt cx="1486024" cy="567788"/>
          </a:xfrm>
          <a:solidFill>
            <a:srgbClr val="0F8287"/>
          </a:solidFill>
        </p:grpSpPr>
        <p:sp>
          <p:nvSpPr>
            <p:cNvPr id="22" name="Rectangle 220">
              <a:extLst>
                <a:ext uri="{FF2B5EF4-FFF2-40B4-BE49-F238E27FC236}">
                  <a16:creationId xmlns:a16="http://schemas.microsoft.com/office/drawing/2014/main" id="{EC7B7018-3C7F-838E-D656-F003F28B7536}"/>
                </a:ext>
              </a:extLst>
            </p:cNvPr>
            <p:cNvSpPr/>
            <p:nvPr/>
          </p:nvSpPr>
          <p:spPr>
            <a:xfrm>
              <a:off x="2999678" y="2049799"/>
              <a:ext cx="1211981" cy="567788"/>
            </a:xfrm>
            <a:prstGeom prst="rect">
              <a:avLst/>
            </a:prstGeom>
            <a:grpFill/>
            <a:ln>
              <a:noFill/>
            </a:ln>
            <a:effectLst>
              <a:softEdge rad="635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无线人体感应器</a:t>
              </a:r>
            </a:p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（贴墙式，免布线）</a:t>
              </a:r>
            </a:p>
          </p:txBody>
        </p:sp>
        <p:cxnSp>
          <p:nvCxnSpPr>
            <p:cNvPr id="23" name="Straight Connector 221">
              <a:extLst>
                <a:ext uri="{FF2B5EF4-FFF2-40B4-BE49-F238E27FC236}">
                  <a16:creationId xmlns:a16="http://schemas.microsoft.com/office/drawing/2014/main" id="{8ADA037D-CE53-2F9B-83AB-D477551ECB45}"/>
                </a:ext>
              </a:extLst>
            </p:cNvPr>
            <p:cNvCxnSpPr/>
            <p:nvPr/>
          </p:nvCxnSpPr>
          <p:spPr>
            <a:xfrm>
              <a:off x="2725635" y="2347040"/>
              <a:ext cx="697066" cy="25433"/>
            </a:xfrm>
            <a:prstGeom prst="line">
              <a:avLst/>
            </a:prstGeom>
            <a:grpFill/>
            <a:ln w="38100" cmpd="sng">
              <a:solidFill>
                <a:srgbClr val="0F8287"/>
              </a:solidFill>
              <a:headEnd type="triangl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Picture 8">
            <a:extLst>
              <a:ext uri="{FF2B5EF4-FFF2-40B4-BE49-F238E27FC236}">
                <a16:creationId xmlns:a16="http://schemas.microsoft.com/office/drawing/2014/main" id="{697B8F3D-F1FA-DC1E-689B-161DB6D6B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640" y="4744720"/>
            <a:ext cx="300990" cy="30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>
            <a:extLst>
              <a:ext uri="{FF2B5EF4-FFF2-40B4-BE49-F238E27FC236}">
                <a16:creationId xmlns:a16="http://schemas.microsoft.com/office/drawing/2014/main" id="{10E215B4-5CE1-4315-C143-CE17B855D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795" y="4312920"/>
            <a:ext cx="300990" cy="30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7">
            <a:extLst>
              <a:ext uri="{FF2B5EF4-FFF2-40B4-BE49-F238E27FC236}">
                <a16:creationId xmlns:a16="http://schemas.microsoft.com/office/drawing/2014/main" id="{0328DC38-D93B-8C67-51EE-3EFCFFBC7B33}"/>
              </a:ext>
            </a:extLst>
          </p:cNvPr>
          <p:cNvGrpSpPr/>
          <p:nvPr/>
        </p:nvGrpSpPr>
        <p:grpSpPr>
          <a:xfrm>
            <a:off x="2415863" y="4563093"/>
            <a:ext cx="1946163" cy="567050"/>
            <a:chOff x="2779888" y="742556"/>
            <a:chExt cx="1406441" cy="567788"/>
          </a:xfrm>
          <a:solidFill>
            <a:srgbClr val="0F8287"/>
          </a:solidFill>
        </p:grpSpPr>
        <p:sp>
          <p:nvSpPr>
            <p:cNvPr id="27" name="Rectangle 220">
              <a:extLst>
                <a:ext uri="{FF2B5EF4-FFF2-40B4-BE49-F238E27FC236}">
                  <a16:creationId xmlns:a16="http://schemas.microsoft.com/office/drawing/2014/main" id="{008C658A-0203-6B84-B0AA-DC81C627362C}"/>
                </a:ext>
              </a:extLst>
            </p:cNvPr>
            <p:cNvSpPr/>
            <p:nvPr/>
          </p:nvSpPr>
          <p:spPr>
            <a:xfrm>
              <a:off x="2779888" y="742556"/>
              <a:ext cx="1211981" cy="567788"/>
            </a:xfrm>
            <a:prstGeom prst="rect">
              <a:avLst/>
            </a:prstGeom>
            <a:grpFill/>
            <a:ln>
              <a:noFill/>
            </a:ln>
            <a:effectLst>
              <a:softEdge rad="635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无线温湿度传感器</a:t>
              </a:r>
            </a:p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（免布线）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endParaRPr>
            </a:p>
          </p:txBody>
        </p:sp>
        <p:cxnSp>
          <p:nvCxnSpPr>
            <p:cNvPr id="28" name="Straight Connector 221">
              <a:extLst>
                <a:ext uri="{FF2B5EF4-FFF2-40B4-BE49-F238E27FC236}">
                  <a16:creationId xmlns:a16="http://schemas.microsoft.com/office/drawing/2014/main" id="{3BC61889-886F-9845-4071-DFC66E1CF7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9402" y="1026444"/>
              <a:ext cx="346927" cy="12081"/>
            </a:xfrm>
            <a:prstGeom prst="line">
              <a:avLst/>
            </a:prstGeom>
            <a:grpFill/>
            <a:ln w="38100" cmpd="sng">
              <a:solidFill>
                <a:srgbClr val="0F8287"/>
              </a:solidFill>
              <a:headEnd type="triangl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图片 120" descr="图片 120">
            <a:extLst>
              <a:ext uri="{FF2B5EF4-FFF2-40B4-BE49-F238E27FC236}">
                <a16:creationId xmlns:a16="http://schemas.microsoft.com/office/drawing/2014/main" id="{8BB7BAB8-3B78-FEF8-CC33-6EBF216BCB9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28140" y="3413760"/>
            <a:ext cx="379730" cy="37973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30" name="Group 89">
            <a:extLst>
              <a:ext uri="{FF2B5EF4-FFF2-40B4-BE49-F238E27FC236}">
                <a16:creationId xmlns:a16="http://schemas.microsoft.com/office/drawing/2014/main" id="{876F9B0D-04EF-0146-7804-458B5BF3FC10}"/>
              </a:ext>
            </a:extLst>
          </p:cNvPr>
          <p:cNvGrpSpPr/>
          <p:nvPr/>
        </p:nvGrpSpPr>
        <p:grpSpPr>
          <a:xfrm>
            <a:off x="2115448" y="3326193"/>
            <a:ext cx="1661423" cy="606092"/>
            <a:chOff x="8090213" y="4724400"/>
            <a:chExt cx="1483575" cy="742977"/>
          </a:xfrm>
          <a:solidFill>
            <a:srgbClr val="0F8287"/>
          </a:solidFill>
        </p:grpSpPr>
        <p:sp>
          <p:nvSpPr>
            <p:cNvPr id="31" name="Isosceles Triangle 24">
              <a:extLst>
                <a:ext uri="{FF2B5EF4-FFF2-40B4-BE49-F238E27FC236}">
                  <a16:creationId xmlns:a16="http://schemas.microsoft.com/office/drawing/2014/main" id="{EE9D787D-74B6-A512-170C-E166871308C8}"/>
                </a:ext>
              </a:extLst>
            </p:cNvPr>
            <p:cNvSpPr/>
            <p:nvPr/>
          </p:nvSpPr>
          <p:spPr>
            <a:xfrm rot="14734357">
              <a:off x="8076577" y="4852662"/>
              <a:ext cx="595031" cy="567759"/>
            </a:xfrm>
            <a:custGeom>
              <a:avLst/>
              <a:gdLst>
                <a:gd name="connsiteX0" fmla="*/ 0 w 287069"/>
                <a:gd name="connsiteY0" fmla="*/ 1770363 h 1770363"/>
                <a:gd name="connsiteX1" fmla="*/ 143535 w 287069"/>
                <a:gd name="connsiteY1" fmla="*/ 0 h 1770363"/>
                <a:gd name="connsiteX2" fmla="*/ 287069 w 287069"/>
                <a:gd name="connsiteY2" fmla="*/ 1770363 h 1770363"/>
                <a:gd name="connsiteX3" fmla="*/ 0 w 287069"/>
                <a:gd name="connsiteY3" fmla="*/ 1770363 h 1770363"/>
                <a:gd name="connsiteX0-1" fmla="*/ 0 w 774042"/>
                <a:gd name="connsiteY0-2" fmla="*/ 1388253 h 1388253"/>
                <a:gd name="connsiteX1-3" fmla="*/ 774042 w 774042"/>
                <a:gd name="connsiteY1-4" fmla="*/ 0 h 1388253"/>
                <a:gd name="connsiteX2-5" fmla="*/ 287069 w 774042"/>
                <a:gd name="connsiteY2-6" fmla="*/ 1388253 h 1388253"/>
                <a:gd name="connsiteX3-7" fmla="*/ 0 w 774042"/>
                <a:gd name="connsiteY3-8" fmla="*/ 1388253 h 13882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74042" h="1388253">
                  <a:moveTo>
                    <a:pt x="0" y="1388253"/>
                  </a:moveTo>
                  <a:lnTo>
                    <a:pt x="774042" y="0"/>
                  </a:lnTo>
                  <a:lnTo>
                    <a:pt x="287069" y="1388253"/>
                  </a:lnTo>
                  <a:lnTo>
                    <a:pt x="0" y="138825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endParaRPr>
            </a:p>
          </p:txBody>
        </p:sp>
        <p:sp>
          <p:nvSpPr>
            <p:cNvPr id="32" name="Rectangle 91">
              <a:extLst>
                <a:ext uri="{FF2B5EF4-FFF2-40B4-BE49-F238E27FC236}">
                  <a16:creationId xmlns:a16="http://schemas.microsoft.com/office/drawing/2014/main" id="{3D461111-8D3C-9B1A-76C5-9D3D4C7D37F1}"/>
                </a:ext>
              </a:extLst>
            </p:cNvPr>
            <p:cNvSpPr/>
            <p:nvPr/>
          </p:nvSpPr>
          <p:spPr>
            <a:xfrm>
              <a:off x="8305800" y="4724400"/>
              <a:ext cx="1267988" cy="742977"/>
            </a:xfrm>
            <a:prstGeom prst="rect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762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无线智能开关</a:t>
              </a:r>
            </a:p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（替换普通开关）</a:t>
              </a:r>
            </a:p>
          </p:txBody>
        </p:sp>
      </p:grpSp>
      <p:pic>
        <p:nvPicPr>
          <p:cNvPr id="33" name="图片 65">
            <a:extLst>
              <a:ext uri="{FF2B5EF4-FFF2-40B4-BE49-F238E27FC236}">
                <a16:creationId xmlns:a16="http://schemas.microsoft.com/office/drawing/2014/main" id="{669B0AA2-458B-89ED-5C1B-1A5E1BFFB7F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" y="3039110"/>
            <a:ext cx="289560" cy="271145"/>
          </a:xfrm>
          <a:prstGeom prst="rect">
            <a:avLst/>
          </a:prstGeom>
        </p:spPr>
      </p:pic>
      <p:grpSp>
        <p:nvGrpSpPr>
          <p:cNvPr id="34" name="Group 2">
            <a:extLst>
              <a:ext uri="{FF2B5EF4-FFF2-40B4-BE49-F238E27FC236}">
                <a16:creationId xmlns:a16="http://schemas.microsoft.com/office/drawing/2014/main" id="{810BC059-F9AD-E538-DCEA-B8B8740DD337}"/>
              </a:ext>
            </a:extLst>
          </p:cNvPr>
          <p:cNvGrpSpPr/>
          <p:nvPr/>
        </p:nvGrpSpPr>
        <p:grpSpPr>
          <a:xfrm>
            <a:off x="11060" y="3397139"/>
            <a:ext cx="1808348" cy="1028365"/>
            <a:chOff x="23100" y="4651949"/>
            <a:chExt cx="2160833" cy="1796065"/>
          </a:xfrm>
          <a:solidFill>
            <a:srgbClr val="0F8287"/>
          </a:solidFill>
        </p:grpSpPr>
        <p:sp>
          <p:nvSpPr>
            <p:cNvPr id="35" name="Isosceles Triangle 24">
              <a:extLst>
                <a:ext uri="{FF2B5EF4-FFF2-40B4-BE49-F238E27FC236}">
                  <a16:creationId xmlns:a16="http://schemas.microsoft.com/office/drawing/2014/main" id="{F3FBB4E4-37C9-BAEB-9BFB-77571F502438}"/>
                </a:ext>
              </a:extLst>
            </p:cNvPr>
            <p:cNvSpPr/>
            <p:nvPr/>
          </p:nvSpPr>
          <p:spPr>
            <a:xfrm rot="15341955" flipV="1">
              <a:off x="302612" y="4900399"/>
              <a:ext cx="1037773" cy="540873"/>
            </a:xfrm>
            <a:custGeom>
              <a:avLst/>
              <a:gdLst>
                <a:gd name="connsiteX0" fmla="*/ 0 w 287069"/>
                <a:gd name="connsiteY0" fmla="*/ 1770363 h 1770363"/>
                <a:gd name="connsiteX1" fmla="*/ 143535 w 287069"/>
                <a:gd name="connsiteY1" fmla="*/ 0 h 1770363"/>
                <a:gd name="connsiteX2" fmla="*/ 287069 w 287069"/>
                <a:gd name="connsiteY2" fmla="*/ 1770363 h 1770363"/>
                <a:gd name="connsiteX3" fmla="*/ 0 w 287069"/>
                <a:gd name="connsiteY3" fmla="*/ 1770363 h 1770363"/>
                <a:gd name="connsiteX0-1" fmla="*/ 0 w 774042"/>
                <a:gd name="connsiteY0-2" fmla="*/ 1388253 h 1388253"/>
                <a:gd name="connsiteX1-3" fmla="*/ 774042 w 774042"/>
                <a:gd name="connsiteY1-4" fmla="*/ 0 h 1388253"/>
                <a:gd name="connsiteX2-5" fmla="*/ 287069 w 774042"/>
                <a:gd name="connsiteY2-6" fmla="*/ 1388253 h 1388253"/>
                <a:gd name="connsiteX3-7" fmla="*/ 0 w 774042"/>
                <a:gd name="connsiteY3-8" fmla="*/ 1388253 h 13882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74042" h="1388253">
                  <a:moveTo>
                    <a:pt x="0" y="1388253"/>
                  </a:moveTo>
                  <a:lnTo>
                    <a:pt x="774042" y="0"/>
                  </a:lnTo>
                  <a:lnTo>
                    <a:pt x="287069" y="1388253"/>
                  </a:lnTo>
                  <a:lnTo>
                    <a:pt x="0" y="138825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endParaRPr>
            </a:p>
          </p:txBody>
        </p:sp>
        <p:sp>
          <p:nvSpPr>
            <p:cNvPr id="36" name="Rectangle 80">
              <a:extLst>
                <a:ext uri="{FF2B5EF4-FFF2-40B4-BE49-F238E27FC236}">
                  <a16:creationId xmlns:a16="http://schemas.microsoft.com/office/drawing/2014/main" id="{4CD2C219-D4C2-0DB8-D2F8-9AB51814635C}"/>
                </a:ext>
              </a:extLst>
            </p:cNvPr>
            <p:cNvSpPr/>
            <p:nvPr/>
          </p:nvSpPr>
          <p:spPr>
            <a:xfrm>
              <a:off x="23100" y="5204195"/>
              <a:ext cx="2160833" cy="1243819"/>
            </a:xfrm>
            <a:prstGeom prst="rect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889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智能中控屏</a:t>
              </a:r>
            </a:p>
          </p:txBody>
        </p:sp>
      </p:grpSp>
      <p:grpSp>
        <p:nvGrpSpPr>
          <p:cNvPr id="37" name="Group 2">
            <a:extLst>
              <a:ext uri="{FF2B5EF4-FFF2-40B4-BE49-F238E27FC236}">
                <a16:creationId xmlns:a16="http://schemas.microsoft.com/office/drawing/2014/main" id="{8C30CD7F-ED98-2DB6-F94A-C4FA0DA7D05E}"/>
              </a:ext>
            </a:extLst>
          </p:cNvPr>
          <p:cNvGrpSpPr/>
          <p:nvPr/>
        </p:nvGrpSpPr>
        <p:grpSpPr>
          <a:xfrm>
            <a:off x="8281015" y="1617044"/>
            <a:ext cx="1808348" cy="1177162"/>
            <a:chOff x="5762134" y="3747742"/>
            <a:chExt cx="2160833" cy="2055940"/>
          </a:xfrm>
          <a:solidFill>
            <a:srgbClr val="0F8287"/>
          </a:solidFill>
        </p:grpSpPr>
        <p:sp>
          <p:nvSpPr>
            <p:cNvPr id="38" name="Rectangle 80">
              <a:extLst>
                <a:ext uri="{FF2B5EF4-FFF2-40B4-BE49-F238E27FC236}">
                  <a16:creationId xmlns:a16="http://schemas.microsoft.com/office/drawing/2014/main" id="{7FA3F86D-DCA2-0041-68A9-F6B13FAA8CDA}"/>
                </a:ext>
              </a:extLst>
            </p:cNvPr>
            <p:cNvSpPr/>
            <p:nvPr/>
          </p:nvSpPr>
          <p:spPr>
            <a:xfrm>
              <a:off x="5762134" y="4559863"/>
              <a:ext cx="2160833" cy="1243819"/>
            </a:xfrm>
            <a:prstGeom prst="rect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889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无线</a:t>
              </a:r>
            </a:p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dirty="0">
                  <a:solidFill>
                    <a:srgbClr val="FFFFFF"/>
                  </a:solidFill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协转设备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endParaRPr>
            </a:p>
          </p:txBody>
        </p:sp>
        <p:sp>
          <p:nvSpPr>
            <p:cNvPr id="39" name="Isosceles Triangle 24">
              <a:extLst>
                <a:ext uri="{FF2B5EF4-FFF2-40B4-BE49-F238E27FC236}">
                  <a16:creationId xmlns:a16="http://schemas.microsoft.com/office/drawing/2014/main" id="{6F58E41A-E5BA-CB81-542E-0B0623CFF853}"/>
                </a:ext>
              </a:extLst>
            </p:cNvPr>
            <p:cNvSpPr/>
            <p:nvPr/>
          </p:nvSpPr>
          <p:spPr>
            <a:xfrm rot="17820000">
              <a:off x="6205665" y="3454205"/>
              <a:ext cx="743058" cy="1330132"/>
            </a:xfrm>
            <a:custGeom>
              <a:avLst/>
              <a:gdLst>
                <a:gd name="connsiteX0" fmla="*/ 0 w 670"/>
                <a:gd name="connsiteY0" fmla="*/ 1426 h 1753"/>
                <a:gd name="connsiteX1" fmla="*/ 670 w 670"/>
                <a:gd name="connsiteY1" fmla="*/ 0 h 1753"/>
                <a:gd name="connsiteX2" fmla="*/ 161 w 670"/>
                <a:gd name="connsiteY2" fmla="*/ 1753 h 1753"/>
                <a:gd name="connsiteX3" fmla="*/ 0 w 670"/>
                <a:gd name="connsiteY3" fmla="*/ 1426 h 1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" h="1753">
                  <a:moveTo>
                    <a:pt x="0" y="1426"/>
                  </a:moveTo>
                  <a:lnTo>
                    <a:pt x="670" y="0"/>
                  </a:lnTo>
                  <a:lnTo>
                    <a:pt x="161" y="1753"/>
                  </a:lnTo>
                  <a:lnTo>
                    <a:pt x="0" y="142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endParaRPr>
            </a:p>
          </p:txBody>
        </p:sp>
      </p:grpSp>
      <p:grpSp>
        <p:nvGrpSpPr>
          <p:cNvPr id="40" name="Group 2">
            <a:extLst>
              <a:ext uri="{FF2B5EF4-FFF2-40B4-BE49-F238E27FC236}">
                <a16:creationId xmlns:a16="http://schemas.microsoft.com/office/drawing/2014/main" id="{82D35DC2-A0FC-48D7-1546-0DDD86D0811B}"/>
              </a:ext>
            </a:extLst>
          </p:cNvPr>
          <p:cNvGrpSpPr/>
          <p:nvPr/>
        </p:nvGrpSpPr>
        <p:grpSpPr>
          <a:xfrm>
            <a:off x="38080" y="905382"/>
            <a:ext cx="1808348" cy="765974"/>
            <a:chOff x="1179132" y="2484846"/>
            <a:chExt cx="2160833" cy="1337790"/>
          </a:xfrm>
          <a:solidFill>
            <a:srgbClr val="0F8287"/>
          </a:solidFill>
        </p:grpSpPr>
        <p:sp>
          <p:nvSpPr>
            <p:cNvPr id="41" name="Isosceles Triangle 24">
              <a:extLst>
                <a:ext uri="{FF2B5EF4-FFF2-40B4-BE49-F238E27FC236}">
                  <a16:creationId xmlns:a16="http://schemas.microsoft.com/office/drawing/2014/main" id="{F8C52F8B-5F0C-22FF-A1CA-2450136F4154}"/>
                </a:ext>
              </a:extLst>
            </p:cNvPr>
            <p:cNvSpPr/>
            <p:nvPr/>
          </p:nvSpPr>
          <p:spPr>
            <a:xfrm rot="5400000">
              <a:off x="2724246" y="3284526"/>
              <a:ext cx="560979" cy="515240"/>
            </a:xfrm>
            <a:custGeom>
              <a:avLst/>
              <a:gdLst>
                <a:gd name="connsiteX0" fmla="*/ 0 w 287069"/>
                <a:gd name="connsiteY0" fmla="*/ 1770363 h 1770363"/>
                <a:gd name="connsiteX1" fmla="*/ 143535 w 287069"/>
                <a:gd name="connsiteY1" fmla="*/ 0 h 1770363"/>
                <a:gd name="connsiteX2" fmla="*/ 287069 w 287069"/>
                <a:gd name="connsiteY2" fmla="*/ 1770363 h 1770363"/>
                <a:gd name="connsiteX3" fmla="*/ 0 w 287069"/>
                <a:gd name="connsiteY3" fmla="*/ 1770363 h 1770363"/>
                <a:gd name="connsiteX0-1" fmla="*/ 0 w 774042"/>
                <a:gd name="connsiteY0-2" fmla="*/ 1388253 h 1388253"/>
                <a:gd name="connsiteX1-3" fmla="*/ 774042 w 774042"/>
                <a:gd name="connsiteY1-4" fmla="*/ 0 h 1388253"/>
                <a:gd name="connsiteX2-5" fmla="*/ 287069 w 774042"/>
                <a:gd name="connsiteY2-6" fmla="*/ 1388253 h 1388253"/>
                <a:gd name="connsiteX3-7" fmla="*/ 0 w 774042"/>
                <a:gd name="connsiteY3-8" fmla="*/ 1388253 h 13882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74042" h="1388253">
                  <a:moveTo>
                    <a:pt x="0" y="1388253"/>
                  </a:moveTo>
                  <a:lnTo>
                    <a:pt x="774042" y="0"/>
                  </a:lnTo>
                  <a:lnTo>
                    <a:pt x="287069" y="1388253"/>
                  </a:lnTo>
                  <a:lnTo>
                    <a:pt x="0" y="138825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endParaRPr>
            </a:p>
          </p:txBody>
        </p:sp>
        <p:sp>
          <p:nvSpPr>
            <p:cNvPr id="42" name="Rectangle 80">
              <a:extLst>
                <a:ext uri="{FF2B5EF4-FFF2-40B4-BE49-F238E27FC236}">
                  <a16:creationId xmlns:a16="http://schemas.microsoft.com/office/drawing/2014/main" id="{04212825-0946-52A7-1939-BD510491B372}"/>
                </a:ext>
              </a:extLst>
            </p:cNvPr>
            <p:cNvSpPr/>
            <p:nvPr/>
          </p:nvSpPr>
          <p:spPr>
            <a:xfrm>
              <a:off x="1179132" y="2484846"/>
              <a:ext cx="2160833" cy="1243819"/>
            </a:xfrm>
            <a:prstGeom prst="rect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889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西门子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F200</a:t>
              </a:r>
            </a:p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边缘引擎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endParaRPr>
            </a:p>
          </p:txBody>
        </p:sp>
      </p:grpSp>
      <p:cxnSp>
        <p:nvCxnSpPr>
          <p:cNvPr id="43" name="Connector: Elbow 23">
            <a:extLst>
              <a:ext uri="{FF2B5EF4-FFF2-40B4-BE49-F238E27FC236}">
                <a16:creationId xmlns:a16="http://schemas.microsoft.com/office/drawing/2014/main" id="{F4FB3487-9FBA-5536-04A4-9FD0920F4AB4}"/>
              </a:ext>
            </a:extLst>
          </p:cNvPr>
          <p:cNvCxnSpPr>
            <a:cxnSpLocks/>
            <a:endCxn id="66" idx="0"/>
          </p:cNvCxnSpPr>
          <p:nvPr/>
        </p:nvCxnSpPr>
        <p:spPr>
          <a:xfrm rot="10800000" flipV="1">
            <a:off x="1703007" y="1178878"/>
            <a:ext cx="6578029" cy="399142"/>
          </a:xfrm>
          <a:prstGeom prst="bentConnector2">
            <a:avLst/>
          </a:prstGeom>
          <a:ln w="12700" cmpd="sng">
            <a:solidFill>
              <a:schemeClr val="accent6"/>
            </a:solidFill>
            <a:prstDash val="sysDot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4" name="组合 15">
            <a:extLst>
              <a:ext uri="{FF2B5EF4-FFF2-40B4-BE49-F238E27FC236}">
                <a16:creationId xmlns:a16="http://schemas.microsoft.com/office/drawing/2014/main" id="{ECF4E9AA-0DDE-DA5C-DBA3-6CACAF062A3D}"/>
              </a:ext>
            </a:extLst>
          </p:cNvPr>
          <p:cNvGrpSpPr/>
          <p:nvPr/>
        </p:nvGrpSpPr>
        <p:grpSpPr>
          <a:xfrm rot="420000">
            <a:off x="4716145" y="1344295"/>
            <a:ext cx="2953385" cy="2512060"/>
            <a:chOff x="9747" y="-1721"/>
            <a:chExt cx="7262" cy="7154"/>
          </a:xfrm>
        </p:grpSpPr>
        <p:sp>
          <p:nvSpPr>
            <p:cNvPr id="45" name="椭圆 16">
              <a:extLst>
                <a:ext uri="{FF2B5EF4-FFF2-40B4-BE49-F238E27FC236}">
                  <a16:creationId xmlns:a16="http://schemas.microsoft.com/office/drawing/2014/main" id="{BD8AF0E0-1C18-A8AF-FA52-81BC9DD5C932}"/>
                </a:ext>
              </a:extLst>
            </p:cNvPr>
            <p:cNvSpPr/>
            <p:nvPr/>
          </p:nvSpPr>
          <p:spPr>
            <a:xfrm>
              <a:off x="9747" y="-1721"/>
              <a:ext cx="7262" cy="7155"/>
            </a:xfrm>
            <a:prstGeom prst="ellipse">
              <a:avLst/>
            </a:prstGeom>
            <a:solidFill>
              <a:schemeClr val="accent4">
                <a:alpha val="32000"/>
              </a:schemeClr>
            </a:solidFill>
            <a:ln>
              <a:noFill/>
            </a:ln>
            <a:scene3d>
              <a:camera prst="isometricOffAxis1Top">
                <a:rot lat="18677999" lon="18990000" rev="30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46" name="图片 99" descr="图片 99">
              <a:extLst>
                <a:ext uri="{FF2B5EF4-FFF2-40B4-BE49-F238E27FC236}">
                  <a16:creationId xmlns:a16="http://schemas.microsoft.com/office/drawing/2014/main" id="{85B7E7C4-0207-3625-09A6-C9B6E39A5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041" y="1647"/>
              <a:ext cx="537" cy="419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grpSp>
        <p:nvGrpSpPr>
          <p:cNvPr id="47" name="组合 27">
            <a:extLst>
              <a:ext uri="{FF2B5EF4-FFF2-40B4-BE49-F238E27FC236}">
                <a16:creationId xmlns:a16="http://schemas.microsoft.com/office/drawing/2014/main" id="{439150FD-A4D9-4105-A485-5AD0B103DDD4}"/>
              </a:ext>
            </a:extLst>
          </p:cNvPr>
          <p:cNvGrpSpPr/>
          <p:nvPr/>
        </p:nvGrpSpPr>
        <p:grpSpPr>
          <a:xfrm>
            <a:off x="10800715" y="2809875"/>
            <a:ext cx="711200" cy="1896745"/>
            <a:chOff x="16025" y="4425"/>
            <a:chExt cx="1120" cy="2987"/>
          </a:xfrm>
        </p:grpSpPr>
        <p:sp>
          <p:nvSpPr>
            <p:cNvPr id="48" name="流程图: 摘录 2">
              <a:extLst>
                <a:ext uri="{FF2B5EF4-FFF2-40B4-BE49-F238E27FC236}">
                  <a16:creationId xmlns:a16="http://schemas.microsoft.com/office/drawing/2014/main" id="{F7FDF12C-4414-300B-1965-EF5FFF152034}"/>
                </a:ext>
              </a:extLst>
            </p:cNvPr>
            <p:cNvSpPr/>
            <p:nvPr/>
          </p:nvSpPr>
          <p:spPr>
            <a:xfrm>
              <a:off x="16025" y="4679"/>
              <a:ext cx="1121" cy="2630"/>
            </a:xfrm>
            <a:prstGeom prst="flowChartExtract">
              <a:avLst/>
            </a:prstGeom>
            <a:solidFill>
              <a:schemeClr val="accent4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椭圆 3">
              <a:extLst>
                <a:ext uri="{FF2B5EF4-FFF2-40B4-BE49-F238E27FC236}">
                  <a16:creationId xmlns:a16="http://schemas.microsoft.com/office/drawing/2014/main" id="{88DD9F34-2B7B-9DF6-E8C8-2C9D22495FA7}"/>
                </a:ext>
              </a:extLst>
            </p:cNvPr>
            <p:cNvSpPr/>
            <p:nvPr/>
          </p:nvSpPr>
          <p:spPr>
            <a:xfrm>
              <a:off x="16025" y="7266"/>
              <a:ext cx="1121" cy="1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50" name="组合 18">
              <a:extLst>
                <a:ext uri="{FF2B5EF4-FFF2-40B4-BE49-F238E27FC236}">
                  <a16:creationId xmlns:a16="http://schemas.microsoft.com/office/drawing/2014/main" id="{FA56197A-CA1E-030C-6046-C94EAA8A0C09}"/>
                </a:ext>
              </a:extLst>
            </p:cNvPr>
            <p:cNvGrpSpPr/>
            <p:nvPr/>
          </p:nvGrpSpPr>
          <p:grpSpPr>
            <a:xfrm>
              <a:off x="16457" y="4425"/>
              <a:ext cx="475" cy="397"/>
              <a:chOff x="12438" y="442"/>
              <a:chExt cx="1143" cy="616"/>
            </a:xfrm>
          </p:grpSpPr>
          <p:pic>
            <p:nvPicPr>
              <p:cNvPr id="51" name="image43.png" descr="image43.png">
                <a:extLst>
                  <a:ext uri="{FF2B5EF4-FFF2-40B4-BE49-F238E27FC236}">
                    <a16:creationId xmlns:a16="http://schemas.microsoft.com/office/drawing/2014/main" id="{AA415B32-148A-3772-56F5-333376476E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6200000">
                <a:off x="12438" y="442"/>
                <a:ext cx="617" cy="617"/>
              </a:xfrm>
              <a:prstGeom prst="rect">
                <a:avLst/>
              </a:prstGeom>
              <a:ln w="12700" cap="flat">
                <a:noFill/>
                <a:miter lim="400000"/>
                <a:headEnd/>
                <a:tailEnd/>
              </a:ln>
              <a:effectLst/>
            </p:spPr>
          </p:pic>
          <p:pic>
            <p:nvPicPr>
              <p:cNvPr id="52" name="图片 25" descr="wifi">
                <a:extLst>
                  <a:ext uri="{FF2B5EF4-FFF2-40B4-BE49-F238E27FC236}">
                    <a16:creationId xmlns:a16="http://schemas.microsoft.com/office/drawing/2014/main" id="{3C6B56EB-0B86-235A-5E40-8BDEEE2470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2580000">
                <a:off x="13115" y="496"/>
                <a:ext cx="467" cy="467"/>
              </a:xfrm>
              <a:prstGeom prst="rect">
                <a:avLst/>
              </a:prstGeom>
            </p:spPr>
          </p:pic>
        </p:grpSp>
      </p:grpSp>
      <p:grpSp>
        <p:nvGrpSpPr>
          <p:cNvPr id="53" name="组合 28">
            <a:extLst>
              <a:ext uri="{FF2B5EF4-FFF2-40B4-BE49-F238E27FC236}">
                <a16:creationId xmlns:a16="http://schemas.microsoft.com/office/drawing/2014/main" id="{31DF81E2-238D-187D-E98E-B6E65B16F242}"/>
              </a:ext>
            </a:extLst>
          </p:cNvPr>
          <p:cNvGrpSpPr/>
          <p:nvPr/>
        </p:nvGrpSpPr>
        <p:grpSpPr>
          <a:xfrm>
            <a:off x="9138920" y="2901315"/>
            <a:ext cx="711200" cy="1896745"/>
            <a:chOff x="16025" y="4425"/>
            <a:chExt cx="1120" cy="2987"/>
          </a:xfrm>
        </p:grpSpPr>
        <p:sp>
          <p:nvSpPr>
            <p:cNvPr id="54" name="流程图: 摘录 29">
              <a:extLst>
                <a:ext uri="{FF2B5EF4-FFF2-40B4-BE49-F238E27FC236}">
                  <a16:creationId xmlns:a16="http://schemas.microsoft.com/office/drawing/2014/main" id="{D6353B3D-2A1B-4FBF-70AD-B3CE21191100}"/>
                </a:ext>
              </a:extLst>
            </p:cNvPr>
            <p:cNvSpPr/>
            <p:nvPr/>
          </p:nvSpPr>
          <p:spPr>
            <a:xfrm>
              <a:off x="16025" y="4679"/>
              <a:ext cx="1121" cy="2630"/>
            </a:xfrm>
            <a:prstGeom prst="flowChartExtract">
              <a:avLst/>
            </a:prstGeom>
            <a:solidFill>
              <a:schemeClr val="accent4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5" name="椭圆 30">
              <a:extLst>
                <a:ext uri="{FF2B5EF4-FFF2-40B4-BE49-F238E27FC236}">
                  <a16:creationId xmlns:a16="http://schemas.microsoft.com/office/drawing/2014/main" id="{A3D91F4B-823C-752E-B265-B60C4E4F9B80}"/>
                </a:ext>
              </a:extLst>
            </p:cNvPr>
            <p:cNvSpPr/>
            <p:nvPr/>
          </p:nvSpPr>
          <p:spPr>
            <a:xfrm>
              <a:off x="16025" y="7266"/>
              <a:ext cx="1121" cy="1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56" name="组合 31">
              <a:extLst>
                <a:ext uri="{FF2B5EF4-FFF2-40B4-BE49-F238E27FC236}">
                  <a16:creationId xmlns:a16="http://schemas.microsoft.com/office/drawing/2014/main" id="{44638E9C-9982-945D-0A48-861B53D2EA34}"/>
                </a:ext>
              </a:extLst>
            </p:cNvPr>
            <p:cNvGrpSpPr/>
            <p:nvPr/>
          </p:nvGrpSpPr>
          <p:grpSpPr>
            <a:xfrm>
              <a:off x="16457" y="4425"/>
              <a:ext cx="475" cy="397"/>
              <a:chOff x="12438" y="442"/>
              <a:chExt cx="1143" cy="616"/>
            </a:xfrm>
          </p:grpSpPr>
          <p:pic>
            <p:nvPicPr>
              <p:cNvPr id="57" name="image43.png" descr="image43.png">
                <a:extLst>
                  <a:ext uri="{FF2B5EF4-FFF2-40B4-BE49-F238E27FC236}">
                    <a16:creationId xmlns:a16="http://schemas.microsoft.com/office/drawing/2014/main" id="{F0A463D9-F101-5606-224E-9EFD0340B1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6200000">
                <a:off x="12438" y="442"/>
                <a:ext cx="617" cy="617"/>
              </a:xfrm>
              <a:prstGeom prst="rect">
                <a:avLst/>
              </a:prstGeom>
              <a:ln w="12700" cap="flat">
                <a:noFill/>
                <a:miter lim="400000"/>
                <a:headEnd/>
                <a:tailEnd/>
              </a:ln>
              <a:effectLst/>
            </p:spPr>
          </p:pic>
          <p:pic>
            <p:nvPicPr>
              <p:cNvPr id="58" name="图片 33" descr="wifi">
                <a:extLst>
                  <a:ext uri="{FF2B5EF4-FFF2-40B4-BE49-F238E27FC236}">
                    <a16:creationId xmlns:a16="http://schemas.microsoft.com/office/drawing/2014/main" id="{9826AB1B-8B6F-A2CE-AF50-646A4474DC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2580000">
                <a:off x="13115" y="496"/>
                <a:ext cx="467" cy="467"/>
              </a:xfrm>
              <a:prstGeom prst="rect">
                <a:avLst/>
              </a:prstGeom>
            </p:spPr>
          </p:pic>
        </p:grpSp>
      </p:grpSp>
      <p:grpSp>
        <p:nvGrpSpPr>
          <p:cNvPr id="59" name="组合 34">
            <a:extLst>
              <a:ext uri="{FF2B5EF4-FFF2-40B4-BE49-F238E27FC236}">
                <a16:creationId xmlns:a16="http://schemas.microsoft.com/office/drawing/2014/main" id="{7DFD709C-690E-CAC2-36EC-D1543AA38449}"/>
              </a:ext>
            </a:extLst>
          </p:cNvPr>
          <p:cNvGrpSpPr/>
          <p:nvPr/>
        </p:nvGrpSpPr>
        <p:grpSpPr>
          <a:xfrm>
            <a:off x="7099935" y="3273425"/>
            <a:ext cx="711200" cy="1649095"/>
            <a:chOff x="16025" y="4425"/>
            <a:chExt cx="1120" cy="2987"/>
          </a:xfrm>
        </p:grpSpPr>
        <p:sp>
          <p:nvSpPr>
            <p:cNvPr id="60" name="流程图: 摘录 35">
              <a:extLst>
                <a:ext uri="{FF2B5EF4-FFF2-40B4-BE49-F238E27FC236}">
                  <a16:creationId xmlns:a16="http://schemas.microsoft.com/office/drawing/2014/main" id="{5ED72DF0-8EC5-8A8D-8B53-B7FD2FD4A359}"/>
                </a:ext>
              </a:extLst>
            </p:cNvPr>
            <p:cNvSpPr/>
            <p:nvPr/>
          </p:nvSpPr>
          <p:spPr>
            <a:xfrm>
              <a:off x="16025" y="4679"/>
              <a:ext cx="1121" cy="2630"/>
            </a:xfrm>
            <a:prstGeom prst="flowChartExtract">
              <a:avLst/>
            </a:prstGeom>
            <a:solidFill>
              <a:schemeClr val="accent4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1" name="椭圆 36">
              <a:extLst>
                <a:ext uri="{FF2B5EF4-FFF2-40B4-BE49-F238E27FC236}">
                  <a16:creationId xmlns:a16="http://schemas.microsoft.com/office/drawing/2014/main" id="{10F8A5EB-C2FC-260A-2638-0DDB6D705169}"/>
                </a:ext>
              </a:extLst>
            </p:cNvPr>
            <p:cNvSpPr/>
            <p:nvPr/>
          </p:nvSpPr>
          <p:spPr>
            <a:xfrm>
              <a:off x="16025" y="7266"/>
              <a:ext cx="1121" cy="1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2" name="组合 37">
              <a:extLst>
                <a:ext uri="{FF2B5EF4-FFF2-40B4-BE49-F238E27FC236}">
                  <a16:creationId xmlns:a16="http://schemas.microsoft.com/office/drawing/2014/main" id="{7F63E056-D48D-0BA8-890D-5DE3FD270597}"/>
                </a:ext>
              </a:extLst>
            </p:cNvPr>
            <p:cNvGrpSpPr/>
            <p:nvPr/>
          </p:nvGrpSpPr>
          <p:grpSpPr>
            <a:xfrm>
              <a:off x="16457" y="4425"/>
              <a:ext cx="475" cy="397"/>
              <a:chOff x="12438" y="442"/>
              <a:chExt cx="1143" cy="616"/>
            </a:xfrm>
          </p:grpSpPr>
          <p:pic>
            <p:nvPicPr>
              <p:cNvPr id="63" name="image43.png" descr="image43.png">
                <a:extLst>
                  <a:ext uri="{FF2B5EF4-FFF2-40B4-BE49-F238E27FC236}">
                    <a16:creationId xmlns:a16="http://schemas.microsoft.com/office/drawing/2014/main" id="{1858B1BB-BA48-ACD0-0A00-FDED6395EF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6200000">
                <a:off x="12438" y="442"/>
                <a:ext cx="617" cy="617"/>
              </a:xfrm>
              <a:prstGeom prst="rect">
                <a:avLst/>
              </a:prstGeom>
              <a:ln w="12700" cap="flat">
                <a:noFill/>
                <a:miter lim="400000"/>
                <a:headEnd/>
                <a:tailEnd/>
              </a:ln>
              <a:effectLst/>
            </p:spPr>
          </p:pic>
          <p:pic>
            <p:nvPicPr>
              <p:cNvPr id="64" name="图片 48" descr="wifi">
                <a:extLst>
                  <a:ext uri="{FF2B5EF4-FFF2-40B4-BE49-F238E27FC236}">
                    <a16:creationId xmlns:a16="http://schemas.microsoft.com/office/drawing/2014/main" id="{4256DC86-D9A6-B889-EF15-7716BC86F1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2580000">
                <a:off x="13115" y="496"/>
                <a:ext cx="467" cy="467"/>
              </a:xfrm>
              <a:prstGeom prst="rect">
                <a:avLst/>
              </a:prstGeom>
            </p:spPr>
          </p:pic>
        </p:grpSp>
      </p:grpSp>
      <p:cxnSp>
        <p:nvCxnSpPr>
          <p:cNvPr id="65" name="Connector: Elbow 23">
            <a:extLst>
              <a:ext uri="{FF2B5EF4-FFF2-40B4-BE49-F238E27FC236}">
                <a16:creationId xmlns:a16="http://schemas.microsoft.com/office/drawing/2014/main" id="{09977D2C-D8EE-4728-7579-1CB22125348F}"/>
              </a:ext>
            </a:extLst>
          </p:cNvPr>
          <p:cNvCxnSpPr/>
          <p:nvPr/>
        </p:nvCxnSpPr>
        <p:spPr>
          <a:xfrm rot="10800000">
            <a:off x="2085975" y="1924685"/>
            <a:ext cx="4015740" cy="673100"/>
          </a:xfrm>
          <a:prstGeom prst="bentConnector3">
            <a:avLst>
              <a:gd name="adj1" fmla="val 50253"/>
            </a:avLst>
          </a:prstGeom>
          <a:ln w="12700" cmpd="sng">
            <a:solidFill>
              <a:schemeClr val="accent6"/>
            </a:solidFill>
            <a:prstDash val="sysDot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BD284B0D-7960-F92A-6CCB-E4CF277C3583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5" t="14794" r="15047"/>
          <a:stretch/>
        </p:blipFill>
        <p:spPr>
          <a:xfrm>
            <a:off x="1264893" y="1578020"/>
            <a:ext cx="876226" cy="679135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7091EA2C-8A90-CB49-86EE-83FFCEE6B27B}"/>
              </a:ext>
            </a:extLst>
          </p:cNvPr>
          <p:cNvGrpSpPr/>
          <p:nvPr/>
        </p:nvGrpSpPr>
        <p:grpSpPr>
          <a:xfrm>
            <a:off x="8337464" y="5173202"/>
            <a:ext cx="3042920" cy="1576356"/>
            <a:chOff x="9185189" y="5173202"/>
            <a:chExt cx="3042920" cy="1576356"/>
          </a:xfrm>
        </p:grpSpPr>
        <p:pic>
          <p:nvPicPr>
            <p:cNvPr id="68" name="图片 120" descr="border">
              <a:extLst>
                <a:ext uri="{FF2B5EF4-FFF2-40B4-BE49-F238E27FC236}">
                  <a16:creationId xmlns:a16="http://schemas.microsoft.com/office/drawing/2014/main" id="{FDA92146-E7B6-6106-B207-8B6494B8176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9185189" y="5173202"/>
              <a:ext cx="3042920" cy="157635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3BA41753-565D-B524-779F-BA6A03A3E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554034" y="5244360"/>
              <a:ext cx="2298764" cy="1327260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0636C9B-CB9F-6288-F6CC-BB5F8977E0B3}"/>
              </a:ext>
            </a:extLst>
          </p:cNvPr>
          <p:cNvGrpSpPr/>
          <p:nvPr/>
        </p:nvGrpSpPr>
        <p:grpSpPr>
          <a:xfrm>
            <a:off x="718165" y="5171010"/>
            <a:ext cx="3090299" cy="1567746"/>
            <a:chOff x="718165" y="5171010"/>
            <a:chExt cx="3090299" cy="1567746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BFE1A51-1318-4F3F-70D4-A0E410F13B4F}"/>
                </a:ext>
              </a:extLst>
            </p:cNvPr>
            <p:cNvGrpSpPr/>
            <p:nvPr/>
          </p:nvGrpSpPr>
          <p:grpSpPr>
            <a:xfrm>
              <a:off x="718165" y="5171010"/>
              <a:ext cx="3090299" cy="1567746"/>
              <a:chOff x="60940" y="5171010"/>
              <a:chExt cx="3090299" cy="1567746"/>
            </a:xfrm>
          </p:grpSpPr>
          <p:pic>
            <p:nvPicPr>
              <p:cNvPr id="73" name="图片 123" descr="border">
                <a:extLst>
                  <a:ext uri="{FF2B5EF4-FFF2-40B4-BE49-F238E27FC236}">
                    <a16:creationId xmlns:a16="http://schemas.microsoft.com/office/drawing/2014/main" id="{D5BDF7DE-6D42-0FEE-33FB-7CB2829A6D9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8"/>
              <a:stretch>
                <a:fillRect/>
              </a:stretch>
            </p:blipFill>
            <p:spPr>
              <a:xfrm>
                <a:off x="60940" y="5171010"/>
                <a:ext cx="3090299" cy="1567746"/>
              </a:xfrm>
              <a:prstGeom prst="rect">
                <a:avLst/>
              </a:prstGeom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90CCF38A-98D2-6C81-CEA5-73B7C48478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21627" y="5242333"/>
                <a:ext cx="2241552" cy="1330223"/>
              </a:xfrm>
              <a:prstGeom prst="rect">
                <a:avLst/>
              </a:prstGeom>
            </p:spPr>
          </p:pic>
        </p:grp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4D57F06-4D7B-A641-8D44-A45230C81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108309" y="5932474"/>
              <a:ext cx="1212095" cy="622941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1BEEFC8-A2BC-40F0-E82D-210A114655EC}"/>
              </a:ext>
            </a:extLst>
          </p:cNvPr>
          <p:cNvGrpSpPr/>
          <p:nvPr/>
        </p:nvGrpSpPr>
        <p:grpSpPr>
          <a:xfrm>
            <a:off x="4613580" y="5158310"/>
            <a:ext cx="3090299" cy="1567746"/>
            <a:chOff x="5280330" y="5158310"/>
            <a:chExt cx="3090299" cy="1567746"/>
          </a:xfrm>
        </p:grpSpPr>
        <p:pic>
          <p:nvPicPr>
            <p:cNvPr id="76" name="图片 123" descr="border">
              <a:extLst>
                <a:ext uri="{FF2B5EF4-FFF2-40B4-BE49-F238E27FC236}">
                  <a16:creationId xmlns:a16="http://schemas.microsoft.com/office/drawing/2014/main" id="{F322CECE-B277-D28F-9CEF-B5A9489A949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5280330" y="5158310"/>
              <a:ext cx="3090299" cy="1567746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D291F7B-4A56-D9EB-C45D-AD042C1F9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669630" y="5246126"/>
              <a:ext cx="2340896" cy="132643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82256BF8-CA01-39CD-F3C4-A21E79F8A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417807" y="5907444"/>
              <a:ext cx="1554619" cy="617673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91BECB8C-C7C4-F206-5D5D-C60C95DED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162800" y="5274658"/>
              <a:ext cx="822999" cy="648475"/>
            </a:xfrm>
            <a:prstGeom prst="rect">
              <a:avLst/>
            </a:prstGeom>
          </p:spPr>
        </p:pic>
      </p:grpSp>
      <p:grpSp>
        <p:nvGrpSpPr>
          <p:cNvPr id="82" name="组合 12">
            <a:extLst>
              <a:ext uri="{FF2B5EF4-FFF2-40B4-BE49-F238E27FC236}">
                <a16:creationId xmlns:a16="http://schemas.microsoft.com/office/drawing/2014/main" id="{315DFAE3-20AF-CC57-B911-B42C6150F069}"/>
              </a:ext>
            </a:extLst>
          </p:cNvPr>
          <p:cNvGrpSpPr/>
          <p:nvPr/>
        </p:nvGrpSpPr>
        <p:grpSpPr>
          <a:xfrm>
            <a:off x="6189345" y="-1092835"/>
            <a:ext cx="4611370" cy="4542790"/>
            <a:chOff x="9747" y="-1721"/>
            <a:chExt cx="7262" cy="7154"/>
          </a:xfrm>
        </p:grpSpPr>
        <p:sp>
          <p:nvSpPr>
            <p:cNvPr id="83" name="椭圆 10">
              <a:extLst>
                <a:ext uri="{FF2B5EF4-FFF2-40B4-BE49-F238E27FC236}">
                  <a16:creationId xmlns:a16="http://schemas.microsoft.com/office/drawing/2014/main" id="{FD3E2CE0-56E1-FC05-D791-8AC3B47E1212}"/>
                </a:ext>
              </a:extLst>
            </p:cNvPr>
            <p:cNvSpPr/>
            <p:nvPr/>
          </p:nvSpPr>
          <p:spPr>
            <a:xfrm>
              <a:off x="9747" y="-1721"/>
              <a:ext cx="7262" cy="7155"/>
            </a:xfrm>
            <a:prstGeom prst="ellipse">
              <a:avLst/>
            </a:prstGeom>
            <a:solidFill>
              <a:schemeClr val="accent4">
                <a:alpha val="32000"/>
              </a:schemeClr>
            </a:solidFill>
            <a:ln>
              <a:noFill/>
            </a:ln>
            <a:scene3d>
              <a:camera prst="isometricOffAxis1Top">
                <a:rot lat="18677999" lon="18990000" rev="30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84" name="图片 99" descr="图片 99">
              <a:extLst>
                <a:ext uri="{FF2B5EF4-FFF2-40B4-BE49-F238E27FC236}">
                  <a16:creationId xmlns:a16="http://schemas.microsoft.com/office/drawing/2014/main" id="{4044190B-EB08-40CE-A78D-E4AEC3314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041" y="1647"/>
              <a:ext cx="537" cy="419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89B116A-0A7B-7D83-C879-895FEB597CF7}"/>
              </a:ext>
            </a:extLst>
          </p:cNvPr>
          <p:cNvGrpSpPr/>
          <p:nvPr/>
        </p:nvGrpSpPr>
        <p:grpSpPr>
          <a:xfrm>
            <a:off x="11155601" y="705485"/>
            <a:ext cx="614680" cy="581660"/>
            <a:chOff x="11155601" y="705485"/>
            <a:chExt cx="614680" cy="581660"/>
          </a:xfrm>
        </p:grpSpPr>
        <p:sp>
          <p:nvSpPr>
            <p:cNvPr id="87" name="Freihandform: Form 204">
              <a:extLst>
                <a:ext uri="{FF2B5EF4-FFF2-40B4-BE49-F238E27FC236}">
                  <a16:creationId xmlns:a16="http://schemas.microsoft.com/office/drawing/2014/main" id="{3C43C3F6-2961-E803-03C3-8AF4B890CE4F}"/>
                </a:ext>
              </a:extLst>
            </p:cNvPr>
            <p:cNvSpPr/>
            <p:nvPr/>
          </p:nvSpPr>
          <p:spPr bwMode="gray">
            <a:xfrm>
              <a:off x="11155601" y="705485"/>
              <a:ext cx="614680" cy="581660"/>
            </a:xfrm>
            <a:custGeom>
              <a:avLst/>
              <a:gdLst>
                <a:gd name="connsiteX0" fmla="*/ 0 w 562755"/>
                <a:gd name="connsiteY0" fmla="*/ 0 h 532306"/>
                <a:gd name="connsiteX1" fmla="*/ 30422 w 562755"/>
                <a:gd name="connsiteY1" fmla="*/ 365012 h 532306"/>
                <a:gd name="connsiteX2" fmla="*/ 289895 w 562755"/>
                <a:gd name="connsiteY2" fmla="*/ 365012 h 532306"/>
                <a:gd name="connsiteX3" fmla="*/ 456278 w 562755"/>
                <a:gd name="connsiteY3" fmla="*/ 532306 h 532306"/>
                <a:gd name="connsiteX4" fmla="*/ 456278 w 562755"/>
                <a:gd name="connsiteY4" fmla="*/ 365012 h 532306"/>
                <a:gd name="connsiteX5" fmla="*/ 532333 w 562755"/>
                <a:gd name="connsiteY5" fmla="*/ 365012 h 532306"/>
                <a:gd name="connsiteX6" fmla="*/ 562755 w 562755"/>
                <a:gd name="connsiteY6" fmla="*/ 0 h 532306"/>
                <a:gd name="connsiteX7" fmla="*/ 0 w 562755"/>
                <a:gd name="connsiteY7" fmla="*/ 0 h 53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55" h="532306">
                  <a:moveTo>
                    <a:pt x="0" y="0"/>
                  </a:moveTo>
                  <a:lnTo>
                    <a:pt x="30422" y="365012"/>
                  </a:lnTo>
                  <a:lnTo>
                    <a:pt x="289895" y="365012"/>
                  </a:lnTo>
                  <a:lnTo>
                    <a:pt x="456278" y="532306"/>
                  </a:lnTo>
                  <a:lnTo>
                    <a:pt x="456278" y="365012"/>
                  </a:lnTo>
                  <a:lnTo>
                    <a:pt x="532333" y="365012"/>
                  </a:lnTo>
                  <a:lnTo>
                    <a:pt x="56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8" name="Freihandform: Form 205">
              <a:extLst>
                <a:ext uri="{FF2B5EF4-FFF2-40B4-BE49-F238E27FC236}">
                  <a16:creationId xmlns:a16="http://schemas.microsoft.com/office/drawing/2014/main" id="{7BE2B4E6-9C36-1B4E-6304-4E5D1AD75123}"/>
                </a:ext>
              </a:extLst>
            </p:cNvPr>
            <p:cNvSpPr/>
            <p:nvPr/>
          </p:nvSpPr>
          <p:spPr bwMode="gray">
            <a:xfrm>
              <a:off x="11300381" y="775335"/>
              <a:ext cx="325755" cy="244475"/>
            </a:xfrm>
            <a:custGeom>
              <a:avLst/>
              <a:gdLst>
                <a:gd name="connsiteX0" fmla="*/ 546954 w 546953"/>
                <a:gd name="connsiteY0" fmla="*/ 56337 h 410644"/>
                <a:gd name="connsiteX1" fmla="*/ 191198 w 546953"/>
                <a:gd name="connsiteY1" fmla="*/ 410645 h 410644"/>
                <a:gd name="connsiteX2" fmla="*/ 0 w 546953"/>
                <a:gd name="connsiteY2" fmla="*/ 219071 h 410644"/>
                <a:gd name="connsiteX3" fmla="*/ 56954 w 546953"/>
                <a:gd name="connsiteY3" fmla="*/ 162734 h 410644"/>
                <a:gd name="connsiteX4" fmla="*/ 179447 w 546953"/>
                <a:gd name="connsiteY4" fmla="*/ 269104 h 410644"/>
                <a:gd name="connsiteX5" fmla="*/ 490456 w 546953"/>
                <a:gd name="connsiteY5" fmla="*/ 0 h 410644"/>
                <a:gd name="connsiteX6" fmla="*/ 546954 w 546953"/>
                <a:gd name="connsiteY6" fmla="*/ 56337 h 410644"/>
                <a:gd name="connsiteX7" fmla="*/ 546954 w 546953"/>
                <a:gd name="connsiteY7" fmla="*/ 56337 h 41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6953" h="410644">
                  <a:moveTo>
                    <a:pt x="546954" y="56337"/>
                  </a:moveTo>
                  <a:lnTo>
                    <a:pt x="191198" y="410645"/>
                  </a:lnTo>
                  <a:lnTo>
                    <a:pt x="0" y="219071"/>
                  </a:lnTo>
                  <a:lnTo>
                    <a:pt x="56954" y="162734"/>
                  </a:lnTo>
                  <a:lnTo>
                    <a:pt x="179447" y="269104"/>
                  </a:lnTo>
                  <a:lnTo>
                    <a:pt x="490456" y="0"/>
                  </a:lnTo>
                  <a:lnTo>
                    <a:pt x="546954" y="56337"/>
                  </a:lnTo>
                  <a:lnTo>
                    <a:pt x="546954" y="56337"/>
                  </a:lnTo>
                  <a:close/>
                </a:path>
              </a:pathLst>
            </a:custGeom>
            <a:solidFill>
              <a:schemeClr val="tx1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796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hink-cell data - do not delete" hidden="1">
            <a:extLst>
              <a:ext uri="{FF2B5EF4-FFF2-40B4-BE49-F238E27FC236}">
                <a16:creationId xmlns:a16="http://schemas.microsoft.com/office/drawing/2014/main" id="{C72B4F79-D599-F668-1938-E9194A7C7F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440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1E72D-8C38-BF6B-8131-9044639C9B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2025 | SI B CN | AIoT Lighting V1.0 | 2025-10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F858B2-0D49-969B-FDBA-3ABE38762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hteck 159">
            <a:extLst>
              <a:ext uri="{FF2B5EF4-FFF2-40B4-BE49-F238E27FC236}">
                <a16:creationId xmlns:a16="http://schemas.microsoft.com/office/drawing/2014/main" id="{E1380216-575A-AA8C-B773-6A302B842598}"/>
              </a:ext>
            </a:extLst>
          </p:cNvPr>
          <p:cNvSpPr/>
          <p:nvPr/>
        </p:nvSpPr>
        <p:spPr bwMode="gray">
          <a:xfrm>
            <a:off x="8074113" y="717295"/>
            <a:ext cx="3919584" cy="5256001"/>
          </a:xfrm>
          <a:prstGeom prst="rect">
            <a:avLst/>
          </a:prstGeom>
          <a:solidFill>
            <a:srgbClr val="000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D7A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D7A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案例研究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D7A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基于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400</a:t>
            </a:r>
            <a:r>
              <a: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万㎡的项目实践</a:t>
            </a:r>
            <a:r>
              <a:rPr lang="zh-CN" altLang="en-US" sz="1400" i="1" kern="1200" dirty="0">
                <a:solidFill>
                  <a:prstClr val="white"/>
                </a:solidFill>
                <a:latin typeface="Arial" panose="020B0604020202020204"/>
                <a:sym typeface="+mn-ea"/>
              </a:rPr>
              <a:t>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通常安装后至少立即可节约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80%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的照明能耗，其中包括</a:t>
            </a:r>
            <a:r>
              <a:rPr lang="zh-CN" altLang="en-US" sz="1400" kern="1200" dirty="0">
                <a:solidFill>
                  <a:prstClr val="white"/>
                </a:solidFill>
                <a:latin typeface="Arial" panose="020B0604020202020204"/>
                <a:sym typeface="+mn-ea"/>
              </a:rPr>
              <a:t>：</a:t>
            </a:r>
            <a:endParaRPr lang="en-US" altLang="zh-CN" sz="1400" kern="1200" dirty="0">
              <a:solidFill>
                <a:prstClr val="white"/>
              </a:solidFill>
              <a:latin typeface="Arial" panose="020B0604020202020204"/>
              <a:sym typeface="+mn-ea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1400" kern="1200" dirty="0">
              <a:solidFill>
                <a:prstClr val="white"/>
              </a:solidFill>
              <a:latin typeface="Arial" panose="020B0604020202020204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大约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50%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来自于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LED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灯具的更换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+mn-ea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另外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30%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来自智能照明系统，自动实现光照度补偿、区域无人关灯等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仅安装智能照明系统最高节省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49.34%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1400" kern="1200" dirty="0">
              <a:solidFill>
                <a:srgbClr val="00D7A0"/>
              </a:solidFill>
              <a:latin typeface="Arial" panose="020B0604020202020204"/>
              <a:sym typeface="+mn-ea"/>
            </a:endParaRPr>
          </a:p>
          <a:p>
            <a:pPr lvl="0" algn="l" rtl="0">
              <a:buClrTx/>
              <a:defRPr/>
            </a:pPr>
            <a:r>
              <a:rPr lang="zh-CN" altLang="en-US" sz="1400" b="1" kern="1200" dirty="0">
                <a:solidFill>
                  <a:srgbClr val="00D7A0"/>
                </a:solidFill>
              </a:rPr>
              <a:t>价值好处：</a:t>
            </a:r>
            <a:endParaRPr lang="en-US" sz="1400" b="1" kern="1200" dirty="0">
              <a:solidFill>
                <a:prstClr val="white"/>
              </a:solidFill>
            </a:endParaRPr>
          </a:p>
          <a:p>
            <a:pPr marL="285750" indent="-285750" algn="l" rtl="0">
              <a:lnSpc>
                <a:spcPct val="130000"/>
              </a:lnSpc>
              <a:buClrTx/>
              <a:buFont typeface="Wingdings" panose="05000000000000000000" pitchFamily="2" charset="2"/>
              <a:buChar char="§"/>
              <a:defRPr/>
            </a:pPr>
            <a:r>
              <a:rPr lang="zh-CN" altLang="en-US" sz="1400" kern="1200" dirty="0">
                <a:solidFill>
                  <a:prstClr val="white"/>
                </a:solidFill>
              </a:rPr>
              <a:t>根据负荷、人感、定时等多种途径实际情况调节空调控制</a:t>
            </a:r>
          </a:p>
          <a:p>
            <a:pPr marL="285750" indent="-285750" algn="l" rtl="0">
              <a:lnSpc>
                <a:spcPct val="130000"/>
              </a:lnSpc>
              <a:buClrTx/>
              <a:buFont typeface="Wingdings" panose="05000000000000000000" pitchFamily="2" charset="2"/>
              <a:buChar char="§"/>
              <a:defRPr/>
            </a:pPr>
            <a:r>
              <a:rPr lang="zh-CN" altLang="en-US" sz="1400" kern="1200" dirty="0">
                <a:solidFill>
                  <a:prstClr val="white"/>
                </a:solidFill>
              </a:rPr>
              <a:t>无线方案，施工方便</a:t>
            </a:r>
          </a:p>
          <a:p>
            <a:pPr marL="285750" indent="-285750" algn="l" rtl="0">
              <a:lnSpc>
                <a:spcPct val="130000"/>
              </a:lnSpc>
              <a:buClrTx/>
              <a:buFont typeface="Wingdings" panose="05000000000000000000" pitchFamily="2" charset="2"/>
              <a:buChar char="§"/>
              <a:defRPr/>
            </a:pPr>
            <a:r>
              <a:rPr lang="zh-CN" altLang="en-US" sz="1400" kern="1200" dirty="0">
                <a:solidFill>
                  <a:prstClr val="white"/>
                </a:solidFill>
              </a:rPr>
              <a:t>实时监控，在保证舒适度的前提下节省能耗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D7A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F7666-28A0-8D3C-1875-33BD2887AEE8}"/>
              </a:ext>
            </a:extLst>
          </p:cNvPr>
          <p:cNvSpPr/>
          <p:nvPr/>
        </p:nvSpPr>
        <p:spPr>
          <a:xfrm>
            <a:off x="148590" y="1317625"/>
            <a:ext cx="7724775" cy="336169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737D15-E9CB-43CE-058A-A36F76680622}"/>
              </a:ext>
            </a:extLst>
          </p:cNvPr>
          <p:cNvCxnSpPr/>
          <p:nvPr/>
        </p:nvCxnSpPr>
        <p:spPr bwMode="gray">
          <a:xfrm>
            <a:off x="1613767" y="5606131"/>
            <a:ext cx="613243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8">
            <a:extLst>
              <a:ext uri="{FF2B5EF4-FFF2-40B4-BE49-F238E27FC236}">
                <a16:creationId xmlns:a16="http://schemas.microsoft.com/office/drawing/2014/main" id="{CFC18E0C-CBD8-7BA6-E268-DDCCF6A9A261}"/>
              </a:ext>
            </a:extLst>
          </p:cNvPr>
          <p:cNvSpPr/>
          <p:nvPr/>
        </p:nvSpPr>
        <p:spPr bwMode="gray">
          <a:xfrm>
            <a:off x="260281" y="4679248"/>
            <a:ext cx="1327599" cy="158502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E31D2C-A8E7-E4A2-925F-5F6AFFD6EFB9}"/>
              </a:ext>
            </a:extLst>
          </p:cNvPr>
          <p:cNvSpPr txBox="1"/>
          <p:nvPr/>
        </p:nvSpPr>
        <p:spPr bwMode="gray">
          <a:xfrm>
            <a:off x="4345331" y="5773192"/>
            <a:ext cx="61555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边缘</a:t>
            </a:r>
            <a:r>
              <a:rPr lang="zh-CN" altLang="en-US" sz="12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引擎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7BD688-8576-D05B-B9B8-F2D89E3B4F18}"/>
              </a:ext>
            </a:extLst>
          </p:cNvPr>
          <p:cNvSpPr txBox="1"/>
          <p:nvPr/>
        </p:nvSpPr>
        <p:spPr bwMode="gray">
          <a:xfrm>
            <a:off x="5685019" y="5773192"/>
            <a:ext cx="61555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页面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分析展示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632E8A-CC3F-E05A-FEFE-C5C4F1B881ED}"/>
              </a:ext>
            </a:extLst>
          </p:cNvPr>
          <p:cNvSpPr txBox="1"/>
          <p:nvPr/>
        </p:nvSpPr>
        <p:spPr bwMode="gray">
          <a:xfrm>
            <a:off x="500905" y="5730331"/>
            <a:ext cx="89281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PIR &amp;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毫米波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D7A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822A1D-5EFE-E4C7-1B17-F8297CDBD6B6}"/>
              </a:ext>
            </a:extLst>
          </p:cNvPr>
          <p:cNvSpPr txBox="1"/>
          <p:nvPr/>
        </p:nvSpPr>
        <p:spPr bwMode="gray">
          <a:xfrm>
            <a:off x="6813008" y="5773192"/>
            <a:ext cx="76944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赋能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运维及决策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593DF5-82E5-982C-4144-F3BBBFDED140}"/>
              </a:ext>
            </a:extLst>
          </p:cNvPr>
          <p:cNvSpPr txBox="1"/>
          <p:nvPr/>
        </p:nvSpPr>
        <p:spPr bwMode="gray">
          <a:xfrm>
            <a:off x="1829526" y="5773192"/>
            <a:ext cx="1096934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空间</a:t>
            </a:r>
            <a:r>
              <a:rPr lang="zh-CN" altLang="en-US" sz="12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感知</a:t>
            </a:r>
            <a:endParaRPr lang="en-US" altLang="zh-CN" sz="1200" kern="1200" dirty="0">
              <a:solidFill>
                <a:prstClr val="white"/>
              </a:solidFill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无线传感器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4" name="Gruppieren 16">
            <a:extLst>
              <a:ext uri="{FF2B5EF4-FFF2-40B4-BE49-F238E27FC236}">
                <a16:creationId xmlns:a16="http://schemas.microsoft.com/office/drawing/2014/main" id="{F1D52BCB-D0F3-4151-3B05-8DFA84E06212}"/>
              </a:ext>
            </a:extLst>
          </p:cNvPr>
          <p:cNvGrpSpPr/>
          <p:nvPr/>
        </p:nvGrpSpPr>
        <p:grpSpPr bwMode="gray">
          <a:xfrm>
            <a:off x="5473355" y="5005884"/>
            <a:ext cx="837570" cy="456748"/>
            <a:chOff x="5597180" y="4288334"/>
            <a:chExt cx="837570" cy="456748"/>
          </a:xfrm>
          <a:solidFill>
            <a:schemeClr val="tx1"/>
          </a:solidFill>
        </p:grpSpPr>
        <p:sp>
          <p:nvSpPr>
            <p:cNvPr id="15" name="Freihandform: Form 93">
              <a:extLst>
                <a:ext uri="{FF2B5EF4-FFF2-40B4-BE49-F238E27FC236}">
                  <a16:creationId xmlns:a16="http://schemas.microsoft.com/office/drawing/2014/main" id="{9FF6AA1F-FEB1-A13F-D38F-E430CE69A6DA}"/>
                </a:ext>
              </a:extLst>
            </p:cNvPr>
            <p:cNvSpPr/>
            <p:nvPr/>
          </p:nvSpPr>
          <p:spPr bwMode="gray">
            <a:xfrm>
              <a:off x="6252854" y="4408948"/>
              <a:ext cx="181896" cy="325494"/>
            </a:xfrm>
            <a:custGeom>
              <a:avLst/>
              <a:gdLst>
                <a:gd name="connsiteX0" fmla="*/ 315336 w 315336"/>
                <a:gd name="connsiteY0" fmla="*/ 33196 h 564279"/>
                <a:gd name="connsiteX1" fmla="*/ 282140 w 315336"/>
                <a:gd name="connsiteY1" fmla="*/ 0 h 564279"/>
                <a:gd name="connsiteX2" fmla="*/ 33196 w 315336"/>
                <a:gd name="connsiteY2" fmla="*/ 0 h 564279"/>
                <a:gd name="connsiteX3" fmla="*/ 0 w 315336"/>
                <a:gd name="connsiteY3" fmla="*/ 33196 h 564279"/>
                <a:gd name="connsiteX4" fmla="*/ 0 w 315336"/>
                <a:gd name="connsiteY4" fmla="*/ 531113 h 564279"/>
                <a:gd name="connsiteX5" fmla="*/ 33196 w 315336"/>
                <a:gd name="connsiteY5" fmla="*/ 564280 h 564279"/>
                <a:gd name="connsiteX6" fmla="*/ 282140 w 315336"/>
                <a:gd name="connsiteY6" fmla="*/ 564280 h 564279"/>
                <a:gd name="connsiteX7" fmla="*/ 315336 w 315336"/>
                <a:gd name="connsiteY7" fmla="*/ 531113 h 564279"/>
                <a:gd name="connsiteX8" fmla="*/ 315336 w 315336"/>
                <a:gd name="connsiteY8" fmla="*/ 33196 h 564279"/>
                <a:gd name="connsiteX9" fmla="*/ 116187 w 315336"/>
                <a:gd name="connsiteY9" fmla="*/ 32816 h 564279"/>
                <a:gd name="connsiteX10" fmla="*/ 199149 w 315336"/>
                <a:gd name="connsiteY10" fmla="*/ 32816 h 564279"/>
                <a:gd name="connsiteX11" fmla="*/ 199149 w 315336"/>
                <a:gd name="connsiteY11" fmla="*/ 66832 h 564279"/>
                <a:gd name="connsiteX12" fmla="*/ 116187 w 315336"/>
                <a:gd name="connsiteY12" fmla="*/ 66832 h 564279"/>
                <a:gd name="connsiteX13" fmla="*/ 116187 w 315336"/>
                <a:gd name="connsiteY13" fmla="*/ 32816 h 564279"/>
                <a:gd name="connsiteX14" fmla="*/ 157668 w 315336"/>
                <a:gd name="connsiteY14" fmla="*/ 531932 h 564279"/>
                <a:gd name="connsiteX15" fmla="*/ 132346 w 315336"/>
                <a:gd name="connsiteY15" fmla="*/ 506640 h 564279"/>
                <a:gd name="connsiteX16" fmla="*/ 133898 w 315336"/>
                <a:gd name="connsiteY16" fmla="*/ 497916 h 564279"/>
                <a:gd name="connsiteX17" fmla="*/ 157668 w 315336"/>
                <a:gd name="connsiteY17" fmla="*/ 481318 h 564279"/>
                <a:gd name="connsiteX18" fmla="*/ 181438 w 315336"/>
                <a:gd name="connsiteY18" fmla="*/ 497916 h 564279"/>
                <a:gd name="connsiteX19" fmla="*/ 182990 w 315336"/>
                <a:gd name="connsiteY19" fmla="*/ 506640 h 564279"/>
                <a:gd name="connsiteX20" fmla="*/ 157668 w 315336"/>
                <a:gd name="connsiteY20" fmla="*/ 531932 h 564279"/>
                <a:gd name="connsiteX21" fmla="*/ 282140 w 315336"/>
                <a:gd name="connsiteY21" fmla="*/ 448093 h 564279"/>
                <a:gd name="connsiteX22" fmla="*/ 33196 w 315336"/>
                <a:gd name="connsiteY22" fmla="*/ 448093 h 564279"/>
                <a:gd name="connsiteX23" fmla="*/ 33196 w 315336"/>
                <a:gd name="connsiteY23" fmla="*/ 99589 h 564279"/>
                <a:gd name="connsiteX24" fmla="*/ 282140 w 315336"/>
                <a:gd name="connsiteY24" fmla="*/ 99589 h 564279"/>
                <a:gd name="connsiteX25" fmla="*/ 282140 w 315336"/>
                <a:gd name="connsiteY25" fmla="*/ 448093 h 564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5336" h="564279">
                  <a:moveTo>
                    <a:pt x="315336" y="33196"/>
                  </a:moveTo>
                  <a:cubicBezTo>
                    <a:pt x="315336" y="14871"/>
                    <a:pt x="300465" y="0"/>
                    <a:pt x="282140" y="0"/>
                  </a:cubicBezTo>
                  <a:lnTo>
                    <a:pt x="33196" y="0"/>
                  </a:lnTo>
                  <a:cubicBezTo>
                    <a:pt x="14871" y="0"/>
                    <a:pt x="0" y="14871"/>
                    <a:pt x="0" y="33196"/>
                  </a:cubicBezTo>
                  <a:lnTo>
                    <a:pt x="0" y="531113"/>
                  </a:lnTo>
                  <a:cubicBezTo>
                    <a:pt x="0" y="549438"/>
                    <a:pt x="14871" y="564280"/>
                    <a:pt x="33196" y="564280"/>
                  </a:cubicBezTo>
                  <a:lnTo>
                    <a:pt x="282140" y="564280"/>
                  </a:lnTo>
                  <a:cubicBezTo>
                    <a:pt x="300465" y="564280"/>
                    <a:pt x="315336" y="549438"/>
                    <a:pt x="315336" y="531113"/>
                  </a:cubicBezTo>
                  <a:lnTo>
                    <a:pt x="315336" y="33196"/>
                  </a:lnTo>
                  <a:close/>
                  <a:moveTo>
                    <a:pt x="116187" y="32816"/>
                  </a:moveTo>
                  <a:lnTo>
                    <a:pt x="199149" y="32816"/>
                  </a:lnTo>
                  <a:lnTo>
                    <a:pt x="199149" y="66832"/>
                  </a:lnTo>
                  <a:lnTo>
                    <a:pt x="116187" y="66832"/>
                  </a:lnTo>
                  <a:lnTo>
                    <a:pt x="116187" y="32816"/>
                  </a:lnTo>
                  <a:close/>
                  <a:moveTo>
                    <a:pt x="157668" y="531932"/>
                  </a:moveTo>
                  <a:cubicBezTo>
                    <a:pt x="143705" y="531932"/>
                    <a:pt x="132346" y="520574"/>
                    <a:pt x="132346" y="506640"/>
                  </a:cubicBezTo>
                  <a:cubicBezTo>
                    <a:pt x="132346" y="503566"/>
                    <a:pt x="132903" y="500639"/>
                    <a:pt x="133898" y="497916"/>
                  </a:cubicBezTo>
                  <a:cubicBezTo>
                    <a:pt x="137469" y="488227"/>
                    <a:pt x="146778" y="481318"/>
                    <a:pt x="157668" y="481318"/>
                  </a:cubicBezTo>
                  <a:cubicBezTo>
                    <a:pt x="168558" y="481318"/>
                    <a:pt x="177867" y="488227"/>
                    <a:pt x="181438" y="497916"/>
                  </a:cubicBezTo>
                  <a:cubicBezTo>
                    <a:pt x="182434" y="500639"/>
                    <a:pt x="182990" y="503566"/>
                    <a:pt x="182990" y="506640"/>
                  </a:cubicBezTo>
                  <a:cubicBezTo>
                    <a:pt x="182990" y="520545"/>
                    <a:pt x="171632" y="531932"/>
                    <a:pt x="157668" y="531932"/>
                  </a:cubicBezTo>
                  <a:close/>
                  <a:moveTo>
                    <a:pt x="282140" y="448093"/>
                  </a:moveTo>
                  <a:lnTo>
                    <a:pt x="33196" y="448093"/>
                  </a:lnTo>
                  <a:lnTo>
                    <a:pt x="33196" y="99589"/>
                  </a:lnTo>
                  <a:lnTo>
                    <a:pt x="282140" y="99589"/>
                  </a:lnTo>
                  <a:lnTo>
                    <a:pt x="282140" y="448093"/>
                  </a:lnTo>
                  <a:close/>
                </a:path>
              </a:pathLst>
            </a:custGeom>
            <a:grpFill/>
            <a:ln w="292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Freihandform: Form 96">
              <a:extLst>
                <a:ext uri="{FF2B5EF4-FFF2-40B4-BE49-F238E27FC236}">
                  <a16:creationId xmlns:a16="http://schemas.microsoft.com/office/drawing/2014/main" id="{EB6EE57A-C52D-879A-9E0F-A6BC4ADDC214}"/>
                </a:ext>
              </a:extLst>
            </p:cNvPr>
            <p:cNvSpPr/>
            <p:nvPr/>
          </p:nvSpPr>
          <p:spPr bwMode="gray">
            <a:xfrm>
              <a:off x="5597180" y="4288334"/>
              <a:ext cx="631382" cy="456748"/>
            </a:xfrm>
            <a:custGeom>
              <a:avLst/>
              <a:gdLst>
                <a:gd name="connsiteX0" fmla="*/ 1501793 w 1721595"/>
                <a:gd name="connsiteY0" fmla="*/ 0 h 1245420"/>
                <a:gd name="connsiteX1" fmla="*/ 219738 w 1721595"/>
                <a:gd name="connsiteY1" fmla="*/ 0 h 1245420"/>
                <a:gd name="connsiteX2" fmla="*/ 183169 w 1721595"/>
                <a:gd name="connsiteY2" fmla="*/ 36634 h 1245420"/>
                <a:gd name="connsiteX3" fmla="*/ 183169 w 1721595"/>
                <a:gd name="connsiteY3" fmla="*/ 842449 h 1245420"/>
                <a:gd name="connsiteX4" fmla="*/ 219738 w 1721595"/>
                <a:gd name="connsiteY4" fmla="*/ 879082 h 1245420"/>
                <a:gd name="connsiteX5" fmla="*/ 1501793 w 1721595"/>
                <a:gd name="connsiteY5" fmla="*/ 879082 h 1245420"/>
                <a:gd name="connsiteX6" fmla="*/ 1538427 w 1721595"/>
                <a:gd name="connsiteY6" fmla="*/ 842449 h 1245420"/>
                <a:gd name="connsiteX7" fmla="*/ 1538427 w 1721595"/>
                <a:gd name="connsiteY7" fmla="*/ 36634 h 1245420"/>
                <a:gd name="connsiteX8" fmla="*/ 1501793 w 1721595"/>
                <a:gd name="connsiteY8" fmla="*/ 0 h 1245420"/>
                <a:gd name="connsiteX9" fmla="*/ 1465159 w 1721595"/>
                <a:gd name="connsiteY9" fmla="*/ 805815 h 1245420"/>
                <a:gd name="connsiteX10" fmla="*/ 256372 w 1721595"/>
                <a:gd name="connsiteY10" fmla="*/ 805815 h 1245420"/>
                <a:gd name="connsiteX11" fmla="*/ 256372 w 1721595"/>
                <a:gd name="connsiteY11" fmla="*/ 73268 h 1245420"/>
                <a:gd name="connsiteX12" fmla="*/ 1465159 w 1721595"/>
                <a:gd name="connsiteY12" fmla="*/ 73268 h 1245420"/>
                <a:gd name="connsiteX13" fmla="*/ 1465159 w 1721595"/>
                <a:gd name="connsiteY13" fmla="*/ 805815 h 1245420"/>
                <a:gd name="connsiteX14" fmla="*/ 1538427 w 1721595"/>
                <a:gd name="connsiteY14" fmla="*/ 952350 h 1245420"/>
                <a:gd name="connsiteX15" fmla="*/ 183169 w 1721595"/>
                <a:gd name="connsiteY15" fmla="*/ 952350 h 1245420"/>
                <a:gd name="connsiteX16" fmla="*/ 0 w 1721595"/>
                <a:gd name="connsiteY16" fmla="*/ 1135519 h 1245420"/>
                <a:gd name="connsiteX17" fmla="*/ 0 w 1721595"/>
                <a:gd name="connsiteY17" fmla="*/ 1172153 h 1245420"/>
                <a:gd name="connsiteX18" fmla="*/ 73268 w 1721595"/>
                <a:gd name="connsiteY18" fmla="*/ 1245421 h 1245420"/>
                <a:gd name="connsiteX19" fmla="*/ 1648328 w 1721595"/>
                <a:gd name="connsiteY19" fmla="*/ 1245421 h 1245420"/>
                <a:gd name="connsiteX20" fmla="*/ 1721596 w 1721595"/>
                <a:gd name="connsiteY20" fmla="*/ 1172153 h 1245420"/>
                <a:gd name="connsiteX21" fmla="*/ 1721596 w 1721595"/>
                <a:gd name="connsiteY21" fmla="*/ 1135519 h 1245420"/>
                <a:gd name="connsiteX22" fmla="*/ 1538427 w 1721595"/>
                <a:gd name="connsiteY22" fmla="*/ 952350 h 124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1595" h="1245420">
                  <a:moveTo>
                    <a:pt x="1501793" y="0"/>
                  </a:moveTo>
                  <a:lnTo>
                    <a:pt x="219738" y="0"/>
                  </a:lnTo>
                  <a:cubicBezTo>
                    <a:pt x="199515" y="0"/>
                    <a:pt x="183169" y="16411"/>
                    <a:pt x="183169" y="36634"/>
                  </a:cubicBezTo>
                  <a:lnTo>
                    <a:pt x="183169" y="842449"/>
                  </a:lnTo>
                  <a:cubicBezTo>
                    <a:pt x="183169" y="862672"/>
                    <a:pt x="199515" y="879082"/>
                    <a:pt x="219738" y="879082"/>
                  </a:cubicBezTo>
                  <a:lnTo>
                    <a:pt x="1501793" y="879082"/>
                  </a:lnTo>
                  <a:cubicBezTo>
                    <a:pt x="1522016" y="879082"/>
                    <a:pt x="1538427" y="862672"/>
                    <a:pt x="1538427" y="842449"/>
                  </a:cubicBezTo>
                  <a:lnTo>
                    <a:pt x="1538427" y="36634"/>
                  </a:lnTo>
                  <a:cubicBezTo>
                    <a:pt x="1538427" y="16411"/>
                    <a:pt x="1522016" y="0"/>
                    <a:pt x="1501793" y="0"/>
                  </a:cubicBezTo>
                  <a:close/>
                  <a:moveTo>
                    <a:pt x="1465159" y="805815"/>
                  </a:moveTo>
                  <a:lnTo>
                    <a:pt x="256372" y="805815"/>
                  </a:lnTo>
                  <a:lnTo>
                    <a:pt x="256372" y="73268"/>
                  </a:lnTo>
                  <a:lnTo>
                    <a:pt x="1465159" y="73268"/>
                  </a:lnTo>
                  <a:lnTo>
                    <a:pt x="1465159" y="805815"/>
                  </a:lnTo>
                  <a:close/>
                  <a:moveTo>
                    <a:pt x="1538427" y="952350"/>
                  </a:moveTo>
                  <a:lnTo>
                    <a:pt x="183169" y="952350"/>
                  </a:lnTo>
                  <a:lnTo>
                    <a:pt x="0" y="1135519"/>
                  </a:lnTo>
                  <a:lnTo>
                    <a:pt x="0" y="1172153"/>
                  </a:lnTo>
                  <a:cubicBezTo>
                    <a:pt x="0" y="1212599"/>
                    <a:pt x="32822" y="1245421"/>
                    <a:pt x="73268" y="1245421"/>
                  </a:cubicBezTo>
                  <a:lnTo>
                    <a:pt x="1648328" y="1245421"/>
                  </a:lnTo>
                  <a:cubicBezTo>
                    <a:pt x="1688774" y="1245421"/>
                    <a:pt x="1721596" y="1212599"/>
                    <a:pt x="1721596" y="1172153"/>
                  </a:cubicBezTo>
                  <a:lnTo>
                    <a:pt x="1721596" y="1135519"/>
                  </a:lnTo>
                  <a:lnTo>
                    <a:pt x="1538427" y="952350"/>
                  </a:lnTo>
                  <a:close/>
                </a:path>
              </a:pathLst>
            </a:custGeom>
            <a:grpFill/>
            <a:ln w="64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7" name="Freihandform: Form 99">
            <a:extLst>
              <a:ext uri="{FF2B5EF4-FFF2-40B4-BE49-F238E27FC236}">
                <a16:creationId xmlns:a16="http://schemas.microsoft.com/office/drawing/2014/main" id="{3E336995-F695-3251-C21B-AFE05F5663ED}"/>
              </a:ext>
            </a:extLst>
          </p:cNvPr>
          <p:cNvSpPr/>
          <p:nvPr/>
        </p:nvSpPr>
        <p:spPr bwMode="gray">
          <a:xfrm>
            <a:off x="6924122" y="4964655"/>
            <a:ext cx="551846" cy="497977"/>
          </a:xfrm>
          <a:custGeom>
            <a:avLst/>
            <a:gdLst>
              <a:gd name="connsiteX0" fmla="*/ 501884 w 623572"/>
              <a:gd name="connsiteY0" fmla="*/ 433448 h 562702"/>
              <a:gd name="connsiteX1" fmla="*/ 593150 w 623572"/>
              <a:gd name="connsiteY1" fmla="*/ 433448 h 562702"/>
              <a:gd name="connsiteX2" fmla="*/ 593150 w 623572"/>
              <a:gd name="connsiteY2" fmla="*/ 456251 h 562702"/>
              <a:gd name="connsiteX3" fmla="*/ 501884 w 623572"/>
              <a:gd name="connsiteY3" fmla="*/ 456251 h 562702"/>
              <a:gd name="connsiteX4" fmla="*/ 30422 w 623572"/>
              <a:gd name="connsiteY4" fmla="*/ 433448 h 562702"/>
              <a:gd name="connsiteX5" fmla="*/ 121661 w 623572"/>
              <a:gd name="connsiteY5" fmla="*/ 433448 h 562702"/>
              <a:gd name="connsiteX6" fmla="*/ 121661 w 623572"/>
              <a:gd name="connsiteY6" fmla="*/ 456251 h 562702"/>
              <a:gd name="connsiteX7" fmla="*/ 30422 w 623572"/>
              <a:gd name="connsiteY7" fmla="*/ 456251 h 562702"/>
              <a:gd name="connsiteX8" fmla="*/ 258507 w 623572"/>
              <a:gd name="connsiteY8" fmla="*/ 352725 h 562702"/>
              <a:gd name="connsiteX9" fmla="*/ 258507 w 623572"/>
              <a:gd name="connsiteY9" fmla="*/ 352752 h 562702"/>
              <a:gd name="connsiteX10" fmla="*/ 258561 w 623572"/>
              <a:gd name="connsiteY10" fmla="*/ 352725 h 562702"/>
              <a:gd name="connsiteX11" fmla="*/ 311786 w 623572"/>
              <a:gd name="connsiteY11" fmla="*/ 405950 h 562702"/>
              <a:gd name="connsiteX12" fmla="*/ 365011 w 623572"/>
              <a:gd name="connsiteY12" fmla="*/ 352725 h 562702"/>
              <a:gd name="connsiteX13" fmla="*/ 365065 w 623572"/>
              <a:gd name="connsiteY13" fmla="*/ 352752 h 562702"/>
              <a:gd name="connsiteX14" fmla="*/ 365065 w 623572"/>
              <a:gd name="connsiteY14" fmla="*/ 352725 h 562702"/>
              <a:gd name="connsiteX15" fmla="*/ 419927 w 623572"/>
              <a:gd name="connsiteY15" fmla="*/ 356561 h 562702"/>
              <a:gd name="connsiteX16" fmla="*/ 419980 w 623572"/>
              <a:gd name="connsiteY16" fmla="*/ 356669 h 562702"/>
              <a:gd name="connsiteX17" fmla="*/ 471435 w 623572"/>
              <a:gd name="connsiteY17" fmla="*/ 418613 h 562702"/>
              <a:gd name="connsiteX18" fmla="*/ 471542 w 623572"/>
              <a:gd name="connsiteY18" fmla="*/ 418720 h 562702"/>
              <a:gd name="connsiteX19" fmla="*/ 471542 w 623572"/>
              <a:gd name="connsiteY19" fmla="*/ 562702 h 562702"/>
              <a:gd name="connsiteX20" fmla="*/ 152137 w 623572"/>
              <a:gd name="connsiteY20" fmla="*/ 562702 h 562702"/>
              <a:gd name="connsiteX21" fmla="*/ 152137 w 623572"/>
              <a:gd name="connsiteY21" fmla="*/ 418720 h 562702"/>
              <a:gd name="connsiteX22" fmla="*/ 152191 w 623572"/>
              <a:gd name="connsiteY22" fmla="*/ 418613 h 562702"/>
              <a:gd name="connsiteX23" fmla="*/ 203619 w 623572"/>
              <a:gd name="connsiteY23" fmla="*/ 356669 h 562702"/>
              <a:gd name="connsiteX24" fmla="*/ 203672 w 623572"/>
              <a:gd name="connsiteY24" fmla="*/ 356561 h 562702"/>
              <a:gd name="connsiteX25" fmla="*/ 311814 w 623572"/>
              <a:gd name="connsiteY25" fmla="*/ 145055 h 562702"/>
              <a:gd name="connsiteX26" fmla="*/ 387037 w 623572"/>
              <a:gd name="connsiteY26" fmla="*/ 231036 h 562702"/>
              <a:gd name="connsiteX27" fmla="*/ 311814 w 623572"/>
              <a:gd name="connsiteY27" fmla="*/ 317045 h 562702"/>
              <a:gd name="connsiteX28" fmla="*/ 236563 w 623572"/>
              <a:gd name="connsiteY28" fmla="*/ 231036 h 562702"/>
              <a:gd name="connsiteX29" fmla="*/ 311814 w 623572"/>
              <a:gd name="connsiteY29" fmla="*/ 145055 h 562702"/>
              <a:gd name="connsiteX30" fmla="*/ 101327 w 623572"/>
              <a:gd name="connsiteY30" fmla="*/ 140656 h 562702"/>
              <a:gd name="connsiteX31" fmla="*/ 101354 w 623572"/>
              <a:gd name="connsiteY31" fmla="*/ 140656 h 562702"/>
              <a:gd name="connsiteX32" fmla="*/ 121635 w 623572"/>
              <a:gd name="connsiteY32" fmla="*/ 161125 h 562702"/>
              <a:gd name="connsiteX33" fmla="*/ 141917 w 623572"/>
              <a:gd name="connsiteY33" fmla="*/ 140656 h 562702"/>
              <a:gd name="connsiteX34" fmla="*/ 141943 w 623572"/>
              <a:gd name="connsiteY34" fmla="*/ 140656 h 562702"/>
              <a:gd name="connsiteX35" fmla="*/ 162842 w 623572"/>
              <a:gd name="connsiteY35" fmla="*/ 142132 h 562702"/>
              <a:gd name="connsiteX36" fmla="*/ 162868 w 623572"/>
              <a:gd name="connsiteY36" fmla="*/ 142158 h 562702"/>
              <a:gd name="connsiteX37" fmla="*/ 182479 w 623572"/>
              <a:gd name="connsiteY37" fmla="*/ 165954 h 562702"/>
              <a:gd name="connsiteX38" fmla="*/ 182453 w 623572"/>
              <a:gd name="connsiteY38" fmla="*/ 166008 h 562702"/>
              <a:gd name="connsiteX39" fmla="*/ 182453 w 623572"/>
              <a:gd name="connsiteY39" fmla="*/ 197718 h 562702"/>
              <a:gd name="connsiteX40" fmla="*/ 60791 w 623572"/>
              <a:gd name="connsiteY40" fmla="*/ 197718 h 562702"/>
              <a:gd name="connsiteX41" fmla="*/ 60791 w 623572"/>
              <a:gd name="connsiteY41" fmla="*/ 166008 h 562702"/>
              <a:gd name="connsiteX42" fmla="*/ 60818 w 623572"/>
              <a:gd name="connsiteY42" fmla="*/ 165954 h 562702"/>
              <a:gd name="connsiteX43" fmla="*/ 80402 w 623572"/>
              <a:gd name="connsiteY43" fmla="*/ 142158 h 562702"/>
              <a:gd name="connsiteX44" fmla="*/ 80428 w 623572"/>
              <a:gd name="connsiteY44" fmla="*/ 142132 h 562702"/>
              <a:gd name="connsiteX45" fmla="*/ 121662 w 623572"/>
              <a:gd name="connsiteY45" fmla="*/ 60791 h 562702"/>
              <a:gd name="connsiteX46" fmla="*/ 150313 w 623572"/>
              <a:gd name="connsiteY46" fmla="*/ 93842 h 562702"/>
              <a:gd name="connsiteX47" fmla="*/ 121662 w 623572"/>
              <a:gd name="connsiteY47" fmla="*/ 126893 h 562702"/>
              <a:gd name="connsiteX48" fmla="*/ 93010 w 623572"/>
              <a:gd name="connsiteY48" fmla="*/ 93842 h 562702"/>
              <a:gd name="connsiteX49" fmla="*/ 121662 w 623572"/>
              <a:gd name="connsiteY49" fmla="*/ 60791 h 562702"/>
              <a:gd name="connsiteX50" fmla="*/ 30449 w 623572"/>
              <a:gd name="connsiteY50" fmla="*/ 0 h 562702"/>
              <a:gd name="connsiteX51" fmla="*/ 593124 w 623572"/>
              <a:gd name="connsiteY51" fmla="*/ 0 h 562702"/>
              <a:gd name="connsiteX52" fmla="*/ 623572 w 623572"/>
              <a:gd name="connsiteY52" fmla="*/ 30449 h 562702"/>
              <a:gd name="connsiteX53" fmla="*/ 623572 w 623572"/>
              <a:gd name="connsiteY53" fmla="*/ 380196 h 562702"/>
              <a:gd name="connsiteX54" fmla="*/ 593124 w 623572"/>
              <a:gd name="connsiteY54" fmla="*/ 410645 h 562702"/>
              <a:gd name="connsiteX55" fmla="*/ 501804 w 623572"/>
              <a:gd name="connsiteY55" fmla="*/ 410645 h 562702"/>
              <a:gd name="connsiteX56" fmla="*/ 496304 w 623572"/>
              <a:gd name="connsiteY56" fmla="*/ 380223 h 562702"/>
              <a:gd name="connsiteX57" fmla="*/ 593150 w 623572"/>
              <a:gd name="connsiteY57" fmla="*/ 380223 h 562702"/>
              <a:gd name="connsiteX58" fmla="*/ 593150 w 623572"/>
              <a:gd name="connsiteY58" fmla="*/ 30395 h 562702"/>
              <a:gd name="connsiteX59" fmla="*/ 30395 w 623572"/>
              <a:gd name="connsiteY59" fmla="*/ 30395 h 562702"/>
              <a:gd name="connsiteX60" fmla="*/ 30395 w 623572"/>
              <a:gd name="connsiteY60" fmla="*/ 380223 h 562702"/>
              <a:gd name="connsiteX61" fmla="*/ 127241 w 623572"/>
              <a:gd name="connsiteY61" fmla="*/ 380223 h 562702"/>
              <a:gd name="connsiteX62" fmla="*/ 121769 w 623572"/>
              <a:gd name="connsiteY62" fmla="*/ 410645 h 562702"/>
              <a:gd name="connsiteX63" fmla="*/ 30449 w 623572"/>
              <a:gd name="connsiteY63" fmla="*/ 410645 h 562702"/>
              <a:gd name="connsiteX64" fmla="*/ 0 w 623572"/>
              <a:gd name="connsiteY64" fmla="*/ 380196 h 562702"/>
              <a:gd name="connsiteX65" fmla="*/ 0 w 623572"/>
              <a:gd name="connsiteY65" fmla="*/ 30449 h 562702"/>
              <a:gd name="connsiteX66" fmla="*/ 30449 w 623572"/>
              <a:gd name="connsiteY66" fmla="*/ 0 h 56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23572" h="562702">
                <a:moveTo>
                  <a:pt x="501884" y="433448"/>
                </a:moveTo>
                <a:lnTo>
                  <a:pt x="593150" y="433448"/>
                </a:lnTo>
                <a:lnTo>
                  <a:pt x="593150" y="456251"/>
                </a:lnTo>
                <a:lnTo>
                  <a:pt x="501884" y="456251"/>
                </a:lnTo>
                <a:close/>
                <a:moveTo>
                  <a:pt x="30422" y="433448"/>
                </a:moveTo>
                <a:lnTo>
                  <a:pt x="121661" y="433448"/>
                </a:lnTo>
                <a:lnTo>
                  <a:pt x="121661" y="456251"/>
                </a:lnTo>
                <a:lnTo>
                  <a:pt x="30422" y="456251"/>
                </a:lnTo>
                <a:close/>
                <a:moveTo>
                  <a:pt x="258507" y="352725"/>
                </a:moveTo>
                <a:lnTo>
                  <a:pt x="258507" y="352752"/>
                </a:lnTo>
                <a:cubicBezTo>
                  <a:pt x="258507" y="352752"/>
                  <a:pt x="258561" y="352725"/>
                  <a:pt x="258561" y="352725"/>
                </a:cubicBezTo>
                <a:lnTo>
                  <a:pt x="311786" y="405950"/>
                </a:lnTo>
                <a:lnTo>
                  <a:pt x="365011" y="352725"/>
                </a:lnTo>
                <a:cubicBezTo>
                  <a:pt x="365011" y="352725"/>
                  <a:pt x="365065" y="352752"/>
                  <a:pt x="365065" y="352752"/>
                </a:cubicBezTo>
                <a:lnTo>
                  <a:pt x="365065" y="352725"/>
                </a:lnTo>
                <a:lnTo>
                  <a:pt x="419927" y="356561"/>
                </a:lnTo>
                <a:lnTo>
                  <a:pt x="419980" y="356669"/>
                </a:lnTo>
                <a:cubicBezTo>
                  <a:pt x="450322" y="358788"/>
                  <a:pt x="470791" y="382986"/>
                  <a:pt x="471435" y="418613"/>
                </a:cubicBezTo>
                <a:cubicBezTo>
                  <a:pt x="471435" y="418640"/>
                  <a:pt x="471489" y="418693"/>
                  <a:pt x="471542" y="418720"/>
                </a:cubicBezTo>
                <a:cubicBezTo>
                  <a:pt x="471542" y="431114"/>
                  <a:pt x="471542" y="499738"/>
                  <a:pt x="471542" y="562702"/>
                </a:cubicBezTo>
                <a:lnTo>
                  <a:pt x="152137" y="562702"/>
                </a:lnTo>
                <a:cubicBezTo>
                  <a:pt x="152137" y="499738"/>
                  <a:pt x="152137" y="431114"/>
                  <a:pt x="152137" y="418720"/>
                </a:cubicBezTo>
                <a:cubicBezTo>
                  <a:pt x="152137" y="418693"/>
                  <a:pt x="152191" y="418640"/>
                  <a:pt x="152191" y="418613"/>
                </a:cubicBezTo>
                <a:cubicBezTo>
                  <a:pt x="152835" y="382986"/>
                  <a:pt x="173277" y="358815"/>
                  <a:pt x="203619" y="356669"/>
                </a:cubicBezTo>
                <a:lnTo>
                  <a:pt x="203672" y="356561"/>
                </a:lnTo>
                <a:close/>
                <a:moveTo>
                  <a:pt x="311814" y="145055"/>
                </a:moveTo>
                <a:cubicBezTo>
                  <a:pt x="356588" y="145055"/>
                  <a:pt x="387037" y="179474"/>
                  <a:pt x="387037" y="231036"/>
                </a:cubicBezTo>
                <a:cubicBezTo>
                  <a:pt x="387037" y="282571"/>
                  <a:pt x="356588" y="317045"/>
                  <a:pt x="311814" y="317045"/>
                </a:cubicBezTo>
                <a:cubicBezTo>
                  <a:pt x="267012" y="317018"/>
                  <a:pt x="236563" y="282571"/>
                  <a:pt x="236563" y="231036"/>
                </a:cubicBezTo>
                <a:cubicBezTo>
                  <a:pt x="236563" y="179501"/>
                  <a:pt x="267012" y="145055"/>
                  <a:pt x="311814" y="145055"/>
                </a:cubicBezTo>
                <a:close/>
                <a:moveTo>
                  <a:pt x="101327" y="140656"/>
                </a:moveTo>
                <a:cubicBezTo>
                  <a:pt x="101327" y="140656"/>
                  <a:pt x="101354" y="140656"/>
                  <a:pt x="101354" y="140656"/>
                </a:cubicBezTo>
                <a:lnTo>
                  <a:pt x="121635" y="161125"/>
                </a:lnTo>
                <a:lnTo>
                  <a:pt x="141917" y="140656"/>
                </a:lnTo>
                <a:lnTo>
                  <a:pt x="141943" y="140656"/>
                </a:lnTo>
                <a:lnTo>
                  <a:pt x="162842" y="142132"/>
                </a:lnTo>
                <a:lnTo>
                  <a:pt x="162868" y="142158"/>
                </a:lnTo>
                <a:cubicBezTo>
                  <a:pt x="174431" y="142963"/>
                  <a:pt x="182238" y="152272"/>
                  <a:pt x="182479" y="165954"/>
                </a:cubicBezTo>
                <a:cubicBezTo>
                  <a:pt x="182506" y="165954"/>
                  <a:pt x="182506" y="165981"/>
                  <a:pt x="182453" y="166008"/>
                </a:cubicBezTo>
                <a:cubicBezTo>
                  <a:pt x="182453" y="169039"/>
                  <a:pt x="182453" y="197718"/>
                  <a:pt x="182453" y="197718"/>
                </a:cubicBezTo>
                <a:lnTo>
                  <a:pt x="60791" y="197718"/>
                </a:lnTo>
                <a:cubicBezTo>
                  <a:pt x="60791" y="197718"/>
                  <a:pt x="60791" y="169039"/>
                  <a:pt x="60791" y="166008"/>
                </a:cubicBezTo>
                <a:cubicBezTo>
                  <a:pt x="60791" y="165981"/>
                  <a:pt x="60818" y="165954"/>
                  <a:pt x="60818" y="165954"/>
                </a:cubicBezTo>
                <a:cubicBezTo>
                  <a:pt x="61059" y="152272"/>
                  <a:pt x="68839" y="142990"/>
                  <a:pt x="80402" y="142158"/>
                </a:cubicBezTo>
                <a:lnTo>
                  <a:pt x="80428" y="142132"/>
                </a:lnTo>
                <a:close/>
                <a:moveTo>
                  <a:pt x="121662" y="60791"/>
                </a:moveTo>
                <a:cubicBezTo>
                  <a:pt x="138724" y="60791"/>
                  <a:pt x="150313" y="74017"/>
                  <a:pt x="150313" y="93842"/>
                </a:cubicBezTo>
                <a:cubicBezTo>
                  <a:pt x="150313" y="113641"/>
                  <a:pt x="138724" y="126893"/>
                  <a:pt x="121662" y="126893"/>
                </a:cubicBezTo>
                <a:cubicBezTo>
                  <a:pt x="104626" y="126893"/>
                  <a:pt x="93010" y="113667"/>
                  <a:pt x="93010" y="93842"/>
                </a:cubicBezTo>
                <a:cubicBezTo>
                  <a:pt x="93010" y="74044"/>
                  <a:pt x="104626" y="60791"/>
                  <a:pt x="121662" y="60791"/>
                </a:cubicBezTo>
                <a:close/>
                <a:moveTo>
                  <a:pt x="30449" y="0"/>
                </a:moveTo>
                <a:lnTo>
                  <a:pt x="593124" y="0"/>
                </a:lnTo>
                <a:cubicBezTo>
                  <a:pt x="609944" y="0"/>
                  <a:pt x="623572" y="13628"/>
                  <a:pt x="623572" y="30449"/>
                </a:cubicBezTo>
                <a:lnTo>
                  <a:pt x="623572" y="380196"/>
                </a:lnTo>
                <a:cubicBezTo>
                  <a:pt x="623572" y="397016"/>
                  <a:pt x="609944" y="410645"/>
                  <a:pt x="593124" y="410645"/>
                </a:cubicBezTo>
                <a:lnTo>
                  <a:pt x="501804" y="410645"/>
                </a:lnTo>
                <a:cubicBezTo>
                  <a:pt x="501562" y="399485"/>
                  <a:pt x="499658" y="389237"/>
                  <a:pt x="496304" y="380223"/>
                </a:cubicBezTo>
                <a:lnTo>
                  <a:pt x="593150" y="380223"/>
                </a:lnTo>
                <a:lnTo>
                  <a:pt x="593150" y="30395"/>
                </a:lnTo>
                <a:lnTo>
                  <a:pt x="30395" y="30395"/>
                </a:lnTo>
                <a:lnTo>
                  <a:pt x="30395" y="380223"/>
                </a:lnTo>
                <a:lnTo>
                  <a:pt x="127241" y="380223"/>
                </a:lnTo>
                <a:cubicBezTo>
                  <a:pt x="123915" y="389237"/>
                  <a:pt x="122010" y="399485"/>
                  <a:pt x="121769" y="410645"/>
                </a:cubicBezTo>
                <a:lnTo>
                  <a:pt x="30449" y="410645"/>
                </a:lnTo>
                <a:cubicBezTo>
                  <a:pt x="13628" y="410645"/>
                  <a:pt x="0" y="397016"/>
                  <a:pt x="0" y="380196"/>
                </a:cubicBezTo>
                <a:lnTo>
                  <a:pt x="0" y="30449"/>
                </a:lnTo>
                <a:cubicBezTo>
                  <a:pt x="0" y="13628"/>
                  <a:pt x="13628" y="0"/>
                  <a:pt x="30449" y="0"/>
                </a:cubicBezTo>
                <a:close/>
              </a:path>
            </a:pathLst>
          </a:custGeom>
          <a:solidFill>
            <a:schemeClr val="tx1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8" name="Gruppieren 100">
            <a:extLst>
              <a:ext uri="{FF2B5EF4-FFF2-40B4-BE49-F238E27FC236}">
                <a16:creationId xmlns:a16="http://schemas.microsoft.com/office/drawing/2014/main" id="{66B4B677-C21E-1722-4C16-ACF1214B8F47}"/>
              </a:ext>
            </a:extLst>
          </p:cNvPr>
          <p:cNvGrpSpPr/>
          <p:nvPr/>
        </p:nvGrpSpPr>
        <p:grpSpPr bwMode="gray">
          <a:xfrm>
            <a:off x="3365924" y="5027097"/>
            <a:ext cx="337756" cy="435535"/>
            <a:chOff x="5238104" y="3040562"/>
            <a:chExt cx="371532" cy="479088"/>
          </a:xfrm>
          <a:solidFill>
            <a:schemeClr val="tx1"/>
          </a:solidFill>
        </p:grpSpPr>
        <p:sp>
          <p:nvSpPr>
            <p:cNvPr id="19" name="Rechteck: abgerundete Ecken 101">
              <a:extLst>
                <a:ext uri="{FF2B5EF4-FFF2-40B4-BE49-F238E27FC236}">
                  <a16:creationId xmlns:a16="http://schemas.microsoft.com/office/drawing/2014/main" id="{EB117A8B-E7A1-E8CD-F9A0-8E9CFCFBB12A}"/>
                </a:ext>
              </a:extLst>
            </p:cNvPr>
            <p:cNvSpPr/>
            <p:nvPr/>
          </p:nvSpPr>
          <p:spPr bwMode="gray">
            <a:xfrm>
              <a:off x="5238104" y="3219807"/>
              <a:ext cx="371532" cy="299843"/>
            </a:xfrm>
            <a:prstGeom prst="roundRect">
              <a:avLst>
                <a:gd name="adj" fmla="val 240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0" name="Rechteck: abgerundete Ecken 102">
              <a:extLst>
                <a:ext uri="{FF2B5EF4-FFF2-40B4-BE49-F238E27FC236}">
                  <a16:creationId xmlns:a16="http://schemas.microsoft.com/office/drawing/2014/main" id="{5C79C283-B722-6425-7520-89222CC10255}"/>
                </a:ext>
              </a:extLst>
            </p:cNvPr>
            <p:cNvSpPr/>
            <p:nvPr/>
          </p:nvSpPr>
          <p:spPr bwMode="gray">
            <a:xfrm>
              <a:off x="5487959" y="3040562"/>
              <a:ext cx="68054" cy="23822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1" name="Freihandform: Form 105">
            <a:extLst>
              <a:ext uri="{FF2B5EF4-FFF2-40B4-BE49-F238E27FC236}">
                <a16:creationId xmlns:a16="http://schemas.microsoft.com/office/drawing/2014/main" id="{8024A1EE-9473-F2E0-6FF7-6BDF35658E80}"/>
              </a:ext>
            </a:extLst>
          </p:cNvPr>
          <p:cNvSpPr/>
          <p:nvPr/>
        </p:nvSpPr>
        <p:spPr bwMode="gray">
          <a:xfrm>
            <a:off x="1896118" y="5058316"/>
            <a:ext cx="404274" cy="404316"/>
          </a:xfrm>
          <a:custGeom>
            <a:avLst/>
            <a:gdLst>
              <a:gd name="connsiteX0" fmla="*/ 364931 w 516988"/>
              <a:gd name="connsiteY0" fmla="*/ 365011 h 517041"/>
              <a:gd name="connsiteX1" fmla="*/ 152004 w 516988"/>
              <a:gd name="connsiteY1" fmla="*/ 365011 h 517041"/>
              <a:gd name="connsiteX2" fmla="*/ 152004 w 516988"/>
              <a:gd name="connsiteY2" fmla="*/ 152084 h 517041"/>
              <a:gd name="connsiteX3" fmla="*/ 364931 w 516988"/>
              <a:gd name="connsiteY3" fmla="*/ 152084 h 517041"/>
              <a:gd name="connsiteX4" fmla="*/ 364931 w 516988"/>
              <a:gd name="connsiteY4" fmla="*/ 365011 h 517041"/>
              <a:gd name="connsiteX5" fmla="*/ 456171 w 516988"/>
              <a:gd name="connsiteY5" fmla="*/ 235731 h 517041"/>
              <a:gd name="connsiteX6" fmla="*/ 456171 w 516988"/>
              <a:gd name="connsiteY6" fmla="*/ 281364 h 517041"/>
              <a:gd name="connsiteX7" fmla="*/ 494185 w 516988"/>
              <a:gd name="connsiteY7" fmla="*/ 281364 h 517041"/>
              <a:gd name="connsiteX8" fmla="*/ 516988 w 516988"/>
              <a:gd name="connsiteY8" fmla="*/ 304167 h 517041"/>
              <a:gd name="connsiteX9" fmla="*/ 494185 w 516988"/>
              <a:gd name="connsiteY9" fmla="*/ 326970 h 517041"/>
              <a:gd name="connsiteX10" fmla="*/ 456171 w 516988"/>
              <a:gd name="connsiteY10" fmla="*/ 326970 h 517041"/>
              <a:gd name="connsiteX11" fmla="*/ 456171 w 516988"/>
              <a:gd name="connsiteY11" fmla="*/ 372603 h 517041"/>
              <a:gd name="connsiteX12" fmla="*/ 494185 w 516988"/>
              <a:gd name="connsiteY12" fmla="*/ 372603 h 517041"/>
              <a:gd name="connsiteX13" fmla="*/ 516988 w 516988"/>
              <a:gd name="connsiteY13" fmla="*/ 395407 h 517041"/>
              <a:gd name="connsiteX14" fmla="*/ 494185 w 516988"/>
              <a:gd name="connsiteY14" fmla="*/ 418210 h 517041"/>
              <a:gd name="connsiteX15" fmla="*/ 456171 w 516988"/>
              <a:gd name="connsiteY15" fmla="*/ 418210 h 517041"/>
              <a:gd name="connsiteX16" fmla="*/ 456171 w 516988"/>
              <a:gd name="connsiteY16" fmla="*/ 456224 h 517041"/>
              <a:gd name="connsiteX17" fmla="*/ 418157 w 516988"/>
              <a:gd name="connsiteY17" fmla="*/ 456224 h 517041"/>
              <a:gd name="connsiteX18" fmla="*/ 418157 w 516988"/>
              <a:gd name="connsiteY18" fmla="*/ 494238 h 517041"/>
              <a:gd name="connsiteX19" fmla="*/ 395353 w 516988"/>
              <a:gd name="connsiteY19" fmla="*/ 517041 h 517041"/>
              <a:gd name="connsiteX20" fmla="*/ 395353 w 516988"/>
              <a:gd name="connsiteY20" fmla="*/ 517041 h 517041"/>
              <a:gd name="connsiteX21" fmla="*/ 372550 w 516988"/>
              <a:gd name="connsiteY21" fmla="*/ 494238 h 517041"/>
              <a:gd name="connsiteX22" fmla="*/ 372550 w 516988"/>
              <a:gd name="connsiteY22" fmla="*/ 456224 h 517041"/>
              <a:gd name="connsiteX23" fmla="*/ 326917 w 516988"/>
              <a:gd name="connsiteY23" fmla="*/ 456224 h 517041"/>
              <a:gd name="connsiteX24" fmla="*/ 326917 w 516988"/>
              <a:gd name="connsiteY24" fmla="*/ 494238 h 517041"/>
              <a:gd name="connsiteX25" fmla="*/ 304114 w 516988"/>
              <a:gd name="connsiteY25" fmla="*/ 517041 h 517041"/>
              <a:gd name="connsiteX26" fmla="*/ 304114 w 516988"/>
              <a:gd name="connsiteY26" fmla="*/ 517041 h 517041"/>
              <a:gd name="connsiteX27" fmla="*/ 281311 w 516988"/>
              <a:gd name="connsiteY27" fmla="*/ 494238 h 517041"/>
              <a:gd name="connsiteX28" fmla="*/ 281311 w 516988"/>
              <a:gd name="connsiteY28" fmla="*/ 456224 h 517041"/>
              <a:gd name="connsiteX29" fmla="*/ 235678 w 516988"/>
              <a:gd name="connsiteY29" fmla="*/ 456224 h 517041"/>
              <a:gd name="connsiteX30" fmla="*/ 235678 w 516988"/>
              <a:gd name="connsiteY30" fmla="*/ 494238 h 517041"/>
              <a:gd name="connsiteX31" fmla="*/ 212874 w 516988"/>
              <a:gd name="connsiteY31" fmla="*/ 517041 h 517041"/>
              <a:gd name="connsiteX32" fmla="*/ 212874 w 516988"/>
              <a:gd name="connsiteY32" fmla="*/ 517041 h 517041"/>
              <a:gd name="connsiteX33" fmla="*/ 190071 w 516988"/>
              <a:gd name="connsiteY33" fmla="*/ 494238 h 517041"/>
              <a:gd name="connsiteX34" fmla="*/ 190071 w 516988"/>
              <a:gd name="connsiteY34" fmla="*/ 456224 h 517041"/>
              <a:gd name="connsiteX35" fmla="*/ 144438 w 516988"/>
              <a:gd name="connsiteY35" fmla="*/ 456224 h 517041"/>
              <a:gd name="connsiteX36" fmla="*/ 144438 w 516988"/>
              <a:gd name="connsiteY36" fmla="*/ 494238 h 517041"/>
              <a:gd name="connsiteX37" fmla="*/ 121635 w 516988"/>
              <a:gd name="connsiteY37" fmla="*/ 517041 h 517041"/>
              <a:gd name="connsiteX38" fmla="*/ 121635 w 516988"/>
              <a:gd name="connsiteY38" fmla="*/ 517041 h 517041"/>
              <a:gd name="connsiteX39" fmla="*/ 98832 w 516988"/>
              <a:gd name="connsiteY39" fmla="*/ 494238 h 517041"/>
              <a:gd name="connsiteX40" fmla="*/ 98832 w 516988"/>
              <a:gd name="connsiteY40" fmla="*/ 456224 h 517041"/>
              <a:gd name="connsiteX41" fmla="*/ 60818 w 516988"/>
              <a:gd name="connsiteY41" fmla="*/ 456224 h 517041"/>
              <a:gd name="connsiteX42" fmla="*/ 60818 w 516988"/>
              <a:gd name="connsiteY42" fmla="*/ 418210 h 517041"/>
              <a:gd name="connsiteX43" fmla="*/ 22803 w 516988"/>
              <a:gd name="connsiteY43" fmla="*/ 418210 h 517041"/>
              <a:gd name="connsiteX44" fmla="*/ 0 w 516988"/>
              <a:gd name="connsiteY44" fmla="*/ 395407 h 517041"/>
              <a:gd name="connsiteX45" fmla="*/ 22803 w 516988"/>
              <a:gd name="connsiteY45" fmla="*/ 372603 h 517041"/>
              <a:gd name="connsiteX46" fmla="*/ 60818 w 516988"/>
              <a:gd name="connsiteY46" fmla="*/ 372603 h 517041"/>
              <a:gd name="connsiteX47" fmla="*/ 60818 w 516988"/>
              <a:gd name="connsiteY47" fmla="*/ 326970 h 517041"/>
              <a:gd name="connsiteX48" fmla="*/ 22803 w 516988"/>
              <a:gd name="connsiteY48" fmla="*/ 326970 h 517041"/>
              <a:gd name="connsiteX49" fmla="*/ 0 w 516988"/>
              <a:gd name="connsiteY49" fmla="*/ 304167 h 517041"/>
              <a:gd name="connsiteX50" fmla="*/ 22803 w 516988"/>
              <a:gd name="connsiteY50" fmla="*/ 281364 h 517041"/>
              <a:gd name="connsiteX51" fmla="*/ 60818 w 516988"/>
              <a:gd name="connsiteY51" fmla="*/ 281364 h 517041"/>
              <a:gd name="connsiteX52" fmla="*/ 60818 w 516988"/>
              <a:gd name="connsiteY52" fmla="*/ 235731 h 517041"/>
              <a:gd name="connsiteX53" fmla="*/ 22803 w 516988"/>
              <a:gd name="connsiteY53" fmla="*/ 235731 h 517041"/>
              <a:gd name="connsiteX54" fmla="*/ 0 w 516988"/>
              <a:gd name="connsiteY54" fmla="*/ 212928 h 517041"/>
              <a:gd name="connsiteX55" fmla="*/ 22803 w 516988"/>
              <a:gd name="connsiteY55" fmla="*/ 190125 h 517041"/>
              <a:gd name="connsiteX56" fmla="*/ 60818 w 516988"/>
              <a:gd name="connsiteY56" fmla="*/ 190125 h 517041"/>
              <a:gd name="connsiteX57" fmla="*/ 60818 w 516988"/>
              <a:gd name="connsiteY57" fmla="*/ 144491 h 517041"/>
              <a:gd name="connsiteX58" fmla="*/ 22803 w 516988"/>
              <a:gd name="connsiteY58" fmla="*/ 144491 h 517041"/>
              <a:gd name="connsiteX59" fmla="*/ 0 w 516988"/>
              <a:gd name="connsiteY59" fmla="*/ 121688 h 517041"/>
              <a:gd name="connsiteX60" fmla="*/ 22803 w 516988"/>
              <a:gd name="connsiteY60" fmla="*/ 98885 h 517041"/>
              <a:gd name="connsiteX61" fmla="*/ 60818 w 516988"/>
              <a:gd name="connsiteY61" fmla="*/ 98885 h 517041"/>
              <a:gd name="connsiteX62" fmla="*/ 60818 w 516988"/>
              <a:gd name="connsiteY62" fmla="*/ 60871 h 517041"/>
              <a:gd name="connsiteX63" fmla="*/ 98832 w 516988"/>
              <a:gd name="connsiteY63" fmla="*/ 60871 h 517041"/>
              <a:gd name="connsiteX64" fmla="*/ 98832 w 516988"/>
              <a:gd name="connsiteY64" fmla="*/ 22803 h 517041"/>
              <a:gd name="connsiteX65" fmla="*/ 121635 w 516988"/>
              <a:gd name="connsiteY65" fmla="*/ 0 h 517041"/>
              <a:gd name="connsiteX66" fmla="*/ 121635 w 516988"/>
              <a:gd name="connsiteY66" fmla="*/ 0 h 517041"/>
              <a:gd name="connsiteX67" fmla="*/ 144438 w 516988"/>
              <a:gd name="connsiteY67" fmla="*/ 22803 h 517041"/>
              <a:gd name="connsiteX68" fmla="*/ 144438 w 516988"/>
              <a:gd name="connsiteY68" fmla="*/ 60817 h 517041"/>
              <a:gd name="connsiteX69" fmla="*/ 190071 w 516988"/>
              <a:gd name="connsiteY69" fmla="*/ 60817 h 517041"/>
              <a:gd name="connsiteX70" fmla="*/ 190071 w 516988"/>
              <a:gd name="connsiteY70" fmla="*/ 22803 h 517041"/>
              <a:gd name="connsiteX71" fmla="*/ 212874 w 516988"/>
              <a:gd name="connsiteY71" fmla="*/ 0 h 517041"/>
              <a:gd name="connsiteX72" fmla="*/ 212874 w 516988"/>
              <a:gd name="connsiteY72" fmla="*/ 0 h 517041"/>
              <a:gd name="connsiteX73" fmla="*/ 235678 w 516988"/>
              <a:gd name="connsiteY73" fmla="*/ 22803 h 517041"/>
              <a:gd name="connsiteX74" fmla="*/ 235678 w 516988"/>
              <a:gd name="connsiteY74" fmla="*/ 60817 h 517041"/>
              <a:gd name="connsiteX75" fmla="*/ 281311 w 516988"/>
              <a:gd name="connsiteY75" fmla="*/ 60817 h 517041"/>
              <a:gd name="connsiteX76" fmla="*/ 281311 w 516988"/>
              <a:gd name="connsiteY76" fmla="*/ 22803 h 517041"/>
              <a:gd name="connsiteX77" fmla="*/ 304114 w 516988"/>
              <a:gd name="connsiteY77" fmla="*/ 0 h 517041"/>
              <a:gd name="connsiteX78" fmla="*/ 304114 w 516988"/>
              <a:gd name="connsiteY78" fmla="*/ 0 h 517041"/>
              <a:gd name="connsiteX79" fmla="*/ 326917 w 516988"/>
              <a:gd name="connsiteY79" fmla="*/ 22803 h 517041"/>
              <a:gd name="connsiteX80" fmla="*/ 326917 w 516988"/>
              <a:gd name="connsiteY80" fmla="*/ 60817 h 517041"/>
              <a:gd name="connsiteX81" fmla="*/ 372550 w 516988"/>
              <a:gd name="connsiteY81" fmla="*/ 60817 h 517041"/>
              <a:gd name="connsiteX82" fmla="*/ 372550 w 516988"/>
              <a:gd name="connsiteY82" fmla="*/ 22803 h 517041"/>
              <a:gd name="connsiteX83" fmla="*/ 395353 w 516988"/>
              <a:gd name="connsiteY83" fmla="*/ 0 h 517041"/>
              <a:gd name="connsiteX84" fmla="*/ 395353 w 516988"/>
              <a:gd name="connsiteY84" fmla="*/ 0 h 517041"/>
              <a:gd name="connsiteX85" fmla="*/ 418157 w 516988"/>
              <a:gd name="connsiteY85" fmla="*/ 22803 h 517041"/>
              <a:gd name="connsiteX86" fmla="*/ 418157 w 516988"/>
              <a:gd name="connsiteY86" fmla="*/ 60817 h 517041"/>
              <a:gd name="connsiteX87" fmla="*/ 456171 w 516988"/>
              <a:gd name="connsiteY87" fmla="*/ 60817 h 517041"/>
              <a:gd name="connsiteX88" fmla="*/ 456171 w 516988"/>
              <a:gd name="connsiteY88" fmla="*/ 98832 h 517041"/>
              <a:gd name="connsiteX89" fmla="*/ 494185 w 516988"/>
              <a:gd name="connsiteY89" fmla="*/ 98832 h 517041"/>
              <a:gd name="connsiteX90" fmla="*/ 516988 w 516988"/>
              <a:gd name="connsiteY90" fmla="*/ 121635 h 517041"/>
              <a:gd name="connsiteX91" fmla="*/ 494185 w 516988"/>
              <a:gd name="connsiteY91" fmla="*/ 144438 h 517041"/>
              <a:gd name="connsiteX92" fmla="*/ 456171 w 516988"/>
              <a:gd name="connsiteY92" fmla="*/ 144438 h 517041"/>
              <a:gd name="connsiteX93" fmla="*/ 456171 w 516988"/>
              <a:gd name="connsiteY93" fmla="*/ 190071 h 517041"/>
              <a:gd name="connsiteX94" fmla="*/ 494185 w 516988"/>
              <a:gd name="connsiteY94" fmla="*/ 190071 h 517041"/>
              <a:gd name="connsiteX95" fmla="*/ 516988 w 516988"/>
              <a:gd name="connsiteY95" fmla="*/ 212874 h 517041"/>
              <a:gd name="connsiteX96" fmla="*/ 494185 w 516988"/>
              <a:gd name="connsiteY96" fmla="*/ 235677 h 517041"/>
              <a:gd name="connsiteX97" fmla="*/ 456171 w 516988"/>
              <a:gd name="connsiteY97" fmla="*/ 235677 h 517041"/>
              <a:gd name="connsiteX98" fmla="*/ 410564 w 516988"/>
              <a:gd name="connsiteY98" fmla="*/ 106477 h 517041"/>
              <a:gd name="connsiteX99" fmla="*/ 106370 w 516988"/>
              <a:gd name="connsiteY99" fmla="*/ 106477 h 517041"/>
              <a:gd name="connsiteX100" fmla="*/ 106370 w 516988"/>
              <a:gd name="connsiteY100" fmla="*/ 410671 h 517041"/>
              <a:gd name="connsiteX101" fmla="*/ 410564 w 516988"/>
              <a:gd name="connsiteY101" fmla="*/ 410671 h 517041"/>
              <a:gd name="connsiteX102" fmla="*/ 410564 w 516988"/>
              <a:gd name="connsiteY102" fmla="*/ 106477 h 517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516988" h="517041">
                <a:moveTo>
                  <a:pt x="364931" y="365011"/>
                </a:moveTo>
                <a:lnTo>
                  <a:pt x="152004" y="365011"/>
                </a:lnTo>
                <a:lnTo>
                  <a:pt x="152004" y="152084"/>
                </a:lnTo>
                <a:lnTo>
                  <a:pt x="364931" y="152084"/>
                </a:lnTo>
                <a:lnTo>
                  <a:pt x="364931" y="365011"/>
                </a:lnTo>
                <a:close/>
                <a:moveTo>
                  <a:pt x="456171" y="235731"/>
                </a:moveTo>
                <a:lnTo>
                  <a:pt x="456171" y="281364"/>
                </a:lnTo>
                <a:lnTo>
                  <a:pt x="494185" y="281364"/>
                </a:lnTo>
                <a:cubicBezTo>
                  <a:pt x="506794" y="281364"/>
                  <a:pt x="516988" y="291585"/>
                  <a:pt x="516988" y="304167"/>
                </a:cubicBezTo>
                <a:cubicBezTo>
                  <a:pt x="516988" y="316776"/>
                  <a:pt x="506767" y="326970"/>
                  <a:pt x="494185" y="326970"/>
                </a:cubicBezTo>
                <a:lnTo>
                  <a:pt x="456171" y="326970"/>
                </a:lnTo>
                <a:lnTo>
                  <a:pt x="456171" y="372603"/>
                </a:lnTo>
                <a:lnTo>
                  <a:pt x="494185" y="372603"/>
                </a:lnTo>
                <a:cubicBezTo>
                  <a:pt x="506794" y="372603"/>
                  <a:pt x="516988" y="382825"/>
                  <a:pt x="516988" y="395407"/>
                </a:cubicBezTo>
                <a:cubicBezTo>
                  <a:pt x="516988" y="408015"/>
                  <a:pt x="506767" y="418210"/>
                  <a:pt x="494185" y="418210"/>
                </a:cubicBezTo>
                <a:lnTo>
                  <a:pt x="456171" y="418210"/>
                </a:lnTo>
                <a:lnTo>
                  <a:pt x="456171" y="456224"/>
                </a:lnTo>
                <a:lnTo>
                  <a:pt x="418157" y="456224"/>
                </a:lnTo>
                <a:lnTo>
                  <a:pt x="418157" y="494238"/>
                </a:lnTo>
                <a:cubicBezTo>
                  <a:pt x="418157" y="506847"/>
                  <a:pt x="407935" y="517041"/>
                  <a:pt x="395353" y="517041"/>
                </a:cubicBezTo>
                <a:lnTo>
                  <a:pt x="395353" y="517041"/>
                </a:lnTo>
                <a:cubicBezTo>
                  <a:pt x="382745" y="517041"/>
                  <a:pt x="372550" y="506820"/>
                  <a:pt x="372550" y="494238"/>
                </a:cubicBezTo>
                <a:lnTo>
                  <a:pt x="372550" y="456224"/>
                </a:lnTo>
                <a:lnTo>
                  <a:pt x="326917" y="456224"/>
                </a:lnTo>
                <a:lnTo>
                  <a:pt x="326917" y="494238"/>
                </a:lnTo>
                <a:cubicBezTo>
                  <a:pt x="326917" y="506847"/>
                  <a:pt x="316696" y="517041"/>
                  <a:pt x="304114" y="517041"/>
                </a:cubicBezTo>
                <a:lnTo>
                  <a:pt x="304114" y="517041"/>
                </a:lnTo>
                <a:cubicBezTo>
                  <a:pt x="291505" y="517041"/>
                  <a:pt x="281311" y="506820"/>
                  <a:pt x="281311" y="494238"/>
                </a:cubicBezTo>
                <a:lnTo>
                  <a:pt x="281311" y="456224"/>
                </a:lnTo>
                <a:lnTo>
                  <a:pt x="235678" y="456224"/>
                </a:lnTo>
                <a:lnTo>
                  <a:pt x="235678" y="494238"/>
                </a:lnTo>
                <a:cubicBezTo>
                  <a:pt x="235678" y="506847"/>
                  <a:pt x="225456" y="517041"/>
                  <a:pt x="212874" y="517041"/>
                </a:cubicBezTo>
                <a:lnTo>
                  <a:pt x="212874" y="517041"/>
                </a:lnTo>
                <a:cubicBezTo>
                  <a:pt x="200266" y="517041"/>
                  <a:pt x="190071" y="506820"/>
                  <a:pt x="190071" y="494238"/>
                </a:cubicBezTo>
                <a:lnTo>
                  <a:pt x="190071" y="456224"/>
                </a:lnTo>
                <a:lnTo>
                  <a:pt x="144438" y="456224"/>
                </a:lnTo>
                <a:lnTo>
                  <a:pt x="144438" y="494238"/>
                </a:lnTo>
                <a:cubicBezTo>
                  <a:pt x="144438" y="506847"/>
                  <a:pt x="134217" y="517041"/>
                  <a:pt x="121635" y="517041"/>
                </a:cubicBezTo>
                <a:lnTo>
                  <a:pt x="121635" y="517041"/>
                </a:lnTo>
                <a:cubicBezTo>
                  <a:pt x="109026" y="517041"/>
                  <a:pt x="98832" y="506820"/>
                  <a:pt x="98832" y="494238"/>
                </a:cubicBezTo>
                <a:lnTo>
                  <a:pt x="98832" y="456224"/>
                </a:lnTo>
                <a:lnTo>
                  <a:pt x="60818" y="456224"/>
                </a:lnTo>
                <a:lnTo>
                  <a:pt x="60818" y="418210"/>
                </a:lnTo>
                <a:lnTo>
                  <a:pt x="22803" y="418210"/>
                </a:lnTo>
                <a:cubicBezTo>
                  <a:pt x="10194" y="418210"/>
                  <a:pt x="0" y="407989"/>
                  <a:pt x="0" y="395407"/>
                </a:cubicBezTo>
                <a:cubicBezTo>
                  <a:pt x="0" y="382798"/>
                  <a:pt x="10221" y="372603"/>
                  <a:pt x="22803" y="372603"/>
                </a:cubicBezTo>
                <a:lnTo>
                  <a:pt x="60818" y="372603"/>
                </a:lnTo>
                <a:lnTo>
                  <a:pt x="60818" y="326970"/>
                </a:lnTo>
                <a:lnTo>
                  <a:pt x="22803" y="326970"/>
                </a:lnTo>
                <a:cubicBezTo>
                  <a:pt x="10194" y="326970"/>
                  <a:pt x="0" y="316749"/>
                  <a:pt x="0" y="304167"/>
                </a:cubicBezTo>
                <a:cubicBezTo>
                  <a:pt x="0" y="291558"/>
                  <a:pt x="10221" y="281364"/>
                  <a:pt x="22803" y="281364"/>
                </a:cubicBezTo>
                <a:lnTo>
                  <a:pt x="60818" y="281364"/>
                </a:lnTo>
                <a:lnTo>
                  <a:pt x="60818" y="235731"/>
                </a:lnTo>
                <a:lnTo>
                  <a:pt x="22803" y="235731"/>
                </a:lnTo>
                <a:cubicBezTo>
                  <a:pt x="10194" y="235731"/>
                  <a:pt x="0" y="225510"/>
                  <a:pt x="0" y="212928"/>
                </a:cubicBezTo>
                <a:cubicBezTo>
                  <a:pt x="0" y="200319"/>
                  <a:pt x="10221" y="190125"/>
                  <a:pt x="22803" y="190125"/>
                </a:cubicBezTo>
                <a:lnTo>
                  <a:pt x="60818" y="190125"/>
                </a:lnTo>
                <a:lnTo>
                  <a:pt x="60818" y="144491"/>
                </a:lnTo>
                <a:lnTo>
                  <a:pt x="22803" y="144491"/>
                </a:lnTo>
                <a:cubicBezTo>
                  <a:pt x="10194" y="144491"/>
                  <a:pt x="0" y="134270"/>
                  <a:pt x="0" y="121688"/>
                </a:cubicBezTo>
                <a:cubicBezTo>
                  <a:pt x="0" y="109080"/>
                  <a:pt x="10221" y="98885"/>
                  <a:pt x="22803" y="98885"/>
                </a:cubicBezTo>
                <a:lnTo>
                  <a:pt x="60818" y="98885"/>
                </a:lnTo>
                <a:lnTo>
                  <a:pt x="60818" y="60871"/>
                </a:lnTo>
                <a:lnTo>
                  <a:pt x="98832" y="60871"/>
                </a:lnTo>
                <a:lnTo>
                  <a:pt x="98832" y="22803"/>
                </a:lnTo>
                <a:cubicBezTo>
                  <a:pt x="98832" y="10194"/>
                  <a:pt x="109053" y="0"/>
                  <a:pt x="121635" y="0"/>
                </a:cubicBezTo>
                <a:lnTo>
                  <a:pt x="121635" y="0"/>
                </a:lnTo>
                <a:cubicBezTo>
                  <a:pt x="134244" y="0"/>
                  <a:pt x="144438" y="10221"/>
                  <a:pt x="144438" y="22803"/>
                </a:cubicBezTo>
                <a:lnTo>
                  <a:pt x="144438" y="60817"/>
                </a:lnTo>
                <a:lnTo>
                  <a:pt x="190071" y="60817"/>
                </a:lnTo>
                <a:lnTo>
                  <a:pt x="190071" y="22803"/>
                </a:lnTo>
                <a:cubicBezTo>
                  <a:pt x="190071" y="10194"/>
                  <a:pt x="200293" y="0"/>
                  <a:pt x="212874" y="0"/>
                </a:cubicBezTo>
                <a:lnTo>
                  <a:pt x="212874" y="0"/>
                </a:lnTo>
                <a:cubicBezTo>
                  <a:pt x="225483" y="0"/>
                  <a:pt x="235678" y="10221"/>
                  <a:pt x="235678" y="22803"/>
                </a:cubicBezTo>
                <a:lnTo>
                  <a:pt x="235678" y="60817"/>
                </a:lnTo>
                <a:lnTo>
                  <a:pt x="281311" y="60817"/>
                </a:lnTo>
                <a:lnTo>
                  <a:pt x="281311" y="22803"/>
                </a:lnTo>
                <a:cubicBezTo>
                  <a:pt x="281311" y="10194"/>
                  <a:pt x="291532" y="0"/>
                  <a:pt x="304114" y="0"/>
                </a:cubicBezTo>
                <a:lnTo>
                  <a:pt x="304114" y="0"/>
                </a:lnTo>
                <a:cubicBezTo>
                  <a:pt x="316723" y="0"/>
                  <a:pt x="326917" y="10221"/>
                  <a:pt x="326917" y="22803"/>
                </a:cubicBezTo>
                <a:lnTo>
                  <a:pt x="326917" y="60817"/>
                </a:lnTo>
                <a:lnTo>
                  <a:pt x="372550" y="60817"/>
                </a:lnTo>
                <a:lnTo>
                  <a:pt x="372550" y="22803"/>
                </a:lnTo>
                <a:cubicBezTo>
                  <a:pt x="372550" y="10194"/>
                  <a:pt x="382772" y="0"/>
                  <a:pt x="395353" y="0"/>
                </a:cubicBezTo>
                <a:lnTo>
                  <a:pt x="395353" y="0"/>
                </a:lnTo>
                <a:cubicBezTo>
                  <a:pt x="407962" y="0"/>
                  <a:pt x="418157" y="10221"/>
                  <a:pt x="418157" y="22803"/>
                </a:cubicBezTo>
                <a:lnTo>
                  <a:pt x="418157" y="60817"/>
                </a:lnTo>
                <a:lnTo>
                  <a:pt x="456171" y="60817"/>
                </a:lnTo>
                <a:lnTo>
                  <a:pt x="456171" y="98832"/>
                </a:lnTo>
                <a:lnTo>
                  <a:pt x="494185" y="98832"/>
                </a:lnTo>
                <a:cubicBezTo>
                  <a:pt x="506794" y="98832"/>
                  <a:pt x="516988" y="109053"/>
                  <a:pt x="516988" y="121635"/>
                </a:cubicBezTo>
                <a:cubicBezTo>
                  <a:pt x="516988" y="134243"/>
                  <a:pt x="506767" y="144438"/>
                  <a:pt x="494185" y="144438"/>
                </a:cubicBezTo>
                <a:lnTo>
                  <a:pt x="456171" y="144438"/>
                </a:lnTo>
                <a:lnTo>
                  <a:pt x="456171" y="190071"/>
                </a:lnTo>
                <a:lnTo>
                  <a:pt x="494185" y="190071"/>
                </a:lnTo>
                <a:cubicBezTo>
                  <a:pt x="506794" y="190071"/>
                  <a:pt x="516988" y="200292"/>
                  <a:pt x="516988" y="212874"/>
                </a:cubicBezTo>
                <a:cubicBezTo>
                  <a:pt x="516988" y="225483"/>
                  <a:pt x="506767" y="235677"/>
                  <a:pt x="494185" y="235677"/>
                </a:cubicBezTo>
                <a:lnTo>
                  <a:pt x="456171" y="235677"/>
                </a:lnTo>
                <a:close/>
                <a:moveTo>
                  <a:pt x="410564" y="106477"/>
                </a:moveTo>
                <a:lnTo>
                  <a:pt x="106370" y="106477"/>
                </a:lnTo>
                <a:lnTo>
                  <a:pt x="106370" y="410671"/>
                </a:lnTo>
                <a:lnTo>
                  <a:pt x="410564" y="410671"/>
                </a:lnTo>
                <a:lnTo>
                  <a:pt x="410564" y="106477"/>
                </a:lnTo>
                <a:close/>
              </a:path>
            </a:pathLst>
          </a:custGeom>
          <a:solidFill>
            <a:schemeClr val="tx1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Freihandform: Form 108">
            <a:extLst>
              <a:ext uri="{FF2B5EF4-FFF2-40B4-BE49-F238E27FC236}">
                <a16:creationId xmlns:a16="http://schemas.microsoft.com/office/drawing/2014/main" id="{72ACD621-AAFE-FC65-FEFC-43F6C900F099}"/>
              </a:ext>
            </a:extLst>
          </p:cNvPr>
          <p:cNvSpPr/>
          <p:nvPr/>
        </p:nvSpPr>
        <p:spPr bwMode="gray">
          <a:xfrm>
            <a:off x="2384669" y="5058274"/>
            <a:ext cx="404400" cy="404358"/>
          </a:xfrm>
          <a:custGeom>
            <a:avLst/>
            <a:gdLst>
              <a:gd name="connsiteX0" fmla="*/ 603150 w 690189"/>
              <a:gd name="connsiteY0" fmla="*/ 279449 h 690118"/>
              <a:gd name="connsiteX1" fmla="*/ 574866 w 690189"/>
              <a:gd name="connsiteY1" fmla="*/ 210670 h 690118"/>
              <a:gd name="connsiteX2" fmla="*/ 632259 w 690189"/>
              <a:gd name="connsiteY2" fmla="*/ 143716 h 690118"/>
              <a:gd name="connsiteX3" fmla="*/ 547512 w 690189"/>
              <a:gd name="connsiteY3" fmla="*/ 58969 h 690118"/>
              <a:gd name="connsiteX4" fmla="*/ 480881 w 690189"/>
              <a:gd name="connsiteY4" fmla="*/ 116112 h 690118"/>
              <a:gd name="connsiteX5" fmla="*/ 411779 w 690189"/>
              <a:gd name="connsiteY5" fmla="*/ 87290 h 690118"/>
              <a:gd name="connsiteX6" fmla="*/ 405049 w 690189"/>
              <a:gd name="connsiteY6" fmla="*/ 0 h 690118"/>
              <a:gd name="connsiteX7" fmla="*/ 285214 w 690189"/>
              <a:gd name="connsiteY7" fmla="*/ 0 h 690118"/>
              <a:gd name="connsiteX8" fmla="*/ 278482 w 690189"/>
              <a:gd name="connsiteY8" fmla="*/ 87290 h 690118"/>
              <a:gd name="connsiteX9" fmla="*/ 209309 w 690189"/>
              <a:gd name="connsiteY9" fmla="*/ 116112 h 690118"/>
              <a:gd name="connsiteX10" fmla="*/ 142750 w 690189"/>
              <a:gd name="connsiteY10" fmla="*/ 59040 h 690118"/>
              <a:gd name="connsiteX11" fmla="*/ 58002 w 690189"/>
              <a:gd name="connsiteY11" fmla="*/ 143788 h 690118"/>
              <a:gd name="connsiteX12" fmla="*/ 115324 w 690189"/>
              <a:gd name="connsiteY12" fmla="*/ 210670 h 690118"/>
              <a:gd name="connsiteX13" fmla="*/ 87003 w 690189"/>
              <a:gd name="connsiteY13" fmla="*/ 279556 h 690118"/>
              <a:gd name="connsiteX14" fmla="*/ 0 w 690189"/>
              <a:gd name="connsiteY14" fmla="*/ 286251 h 690118"/>
              <a:gd name="connsiteX15" fmla="*/ 0 w 690189"/>
              <a:gd name="connsiteY15" fmla="*/ 406087 h 690118"/>
              <a:gd name="connsiteX16" fmla="*/ 87612 w 690189"/>
              <a:gd name="connsiteY16" fmla="*/ 412818 h 690118"/>
              <a:gd name="connsiteX17" fmla="*/ 116112 w 690189"/>
              <a:gd name="connsiteY17" fmla="*/ 480809 h 690118"/>
              <a:gd name="connsiteX18" fmla="*/ 58074 w 690189"/>
              <a:gd name="connsiteY18" fmla="*/ 548514 h 690118"/>
              <a:gd name="connsiteX19" fmla="*/ 142822 w 690189"/>
              <a:gd name="connsiteY19" fmla="*/ 633262 h 690118"/>
              <a:gd name="connsiteX20" fmla="*/ 210885 w 690189"/>
              <a:gd name="connsiteY20" fmla="*/ 574902 h 690118"/>
              <a:gd name="connsiteX21" fmla="*/ 278589 w 690189"/>
              <a:gd name="connsiteY21" fmla="*/ 602864 h 690118"/>
              <a:gd name="connsiteX22" fmla="*/ 285285 w 690189"/>
              <a:gd name="connsiteY22" fmla="*/ 690118 h 690118"/>
              <a:gd name="connsiteX23" fmla="*/ 405120 w 690189"/>
              <a:gd name="connsiteY23" fmla="*/ 690118 h 690118"/>
              <a:gd name="connsiteX24" fmla="*/ 411851 w 690189"/>
              <a:gd name="connsiteY24" fmla="*/ 602793 h 690118"/>
              <a:gd name="connsiteX25" fmla="*/ 479485 w 690189"/>
              <a:gd name="connsiteY25" fmla="*/ 574794 h 690118"/>
              <a:gd name="connsiteX26" fmla="*/ 547583 w 690189"/>
              <a:gd name="connsiteY26" fmla="*/ 633154 h 690118"/>
              <a:gd name="connsiteX27" fmla="*/ 632331 w 690189"/>
              <a:gd name="connsiteY27" fmla="*/ 548407 h 690118"/>
              <a:gd name="connsiteX28" fmla="*/ 574186 w 690189"/>
              <a:gd name="connsiteY28" fmla="*/ 480594 h 690118"/>
              <a:gd name="connsiteX29" fmla="*/ 602614 w 690189"/>
              <a:gd name="connsiteY29" fmla="*/ 412675 h 690118"/>
              <a:gd name="connsiteX30" fmla="*/ 690190 w 690189"/>
              <a:gd name="connsiteY30" fmla="*/ 405943 h 690118"/>
              <a:gd name="connsiteX31" fmla="*/ 690190 w 690189"/>
              <a:gd name="connsiteY31" fmla="*/ 286108 h 690118"/>
              <a:gd name="connsiteX32" fmla="*/ 603150 w 690189"/>
              <a:gd name="connsiteY32" fmla="*/ 279449 h 690118"/>
              <a:gd name="connsiteX33" fmla="*/ 345149 w 690189"/>
              <a:gd name="connsiteY33" fmla="*/ 457393 h 690118"/>
              <a:gd name="connsiteX34" fmla="*/ 232832 w 690189"/>
              <a:gd name="connsiteY34" fmla="*/ 345077 h 690118"/>
              <a:gd name="connsiteX35" fmla="*/ 345149 w 690189"/>
              <a:gd name="connsiteY35" fmla="*/ 232760 h 690118"/>
              <a:gd name="connsiteX36" fmla="*/ 457465 w 690189"/>
              <a:gd name="connsiteY36" fmla="*/ 345077 h 690118"/>
              <a:gd name="connsiteX37" fmla="*/ 345149 w 690189"/>
              <a:gd name="connsiteY37" fmla="*/ 457393 h 69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690189" h="690118">
                <a:moveTo>
                  <a:pt x="603150" y="279449"/>
                </a:moveTo>
                <a:cubicBezTo>
                  <a:pt x="596956" y="254995"/>
                  <a:pt x="587325" y="231901"/>
                  <a:pt x="574866" y="210670"/>
                </a:cubicBezTo>
                <a:lnTo>
                  <a:pt x="632259" y="143716"/>
                </a:lnTo>
                <a:lnTo>
                  <a:pt x="547512" y="58969"/>
                </a:lnTo>
                <a:lnTo>
                  <a:pt x="480881" y="116112"/>
                </a:lnTo>
                <a:cubicBezTo>
                  <a:pt x="459578" y="103437"/>
                  <a:pt x="436377" y="93627"/>
                  <a:pt x="411779" y="87290"/>
                </a:cubicBezTo>
                <a:lnTo>
                  <a:pt x="405049" y="0"/>
                </a:lnTo>
                <a:lnTo>
                  <a:pt x="285214" y="0"/>
                </a:lnTo>
                <a:lnTo>
                  <a:pt x="278482" y="87290"/>
                </a:lnTo>
                <a:cubicBezTo>
                  <a:pt x="253849" y="93627"/>
                  <a:pt x="230649" y="103437"/>
                  <a:pt x="209309" y="116112"/>
                </a:cubicBezTo>
                <a:lnTo>
                  <a:pt x="142750" y="59040"/>
                </a:lnTo>
                <a:lnTo>
                  <a:pt x="58002" y="143788"/>
                </a:lnTo>
                <a:lnTo>
                  <a:pt x="115324" y="210670"/>
                </a:lnTo>
                <a:cubicBezTo>
                  <a:pt x="102864" y="231937"/>
                  <a:pt x="93233" y="255066"/>
                  <a:pt x="87003" y="279556"/>
                </a:cubicBezTo>
                <a:lnTo>
                  <a:pt x="0" y="286251"/>
                </a:lnTo>
                <a:lnTo>
                  <a:pt x="0" y="406087"/>
                </a:lnTo>
                <a:lnTo>
                  <a:pt x="87612" y="412818"/>
                </a:lnTo>
                <a:cubicBezTo>
                  <a:pt x="93949" y="437021"/>
                  <a:pt x="103652" y="459828"/>
                  <a:pt x="116112" y="480809"/>
                </a:cubicBezTo>
                <a:lnTo>
                  <a:pt x="58074" y="548514"/>
                </a:lnTo>
                <a:lnTo>
                  <a:pt x="142822" y="633262"/>
                </a:lnTo>
                <a:lnTo>
                  <a:pt x="210885" y="574902"/>
                </a:lnTo>
                <a:cubicBezTo>
                  <a:pt x="231830" y="587146"/>
                  <a:pt x="254529" y="596670"/>
                  <a:pt x="278589" y="602864"/>
                </a:cubicBezTo>
                <a:lnTo>
                  <a:pt x="285285" y="690118"/>
                </a:lnTo>
                <a:lnTo>
                  <a:pt x="405120" y="690118"/>
                </a:lnTo>
                <a:lnTo>
                  <a:pt x="411851" y="602793"/>
                </a:lnTo>
                <a:cubicBezTo>
                  <a:pt x="435875" y="596599"/>
                  <a:pt x="458575" y="587039"/>
                  <a:pt x="479485" y="574794"/>
                </a:cubicBezTo>
                <a:lnTo>
                  <a:pt x="547583" y="633154"/>
                </a:lnTo>
                <a:lnTo>
                  <a:pt x="632331" y="548407"/>
                </a:lnTo>
                <a:lnTo>
                  <a:pt x="574186" y="480594"/>
                </a:lnTo>
                <a:cubicBezTo>
                  <a:pt x="586610" y="459613"/>
                  <a:pt x="596276" y="436842"/>
                  <a:pt x="602614" y="412675"/>
                </a:cubicBezTo>
                <a:lnTo>
                  <a:pt x="690190" y="405943"/>
                </a:lnTo>
                <a:lnTo>
                  <a:pt x="690190" y="286108"/>
                </a:lnTo>
                <a:lnTo>
                  <a:pt x="603150" y="279449"/>
                </a:lnTo>
                <a:moveTo>
                  <a:pt x="345149" y="457393"/>
                </a:moveTo>
                <a:cubicBezTo>
                  <a:pt x="283101" y="457393"/>
                  <a:pt x="232832" y="407089"/>
                  <a:pt x="232832" y="345077"/>
                </a:cubicBezTo>
                <a:cubicBezTo>
                  <a:pt x="232832" y="283065"/>
                  <a:pt x="283137" y="232760"/>
                  <a:pt x="345149" y="232760"/>
                </a:cubicBezTo>
                <a:cubicBezTo>
                  <a:pt x="407161" y="232760"/>
                  <a:pt x="457465" y="283065"/>
                  <a:pt x="457465" y="345077"/>
                </a:cubicBezTo>
                <a:cubicBezTo>
                  <a:pt x="457465" y="407089"/>
                  <a:pt x="407161" y="457393"/>
                  <a:pt x="345149" y="457393"/>
                </a:cubicBezTo>
                <a:close/>
              </a:path>
            </a:pathLst>
          </a:custGeom>
          <a:solidFill>
            <a:schemeClr val="tx1"/>
          </a:solidFill>
          <a:ln w="357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Freihandform: Form 109">
            <a:extLst>
              <a:ext uri="{FF2B5EF4-FFF2-40B4-BE49-F238E27FC236}">
                <a16:creationId xmlns:a16="http://schemas.microsoft.com/office/drawing/2014/main" id="{0EE540D7-835C-2BE1-751A-4F41E6894B13}"/>
              </a:ext>
            </a:extLst>
          </p:cNvPr>
          <p:cNvSpPr/>
          <p:nvPr/>
        </p:nvSpPr>
        <p:spPr bwMode="gray">
          <a:xfrm rot="5400000">
            <a:off x="651233" y="5140829"/>
            <a:ext cx="445708" cy="331165"/>
          </a:xfrm>
          <a:custGeom>
            <a:avLst/>
            <a:gdLst>
              <a:gd name="connsiteX0" fmla="*/ 80965 w 495043"/>
              <a:gd name="connsiteY0" fmla="*/ 183585 h 367821"/>
              <a:gd name="connsiteX1" fmla="*/ 123808 w 495043"/>
              <a:gd name="connsiteY1" fmla="*/ 226428 h 367821"/>
              <a:gd name="connsiteX2" fmla="*/ 371235 w 495043"/>
              <a:gd name="connsiteY2" fmla="*/ 226375 h 367821"/>
              <a:gd name="connsiteX3" fmla="*/ 414105 w 495043"/>
              <a:gd name="connsiteY3" fmla="*/ 183505 h 367821"/>
              <a:gd name="connsiteX4" fmla="*/ 80965 w 495043"/>
              <a:gd name="connsiteY4" fmla="*/ 183585 h 367821"/>
              <a:gd name="connsiteX5" fmla="*/ 204585 w 495043"/>
              <a:gd name="connsiteY5" fmla="*/ 264362 h 367821"/>
              <a:gd name="connsiteX6" fmla="*/ 204585 w 495043"/>
              <a:gd name="connsiteY6" fmla="*/ 350075 h 367821"/>
              <a:gd name="connsiteX7" fmla="*/ 290298 w 495043"/>
              <a:gd name="connsiteY7" fmla="*/ 350075 h 367821"/>
              <a:gd name="connsiteX8" fmla="*/ 290324 w 495043"/>
              <a:gd name="connsiteY8" fmla="*/ 264362 h 367821"/>
              <a:gd name="connsiteX9" fmla="*/ 204585 w 495043"/>
              <a:gd name="connsiteY9" fmla="*/ 264362 h 367821"/>
              <a:gd name="connsiteX10" fmla="*/ 0 w 495043"/>
              <a:gd name="connsiteY10" fmla="*/ 102621 h 367821"/>
              <a:gd name="connsiteX11" fmla="*/ 42843 w 495043"/>
              <a:gd name="connsiteY11" fmla="*/ 145464 h 367821"/>
              <a:gd name="connsiteX12" fmla="*/ 247428 w 495043"/>
              <a:gd name="connsiteY12" fmla="*/ 65277 h 367821"/>
              <a:gd name="connsiteX13" fmla="*/ 452200 w 495043"/>
              <a:gd name="connsiteY13" fmla="*/ 145410 h 367821"/>
              <a:gd name="connsiteX14" fmla="*/ 495043 w 495043"/>
              <a:gd name="connsiteY14" fmla="*/ 102567 h 367821"/>
              <a:gd name="connsiteX15" fmla="*/ 0 w 495043"/>
              <a:gd name="connsiteY15" fmla="*/ 102621 h 36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5043" h="367821">
                <a:moveTo>
                  <a:pt x="80965" y="183585"/>
                </a:moveTo>
                <a:lnTo>
                  <a:pt x="123808" y="226428"/>
                </a:lnTo>
                <a:cubicBezTo>
                  <a:pt x="192378" y="160460"/>
                  <a:pt x="303604" y="158743"/>
                  <a:pt x="371235" y="226375"/>
                </a:cubicBezTo>
                <a:lnTo>
                  <a:pt x="414105" y="183505"/>
                </a:lnTo>
                <a:cubicBezTo>
                  <a:pt x="322812" y="92185"/>
                  <a:pt x="173197" y="93929"/>
                  <a:pt x="80965" y="183585"/>
                </a:cubicBezTo>
                <a:close/>
                <a:moveTo>
                  <a:pt x="204585" y="264362"/>
                </a:moveTo>
                <a:cubicBezTo>
                  <a:pt x="180923" y="288024"/>
                  <a:pt x="180923" y="326387"/>
                  <a:pt x="204585" y="350075"/>
                </a:cubicBezTo>
                <a:cubicBezTo>
                  <a:pt x="228246" y="373737"/>
                  <a:pt x="266636" y="373737"/>
                  <a:pt x="290298" y="350075"/>
                </a:cubicBezTo>
                <a:cubicBezTo>
                  <a:pt x="313959" y="326414"/>
                  <a:pt x="313986" y="288024"/>
                  <a:pt x="290324" y="264362"/>
                </a:cubicBezTo>
                <a:cubicBezTo>
                  <a:pt x="266663" y="240701"/>
                  <a:pt x="228246" y="240701"/>
                  <a:pt x="204585" y="264362"/>
                </a:cubicBezTo>
                <a:close/>
                <a:moveTo>
                  <a:pt x="0" y="102621"/>
                </a:moveTo>
                <a:lnTo>
                  <a:pt x="42843" y="145464"/>
                </a:lnTo>
                <a:cubicBezTo>
                  <a:pt x="97463" y="90844"/>
                  <a:pt x="170031" y="65277"/>
                  <a:pt x="247428" y="65277"/>
                </a:cubicBezTo>
                <a:cubicBezTo>
                  <a:pt x="324798" y="65277"/>
                  <a:pt x="397526" y="90763"/>
                  <a:pt x="452200" y="145410"/>
                </a:cubicBezTo>
                <a:lnTo>
                  <a:pt x="495043" y="102567"/>
                </a:lnTo>
                <a:cubicBezTo>
                  <a:pt x="358251" y="-34225"/>
                  <a:pt x="136792" y="-34171"/>
                  <a:pt x="0" y="102621"/>
                </a:cubicBezTo>
                <a:close/>
              </a:path>
            </a:pathLst>
          </a:custGeom>
          <a:solidFill>
            <a:schemeClr val="accent2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Ellipse 14">
            <a:extLst>
              <a:ext uri="{FF2B5EF4-FFF2-40B4-BE49-F238E27FC236}">
                <a16:creationId xmlns:a16="http://schemas.microsoft.com/office/drawing/2014/main" id="{09808D93-333D-902C-2AAD-23B0B656E573}"/>
              </a:ext>
            </a:extLst>
          </p:cNvPr>
          <p:cNvSpPr/>
          <p:nvPr/>
        </p:nvSpPr>
        <p:spPr bwMode="gray">
          <a:xfrm>
            <a:off x="2311596" y="5538308"/>
            <a:ext cx="132794" cy="13279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rgbClr val="005B6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Ellipse 110">
            <a:extLst>
              <a:ext uri="{FF2B5EF4-FFF2-40B4-BE49-F238E27FC236}">
                <a16:creationId xmlns:a16="http://schemas.microsoft.com/office/drawing/2014/main" id="{6FB182EE-55D7-65AB-950C-52B618E6B542}"/>
              </a:ext>
            </a:extLst>
          </p:cNvPr>
          <p:cNvSpPr/>
          <p:nvPr/>
        </p:nvSpPr>
        <p:spPr bwMode="gray">
          <a:xfrm>
            <a:off x="3468405" y="5538308"/>
            <a:ext cx="132794" cy="13279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rgbClr val="005B6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Ellipse 111">
            <a:extLst>
              <a:ext uri="{FF2B5EF4-FFF2-40B4-BE49-F238E27FC236}">
                <a16:creationId xmlns:a16="http://schemas.microsoft.com/office/drawing/2014/main" id="{CF34A594-622D-CC22-03FB-1AFE38AF94B2}"/>
              </a:ext>
            </a:extLst>
          </p:cNvPr>
          <p:cNvSpPr/>
          <p:nvPr/>
        </p:nvSpPr>
        <p:spPr bwMode="gray">
          <a:xfrm>
            <a:off x="4567461" y="5538308"/>
            <a:ext cx="132794" cy="13279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rgbClr val="005B6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Ellipse 113">
            <a:extLst>
              <a:ext uri="{FF2B5EF4-FFF2-40B4-BE49-F238E27FC236}">
                <a16:creationId xmlns:a16="http://schemas.microsoft.com/office/drawing/2014/main" id="{584F6490-1D93-E066-507A-80FBDD8120B8}"/>
              </a:ext>
            </a:extLst>
          </p:cNvPr>
          <p:cNvSpPr/>
          <p:nvPr/>
        </p:nvSpPr>
        <p:spPr bwMode="gray">
          <a:xfrm>
            <a:off x="5887899" y="5538308"/>
            <a:ext cx="132794" cy="13279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rgbClr val="005B6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Ellipse 114">
            <a:extLst>
              <a:ext uri="{FF2B5EF4-FFF2-40B4-BE49-F238E27FC236}">
                <a16:creationId xmlns:a16="http://schemas.microsoft.com/office/drawing/2014/main" id="{B2ABA661-B23E-4434-A5EF-B2B4EF63249B}"/>
              </a:ext>
            </a:extLst>
          </p:cNvPr>
          <p:cNvSpPr/>
          <p:nvPr/>
        </p:nvSpPr>
        <p:spPr bwMode="gray">
          <a:xfrm>
            <a:off x="7131333" y="5538308"/>
            <a:ext cx="132794" cy="13279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rgbClr val="005B6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F511CC4-D046-F017-E417-05C5E84D2910}"/>
              </a:ext>
            </a:extLst>
          </p:cNvPr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4571862" y="5285850"/>
            <a:ext cx="432000" cy="10959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B7DD130-3576-20A2-B6CB-EFED6AA11785}"/>
              </a:ext>
            </a:extLst>
          </p:cNvPr>
          <p:cNvSpPr txBox="1"/>
          <p:nvPr/>
        </p:nvSpPr>
        <p:spPr>
          <a:xfrm>
            <a:off x="8514242" y="6122025"/>
            <a:ext cx="57555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功率</a:t>
            </a:r>
            <a:endParaRPr kumimoji="0" lang="en-US" altLang="zh-CN" sz="105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ACB7CD-A648-3723-3299-27201939E501}"/>
              </a:ext>
            </a:extLst>
          </p:cNvPr>
          <p:cNvSpPr txBox="1"/>
          <p:nvPr/>
        </p:nvSpPr>
        <p:spPr>
          <a:xfrm>
            <a:off x="9425163" y="6122025"/>
            <a:ext cx="57555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PIR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CDD8E6-D1CC-7D24-78CC-EE1DE0DF1C4B}"/>
              </a:ext>
            </a:extLst>
          </p:cNvPr>
          <p:cNvSpPr txBox="1"/>
          <p:nvPr/>
        </p:nvSpPr>
        <p:spPr>
          <a:xfrm>
            <a:off x="10284704" y="6122025"/>
            <a:ext cx="57555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光感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0DAAD2A-3971-1721-4A54-AE3D59F1D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5997" y="5413424"/>
            <a:ext cx="575555" cy="81617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A2924C9-CE53-4066-3E1D-EC32898A0B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2000" y="5413424"/>
            <a:ext cx="837171" cy="708436"/>
          </a:xfrm>
          <a:prstGeom prst="rect">
            <a:avLst/>
          </a:prstGeom>
        </p:spPr>
      </p:pic>
      <p:grpSp>
        <p:nvGrpSpPr>
          <p:cNvPr id="38" name="Grupo 123">
            <a:extLst>
              <a:ext uri="{FF2B5EF4-FFF2-40B4-BE49-F238E27FC236}">
                <a16:creationId xmlns:a16="http://schemas.microsoft.com/office/drawing/2014/main" id="{B6ED6851-78F5-9308-A06B-26C45B469DD3}"/>
              </a:ext>
            </a:extLst>
          </p:cNvPr>
          <p:cNvGrpSpPr/>
          <p:nvPr/>
        </p:nvGrpSpPr>
        <p:grpSpPr bwMode="auto">
          <a:xfrm>
            <a:off x="9226942" y="5384849"/>
            <a:ext cx="685315" cy="751332"/>
            <a:chOff x="9552544" y="1348625"/>
            <a:chExt cx="1079092" cy="1231997"/>
          </a:xfrm>
        </p:grpSpPr>
        <p:sp>
          <p:nvSpPr>
            <p:cNvPr id="39" name="TextBox 31">
              <a:extLst>
                <a:ext uri="{FF2B5EF4-FFF2-40B4-BE49-F238E27FC236}">
                  <a16:creationId xmlns:a16="http://schemas.microsoft.com/office/drawing/2014/main" id="{DA013E03-7963-F2CC-3F3D-5AE7CA9619FF}"/>
                </a:ext>
              </a:extLst>
            </p:cNvPr>
            <p:cNvSpPr txBox="1"/>
            <p:nvPr/>
          </p:nvSpPr>
          <p:spPr>
            <a:xfrm>
              <a:off x="9552544" y="2293847"/>
              <a:ext cx="1079092" cy="286775"/>
            </a:xfrm>
            <a:prstGeom prst="rect">
              <a:avLst/>
            </a:prstGeom>
            <a:noFill/>
          </p:spPr>
          <p:txBody>
            <a:bodyPr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Semibold"/>
                  <a:ea typeface="+mn-ea"/>
                  <a:cs typeface="+mn-cs"/>
                </a:rPr>
                <a:t>Motion</a:t>
              </a:r>
            </a:p>
          </p:txBody>
        </p:sp>
        <p:grpSp>
          <p:nvGrpSpPr>
            <p:cNvPr id="40" name="Grupo 125">
              <a:extLst>
                <a:ext uri="{FF2B5EF4-FFF2-40B4-BE49-F238E27FC236}">
                  <a16:creationId xmlns:a16="http://schemas.microsoft.com/office/drawing/2014/main" id="{553C90B0-BF47-2BB3-F803-121C32ECE74B}"/>
                </a:ext>
              </a:extLst>
            </p:cNvPr>
            <p:cNvGrpSpPr/>
            <p:nvPr/>
          </p:nvGrpSpPr>
          <p:grpSpPr bwMode="auto">
            <a:xfrm>
              <a:off x="9570877" y="1348625"/>
              <a:ext cx="1018488" cy="1018489"/>
              <a:chOff x="9570877" y="1348625"/>
              <a:chExt cx="1018488" cy="1018489"/>
            </a:xfrm>
          </p:grpSpPr>
          <p:sp>
            <p:nvSpPr>
              <p:cNvPr id="41" name="Elipse 126">
                <a:extLst>
                  <a:ext uri="{FF2B5EF4-FFF2-40B4-BE49-F238E27FC236}">
                    <a16:creationId xmlns:a16="http://schemas.microsoft.com/office/drawing/2014/main" id="{EFC5994F-FE59-227C-6B25-225691900F0E}"/>
                  </a:ext>
                </a:extLst>
              </p:cNvPr>
              <p:cNvSpPr/>
              <p:nvPr/>
            </p:nvSpPr>
            <p:spPr>
              <a:xfrm>
                <a:off x="9659895" y="1409121"/>
                <a:ext cx="864389" cy="86425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pic>
            <p:nvPicPr>
              <p:cNvPr id="42" name="Imagen 127">
                <a:extLst>
                  <a:ext uri="{FF2B5EF4-FFF2-40B4-BE49-F238E27FC236}">
                    <a16:creationId xmlns:a16="http://schemas.microsoft.com/office/drawing/2014/main" id="{3586B926-54B0-5BA8-09DE-F03BFEB3B9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email"/>
              <a:srcRect/>
              <a:stretch>
                <a:fillRect/>
              </a:stretch>
            </p:blipFill>
            <p:spPr bwMode="auto">
              <a:xfrm>
                <a:off x="9570877" y="1348625"/>
                <a:ext cx="1018488" cy="10184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43" name="组合 19">
            <a:extLst>
              <a:ext uri="{FF2B5EF4-FFF2-40B4-BE49-F238E27FC236}">
                <a16:creationId xmlns:a16="http://schemas.microsoft.com/office/drawing/2014/main" id="{C5025D32-2EAE-514D-892F-E29FF688122F}"/>
              </a:ext>
            </a:extLst>
          </p:cNvPr>
          <p:cNvGrpSpPr/>
          <p:nvPr/>
        </p:nvGrpSpPr>
        <p:grpSpPr>
          <a:xfrm>
            <a:off x="10911205" y="5441999"/>
            <a:ext cx="539750" cy="539750"/>
            <a:chOff x="17564" y="7728"/>
            <a:chExt cx="850" cy="850"/>
          </a:xfrm>
        </p:grpSpPr>
        <p:sp>
          <p:nvSpPr>
            <p:cNvPr id="44" name="椭圆 17">
              <a:extLst>
                <a:ext uri="{FF2B5EF4-FFF2-40B4-BE49-F238E27FC236}">
                  <a16:creationId xmlns:a16="http://schemas.microsoft.com/office/drawing/2014/main" id="{11BB7EEC-C524-6B42-882A-15D63D8D1BDA}"/>
                </a:ext>
              </a:extLst>
            </p:cNvPr>
            <p:cNvSpPr/>
            <p:nvPr/>
          </p:nvSpPr>
          <p:spPr>
            <a:xfrm>
              <a:off x="17564" y="7728"/>
              <a:ext cx="850" cy="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45" name="图片 15" descr="毫米波雷达">
              <a:extLst>
                <a:ext uri="{FF2B5EF4-FFF2-40B4-BE49-F238E27FC236}">
                  <a16:creationId xmlns:a16="http://schemas.microsoft.com/office/drawing/2014/main" id="{452BB9EA-F127-5FEC-7839-F8AF2E92A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7689" y="7732"/>
              <a:ext cx="609" cy="609"/>
            </a:xfrm>
            <a:prstGeom prst="rect">
              <a:avLst/>
            </a:prstGeom>
          </p:spPr>
        </p:pic>
      </p:grpSp>
      <p:sp>
        <p:nvSpPr>
          <p:cNvPr id="46" name="TextBox 107">
            <a:extLst>
              <a:ext uri="{FF2B5EF4-FFF2-40B4-BE49-F238E27FC236}">
                <a16:creationId xmlns:a16="http://schemas.microsoft.com/office/drawing/2014/main" id="{A32E9757-DFDE-9215-249B-6542677EDE31}"/>
              </a:ext>
            </a:extLst>
          </p:cNvPr>
          <p:cNvSpPr txBox="1"/>
          <p:nvPr/>
        </p:nvSpPr>
        <p:spPr>
          <a:xfrm>
            <a:off x="10990580" y="6122318"/>
            <a:ext cx="575310" cy="161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毫米波</a:t>
            </a:r>
          </a:p>
        </p:txBody>
      </p:sp>
      <p:sp>
        <p:nvSpPr>
          <p:cNvPr id="47" name="Rectangle 84">
            <a:extLst>
              <a:ext uri="{FF2B5EF4-FFF2-40B4-BE49-F238E27FC236}">
                <a16:creationId xmlns:a16="http://schemas.microsoft.com/office/drawing/2014/main" id="{13FB8FBB-E4A2-D417-9613-E49F0E10A1B1}"/>
              </a:ext>
            </a:extLst>
          </p:cNvPr>
          <p:cNvSpPr/>
          <p:nvPr/>
        </p:nvSpPr>
        <p:spPr>
          <a:xfrm>
            <a:off x="148590" y="1317625"/>
            <a:ext cx="2256790" cy="3361690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8" name="组合 13">
            <a:extLst>
              <a:ext uri="{FF2B5EF4-FFF2-40B4-BE49-F238E27FC236}">
                <a16:creationId xmlns:a16="http://schemas.microsoft.com/office/drawing/2014/main" id="{D3AA5102-3424-F736-33E6-7074007B061F}"/>
              </a:ext>
            </a:extLst>
          </p:cNvPr>
          <p:cNvGrpSpPr/>
          <p:nvPr/>
        </p:nvGrpSpPr>
        <p:grpSpPr>
          <a:xfrm>
            <a:off x="239206" y="3189605"/>
            <a:ext cx="1482743" cy="1359281"/>
            <a:chOff x="4911" y="1570"/>
            <a:chExt cx="1062" cy="973"/>
          </a:xfrm>
        </p:grpSpPr>
        <p:pic>
          <p:nvPicPr>
            <p:cNvPr id="49" name="图片 67">
              <a:extLst>
                <a:ext uri="{FF2B5EF4-FFF2-40B4-BE49-F238E27FC236}">
                  <a16:creationId xmlns:a16="http://schemas.microsoft.com/office/drawing/2014/main" id="{AAE381DE-CD70-D681-280F-772620FF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391" y="1570"/>
              <a:ext cx="486" cy="39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0" name="图片 71">
              <a:extLst>
                <a:ext uri="{FF2B5EF4-FFF2-40B4-BE49-F238E27FC236}">
                  <a16:creationId xmlns:a16="http://schemas.microsoft.com/office/drawing/2014/main" id="{6765EC1C-F626-341E-F232-D67C5D6EF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11" y="1572"/>
              <a:ext cx="309" cy="37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" name="图片 10">
              <a:extLst>
                <a:ext uri="{FF2B5EF4-FFF2-40B4-BE49-F238E27FC236}">
                  <a16:creationId xmlns:a16="http://schemas.microsoft.com/office/drawing/2014/main" id="{0C3574FB-5B2C-5A3C-70DD-90176B1C7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8840000">
              <a:off x="5346" y="1916"/>
              <a:ext cx="635" cy="619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52" name="图片 99" descr="图片 99">
            <a:extLst>
              <a:ext uri="{FF2B5EF4-FFF2-40B4-BE49-F238E27FC236}">
                <a16:creationId xmlns:a16="http://schemas.microsoft.com/office/drawing/2014/main" id="{A644EA17-7B05-E529-034F-714F2771D39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580" y="2423160"/>
            <a:ext cx="837565" cy="6540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3" name="图片 114" descr="图片 114">
            <a:extLst>
              <a:ext uri="{FF2B5EF4-FFF2-40B4-BE49-F238E27FC236}">
                <a16:creationId xmlns:a16="http://schemas.microsoft.com/office/drawing/2014/main" id="{AEA02E82-0F39-0A5B-1BB6-8386D0E3F1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33050" y="3161998"/>
            <a:ext cx="549992" cy="54999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4" name="图片 9">
            <a:extLst>
              <a:ext uri="{FF2B5EF4-FFF2-40B4-BE49-F238E27FC236}">
                <a16:creationId xmlns:a16="http://schemas.microsoft.com/office/drawing/2014/main" id="{AE2AED5F-F352-9BAE-0689-D4909287722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840000">
            <a:off x="2724150" y="1315720"/>
            <a:ext cx="5281930" cy="3959860"/>
          </a:xfrm>
          <a:prstGeom prst="rect">
            <a:avLst/>
          </a:prstGeom>
        </p:spPr>
      </p:pic>
      <p:grpSp>
        <p:nvGrpSpPr>
          <p:cNvPr id="55" name="组合 22">
            <a:extLst>
              <a:ext uri="{FF2B5EF4-FFF2-40B4-BE49-F238E27FC236}">
                <a16:creationId xmlns:a16="http://schemas.microsoft.com/office/drawing/2014/main" id="{7855B6A3-E25E-627B-EA82-3D0CA7638856}"/>
              </a:ext>
            </a:extLst>
          </p:cNvPr>
          <p:cNvGrpSpPr/>
          <p:nvPr/>
        </p:nvGrpSpPr>
        <p:grpSpPr>
          <a:xfrm>
            <a:off x="2720975" y="1897380"/>
            <a:ext cx="1646555" cy="1576705"/>
            <a:chOff x="12805" y="540"/>
            <a:chExt cx="3590" cy="3436"/>
          </a:xfrm>
        </p:grpSpPr>
        <p:sp>
          <p:nvSpPr>
            <p:cNvPr id="56" name="椭圆 23">
              <a:extLst>
                <a:ext uri="{FF2B5EF4-FFF2-40B4-BE49-F238E27FC236}">
                  <a16:creationId xmlns:a16="http://schemas.microsoft.com/office/drawing/2014/main" id="{8F4578C4-D039-66B5-D7B6-B07C1C49A06D}"/>
                </a:ext>
              </a:extLst>
            </p:cNvPr>
            <p:cNvSpPr/>
            <p:nvPr/>
          </p:nvSpPr>
          <p:spPr>
            <a:xfrm>
              <a:off x="12805" y="540"/>
              <a:ext cx="3590" cy="3436"/>
            </a:xfrm>
            <a:prstGeom prst="ellipse">
              <a:avLst/>
            </a:prstGeom>
            <a:solidFill>
              <a:srgbClr val="00B0F0">
                <a:alpha val="32000"/>
              </a:srgbClr>
            </a:solidFill>
            <a:ln>
              <a:noFill/>
            </a:ln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pic>
          <p:nvPicPr>
            <p:cNvPr id="57" name="图片 99" descr="图片 99">
              <a:extLst>
                <a:ext uri="{FF2B5EF4-FFF2-40B4-BE49-F238E27FC236}">
                  <a16:creationId xmlns:a16="http://schemas.microsoft.com/office/drawing/2014/main" id="{A92DD8E4-E902-A23C-1FC2-AFA6406A5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121" y="2029"/>
              <a:ext cx="743" cy="58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pic>
        <p:nvPicPr>
          <p:cNvPr id="58" name="图片 114" descr="图片 114">
            <a:extLst>
              <a:ext uri="{FF2B5EF4-FFF2-40B4-BE49-F238E27FC236}">
                <a16:creationId xmlns:a16="http://schemas.microsoft.com/office/drawing/2014/main" id="{DDE5537D-D275-1158-3F0E-3568EAA62C1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6935" y="3198495"/>
            <a:ext cx="487045" cy="4870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9" name="Isosceles Triangle 24">
            <a:extLst>
              <a:ext uri="{FF2B5EF4-FFF2-40B4-BE49-F238E27FC236}">
                <a16:creationId xmlns:a16="http://schemas.microsoft.com/office/drawing/2014/main" id="{3F371F80-2127-B1FC-D5C4-4CB2D476C3B4}"/>
              </a:ext>
            </a:extLst>
          </p:cNvPr>
          <p:cNvSpPr/>
          <p:nvPr/>
        </p:nvSpPr>
        <p:spPr>
          <a:xfrm rot="11880000">
            <a:off x="3632200" y="1631950"/>
            <a:ext cx="425450" cy="1113155"/>
          </a:xfrm>
          <a:custGeom>
            <a:avLst/>
            <a:gdLst>
              <a:gd name="connsiteX0" fmla="*/ 0 w 670"/>
              <a:gd name="connsiteY0" fmla="*/ 1426 h 1753"/>
              <a:gd name="connsiteX1" fmla="*/ 670 w 670"/>
              <a:gd name="connsiteY1" fmla="*/ 0 h 1753"/>
              <a:gd name="connsiteX2" fmla="*/ 161 w 670"/>
              <a:gd name="connsiteY2" fmla="*/ 1753 h 1753"/>
              <a:gd name="connsiteX3" fmla="*/ 0 w 670"/>
              <a:gd name="connsiteY3" fmla="*/ 1426 h 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" h="1753">
                <a:moveTo>
                  <a:pt x="0" y="1426"/>
                </a:moveTo>
                <a:lnTo>
                  <a:pt x="670" y="0"/>
                </a:lnTo>
                <a:lnTo>
                  <a:pt x="161" y="1753"/>
                </a:lnTo>
                <a:lnTo>
                  <a:pt x="0" y="1426"/>
                </a:lnTo>
                <a:close/>
              </a:path>
            </a:pathLst>
          </a:custGeom>
          <a:solidFill>
            <a:srgbClr val="0F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  <a:sym typeface="Arial" panose="020B0604020202020204"/>
            </a:endParaRPr>
          </a:p>
        </p:txBody>
      </p:sp>
      <p:sp>
        <p:nvSpPr>
          <p:cNvPr id="60" name="Rectangle 80">
            <a:extLst>
              <a:ext uri="{FF2B5EF4-FFF2-40B4-BE49-F238E27FC236}">
                <a16:creationId xmlns:a16="http://schemas.microsoft.com/office/drawing/2014/main" id="{0FF72B14-CDF5-BF7A-0027-B87192AEC849}"/>
              </a:ext>
            </a:extLst>
          </p:cNvPr>
          <p:cNvSpPr/>
          <p:nvPr/>
        </p:nvSpPr>
        <p:spPr>
          <a:xfrm>
            <a:off x="3296900" y="1393697"/>
            <a:ext cx="1808348" cy="712169"/>
          </a:xfrm>
          <a:prstGeom prst="rect">
            <a:avLst/>
          </a:prstGeom>
          <a:solidFill>
            <a:srgbClr val="0F8287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889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rPr>
              <a:t>无线</a:t>
            </a:r>
          </a:p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rPr>
              <a:t>智能网关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  <a:sym typeface="Arial" panose="020B0604020202020204"/>
            </a:endParaRPr>
          </a:p>
        </p:txBody>
      </p:sp>
      <p:sp>
        <p:nvSpPr>
          <p:cNvPr id="61" name="Isosceles Triangle 24">
            <a:extLst>
              <a:ext uri="{FF2B5EF4-FFF2-40B4-BE49-F238E27FC236}">
                <a16:creationId xmlns:a16="http://schemas.microsoft.com/office/drawing/2014/main" id="{BD512F6B-0C0E-F07C-386A-D21FC14A2119}"/>
              </a:ext>
            </a:extLst>
          </p:cNvPr>
          <p:cNvSpPr/>
          <p:nvPr/>
        </p:nvSpPr>
        <p:spPr>
          <a:xfrm rot="720000">
            <a:off x="7313295" y="3490595"/>
            <a:ext cx="135890" cy="845185"/>
          </a:xfrm>
          <a:custGeom>
            <a:avLst/>
            <a:gdLst>
              <a:gd name="connsiteX0" fmla="*/ 0 w 670"/>
              <a:gd name="connsiteY0" fmla="*/ 1426 h 1753"/>
              <a:gd name="connsiteX1" fmla="*/ 670 w 670"/>
              <a:gd name="connsiteY1" fmla="*/ 0 h 1753"/>
              <a:gd name="connsiteX2" fmla="*/ 161 w 670"/>
              <a:gd name="connsiteY2" fmla="*/ 1753 h 1753"/>
              <a:gd name="connsiteX3" fmla="*/ 0 w 670"/>
              <a:gd name="connsiteY3" fmla="*/ 1426 h 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" h="1753">
                <a:moveTo>
                  <a:pt x="0" y="1426"/>
                </a:moveTo>
                <a:lnTo>
                  <a:pt x="670" y="0"/>
                </a:lnTo>
                <a:lnTo>
                  <a:pt x="161" y="1753"/>
                </a:lnTo>
                <a:lnTo>
                  <a:pt x="0" y="1426"/>
                </a:lnTo>
                <a:close/>
              </a:path>
            </a:pathLst>
          </a:custGeom>
          <a:solidFill>
            <a:srgbClr val="0F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  <a:sym typeface="Arial" panose="020B0604020202020204"/>
            </a:endParaRPr>
          </a:p>
        </p:txBody>
      </p:sp>
      <p:sp>
        <p:nvSpPr>
          <p:cNvPr id="62" name="Rectangle 80">
            <a:extLst>
              <a:ext uri="{FF2B5EF4-FFF2-40B4-BE49-F238E27FC236}">
                <a16:creationId xmlns:a16="http://schemas.microsoft.com/office/drawing/2014/main" id="{0FA62A66-08AC-AC05-4478-1C63403143D1}"/>
              </a:ext>
            </a:extLst>
          </p:cNvPr>
          <p:cNvSpPr/>
          <p:nvPr/>
        </p:nvSpPr>
        <p:spPr>
          <a:xfrm>
            <a:off x="6508115" y="4090035"/>
            <a:ext cx="1205865" cy="471805"/>
          </a:xfrm>
          <a:prstGeom prst="rect">
            <a:avLst/>
          </a:prstGeom>
          <a:solidFill>
            <a:srgbClr val="0F8287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889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rPr>
              <a:t>检测阳光</a:t>
            </a:r>
          </a:p>
        </p:txBody>
      </p:sp>
      <p:pic>
        <p:nvPicPr>
          <p:cNvPr id="63" name="图片 34">
            <a:extLst>
              <a:ext uri="{FF2B5EF4-FFF2-40B4-BE49-F238E27FC236}">
                <a16:creationId xmlns:a16="http://schemas.microsoft.com/office/drawing/2014/main" id="{DAE6B494-DCFF-26E8-B891-513AACB9DEBD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18840000">
            <a:off x="5839460" y="3023235"/>
            <a:ext cx="558165" cy="5441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" name="Isosceles Triangle 24">
            <a:extLst>
              <a:ext uri="{FF2B5EF4-FFF2-40B4-BE49-F238E27FC236}">
                <a16:creationId xmlns:a16="http://schemas.microsoft.com/office/drawing/2014/main" id="{45BC6027-E91D-C929-90D7-27D79EE115D6}"/>
              </a:ext>
            </a:extLst>
          </p:cNvPr>
          <p:cNvSpPr/>
          <p:nvPr/>
        </p:nvSpPr>
        <p:spPr>
          <a:xfrm rot="720000">
            <a:off x="6014720" y="3215640"/>
            <a:ext cx="212725" cy="450850"/>
          </a:xfrm>
          <a:custGeom>
            <a:avLst/>
            <a:gdLst>
              <a:gd name="connsiteX0" fmla="*/ 0 w 670"/>
              <a:gd name="connsiteY0" fmla="*/ 1426 h 1753"/>
              <a:gd name="connsiteX1" fmla="*/ 670 w 670"/>
              <a:gd name="connsiteY1" fmla="*/ 0 h 1753"/>
              <a:gd name="connsiteX2" fmla="*/ 161 w 670"/>
              <a:gd name="connsiteY2" fmla="*/ 1753 h 1753"/>
              <a:gd name="connsiteX3" fmla="*/ 0 w 670"/>
              <a:gd name="connsiteY3" fmla="*/ 1426 h 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" h="1753">
                <a:moveTo>
                  <a:pt x="0" y="1426"/>
                </a:moveTo>
                <a:lnTo>
                  <a:pt x="670" y="0"/>
                </a:lnTo>
                <a:lnTo>
                  <a:pt x="161" y="1753"/>
                </a:lnTo>
                <a:lnTo>
                  <a:pt x="0" y="1426"/>
                </a:lnTo>
                <a:close/>
              </a:path>
            </a:pathLst>
          </a:custGeom>
          <a:solidFill>
            <a:srgbClr val="0F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  <a:sym typeface="Arial" panose="020B0604020202020204"/>
            </a:endParaRPr>
          </a:p>
        </p:txBody>
      </p:sp>
      <p:sp>
        <p:nvSpPr>
          <p:cNvPr id="65" name="Rectangle 80">
            <a:extLst>
              <a:ext uri="{FF2B5EF4-FFF2-40B4-BE49-F238E27FC236}">
                <a16:creationId xmlns:a16="http://schemas.microsoft.com/office/drawing/2014/main" id="{9AA65C22-4D8C-4F73-87D0-99C554AB3710}"/>
              </a:ext>
            </a:extLst>
          </p:cNvPr>
          <p:cNvSpPr/>
          <p:nvPr/>
        </p:nvSpPr>
        <p:spPr>
          <a:xfrm>
            <a:off x="5429250" y="3422015"/>
            <a:ext cx="1205865" cy="471805"/>
          </a:xfrm>
          <a:prstGeom prst="rect">
            <a:avLst/>
          </a:prstGeom>
          <a:solidFill>
            <a:srgbClr val="0F8287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889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rPr>
              <a:t>控制器</a:t>
            </a:r>
          </a:p>
        </p:txBody>
      </p:sp>
      <p:pic>
        <p:nvPicPr>
          <p:cNvPr id="66" name="图片 38">
            <a:extLst>
              <a:ext uri="{FF2B5EF4-FFF2-40B4-BE49-F238E27FC236}">
                <a16:creationId xmlns:a16="http://schemas.microsoft.com/office/drawing/2014/main" id="{ACBDBA4D-1E6A-9EF8-DDD8-881B5739316C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3183255" y="3811905"/>
            <a:ext cx="295275" cy="3562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" name="图片 39">
            <a:extLst>
              <a:ext uri="{FF2B5EF4-FFF2-40B4-BE49-F238E27FC236}">
                <a16:creationId xmlns:a16="http://schemas.microsoft.com/office/drawing/2014/main" id="{BBFB983A-4C3E-1F5A-570D-1E33322E1C98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75735" y="3775075"/>
            <a:ext cx="262255" cy="3162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" name="图片 44" descr="wifi">
            <a:extLst>
              <a:ext uri="{FF2B5EF4-FFF2-40B4-BE49-F238E27FC236}">
                <a16:creationId xmlns:a16="http://schemas.microsoft.com/office/drawing/2014/main" id="{020D1202-EEEB-4133-D4FC-3CF4C1ECBE1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80000">
            <a:off x="3462238" y="3791459"/>
            <a:ext cx="123236" cy="191117"/>
          </a:xfrm>
          <a:prstGeom prst="rect">
            <a:avLst/>
          </a:prstGeom>
        </p:spPr>
      </p:pic>
      <p:pic>
        <p:nvPicPr>
          <p:cNvPr id="69" name="图片 41" descr="wifi">
            <a:extLst>
              <a:ext uri="{FF2B5EF4-FFF2-40B4-BE49-F238E27FC236}">
                <a16:creationId xmlns:a16="http://schemas.microsoft.com/office/drawing/2014/main" id="{B70A86B0-037A-4022-3EDC-3BC4AB5515C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80000">
            <a:off x="4238843" y="3699384"/>
            <a:ext cx="123236" cy="191117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68521887-4271-1973-80FE-923CE217D3C3}"/>
              </a:ext>
            </a:extLst>
          </p:cNvPr>
          <p:cNvSpPr txBox="1"/>
          <p:nvPr/>
        </p:nvSpPr>
        <p:spPr bwMode="gray">
          <a:xfrm>
            <a:off x="2999903" y="5773192"/>
            <a:ext cx="1096934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网关及</a:t>
            </a:r>
            <a:endParaRPr lang="en-US" altLang="zh-CN" sz="1200" kern="1200" dirty="0">
              <a:solidFill>
                <a:prstClr val="white"/>
              </a:solidFill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无线协转设备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E07E9912-8EA9-86BD-05DE-1307F61330B4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5" t="14794" r="15047"/>
          <a:stretch/>
        </p:blipFill>
        <p:spPr>
          <a:xfrm>
            <a:off x="542713" y="1409767"/>
            <a:ext cx="1470672" cy="113987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4E77942-9072-17A5-D080-BE4366654022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5" t="14794" r="15047"/>
          <a:stretch/>
        </p:blipFill>
        <p:spPr>
          <a:xfrm>
            <a:off x="4167053" y="4925026"/>
            <a:ext cx="940933" cy="729287"/>
          </a:xfrm>
          <a:prstGeom prst="rect">
            <a:avLst/>
          </a:prstGeom>
        </p:spPr>
      </p:pic>
      <p:sp>
        <p:nvSpPr>
          <p:cNvPr id="73" name="Title 1">
            <a:extLst>
              <a:ext uri="{FF2B5EF4-FFF2-40B4-BE49-F238E27FC236}">
                <a16:creationId xmlns:a16="http://schemas.microsoft.com/office/drawing/2014/main" id="{50C3A8ED-B06C-AD1D-801E-56E519BEDA90}"/>
              </a:ext>
            </a:extLst>
          </p:cNvPr>
          <p:cNvSpPr txBox="1">
            <a:spLocks/>
          </p:cNvSpPr>
          <p:nvPr/>
        </p:nvSpPr>
        <p:spPr>
          <a:xfrm>
            <a:off x="410400" y="372470"/>
            <a:ext cx="11438700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</a:pPr>
            <a:r>
              <a:rPr lang="zh-CN" altLang="en-US"/>
              <a:t>西门子</a:t>
            </a:r>
            <a:r>
              <a:rPr lang="en-US" altLang="zh-CN"/>
              <a:t>AIoT Lighting</a:t>
            </a:r>
            <a:r>
              <a:rPr lang="zh-CN" altLang="en-US"/>
              <a:t>软硬件一体化解决方案 </a:t>
            </a:r>
            <a:r>
              <a:rPr lang="en-US" altLang="zh-CN"/>
              <a:t>- </a:t>
            </a:r>
            <a:r>
              <a:rPr lang="zh-CN" altLang="en-US">
                <a:solidFill>
                  <a:srgbClr val="FF9000"/>
                </a:solidFill>
              </a:rPr>
              <a:t>无线照明</a:t>
            </a:r>
            <a:r>
              <a:rPr lang="en-US" altLang="zh-CN">
                <a:solidFill>
                  <a:srgbClr val="FF9000"/>
                </a:solidFill>
              </a:rPr>
              <a:t>+</a:t>
            </a:r>
            <a:r>
              <a:rPr lang="en-US">
                <a:solidFill>
                  <a:srgbClr val="FF9000"/>
                </a:solidFill>
              </a:rPr>
              <a:t>IoT</a:t>
            </a:r>
            <a:r>
              <a:rPr lang="zh-CN" altLang="en-US">
                <a:solidFill>
                  <a:srgbClr val="FF9000"/>
                </a:solidFill>
              </a:rPr>
              <a:t>物联</a:t>
            </a:r>
            <a:r>
              <a:rPr lang="en-US" altLang="zh-CN">
                <a:solidFill>
                  <a:srgbClr val="FF9000"/>
                </a:solidFill>
              </a:rPr>
              <a:t>+</a:t>
            </a:r>
            <a:r>
              <a:rPr lang="zh-CN" altLang="en-US">
                <a:solidFill>
                  <a:srgbClr val="FF9000"/>
                </a:solidFill>
              </a:rPr>
              <a:t>场景控制</a:t>
            </a:r>
            <a:endParaRPr lang="en-US" dirty="0">
              <a:solidFill>
                <a:srgbClr val="FF9000"/>
              </a:solidFill>
            </a:endParaRPr>
          </a:p>
        </p:txBody>
      </p:sp>
      <p:pic>
        <p:nvPicPr>
          <p:cNvPr id="74" name="Picture 92">
            <a:extLst>
              <a:ext uri="{FF2B5EF4-FFF2-40B4-BE49-F238E27FC236}">
                <a16:creationId xmlns:a16="http://schemas.microsoft.com/office/drawing/2014/main" id="{6E6C21C8-39D9-6430-937C-4FAD90938E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3709" y="3451850"/>
            <a:ext cx="322425" cy="388405"/>
          </a:xfrm>
          <a:prstGeom prst="rect">
            <a:avLst/>
          </a:prstGeom>
        </p:spPr>
      </p:pic>
      <p:sp>
        <p:nvSpPr>
          <p:cNvPr id="75" name="TextBox 7">
            <a:extLst>
              <a:ext uri="{FF2B5EF4-FFF2-40B4-BE49-F238E27FC236}">
                <a16:creationId xmlns:a16="http://schemas.microsoft.com/office/drawing/2014/main" id="{A44B8F53-773A-44CB-12D0-987DBE9D6D7D}"/>
              </a:ext>
            </a:extLst>
          </p:cNvPr>
          <p:cNvSpPr txBox="1"/>
          <p:nvPr/>
        </p:nvSpPr>
        <p:spPr>
          <a:xfrm>
            <a:off x="4474027" y="3202498"/>
            <a:ext cx="26330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功率</a:t>
            </a:r>
          </a:p>
        </p:txBody>
      </p:sp>
      <p:pic>
        <p:nvPicPr>
          <p:cNvPr id="76" name="Picture 94">
            <a:extLst>
              <a:ext uri="{FF2B5EF4-FFF2-40B4-BE49-F238E27FC236}">
                <a16:creationId xmlns:a16="http://schemas.microsoft.com/office/drawing/2014/main" id="{89C6C6C7-15FD-10F1-68B3-65D75370E8A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93757" y="1967934"/>
            <a:ext cx="462610" cy="564559"/>
          </a:xfrm>
          <a:prstGeom prst="rect">
            <a:avLst/>
          </a:prstGeom>
        </p:spPr>
      </p:pic>
      <p:sp>
        <p:nvSpPr>
          <p:cNvPr id="77" name="TextBox 7">
            <a:extLst>
              <a:ext uri="{FF2B5EF4-FFF2-40B4-BE49-F238E27FC236}">
                <a16:creationId xmlns:a16="http://schemas.microsoft.com/office/drawing/2014/main" id="{FB7F5AB3-0E30-EA71-E716-15535D163F48}"/>
              </a:ext>
            </a:extLst>
          </p:cNvPr>
          <p:cNvSpPr txBox="1"/>
          <p:nvPr/>
        </p:nvSpPr>
        <p:spPr>
          <a:xfrm>
            <a:off x="5357187" y="1744131"/>
            <a:ext cx="462610" cy="2028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温度</a:t>
            </a:r>
          </a:p>
        </p:txBody>
      </p:sp>
      <p:sp>
        <p:nvSpPr>
          <p:cNvPr id="78" name="Rectangle 123">
            <a:extLst>
              <a:ext uri="{FF2B5EF4-FFF2-40B4-BE49-F238E27FC236}">
                <a16:creationId xmlns:a16="http://schemas.microsoft.com/office/drawing/2014/main" id="{56214A50-39C5-910B-2E5C-66109A82373D}"/>
              </a:ext>
            </a:extLst>
          </p:cNvPr>
          <p:cNvSpPr/>
          <p:nvPr/>
        </p:nvSpPr>
        <p:spPr>
          <a:xfrm>
            <a:off x="6108306" y="1343933"/>
            <a:ext cx="1746718" cy="1157134"/>
          </a:xfrm>
          <a:prstGeom prst="rect">
            <a:avLst/>
          </a:prstGeom>
          <a:solidFill>
            <a:srgbClr val="171D47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9" name="TextBox 223">
            <a:extLst>
              <a:ext uri="{FF2B5EF4-FFF2-40B4-BE49-F238E27FC236}">
                <a16:creationId xmlns:a16="http://schemas.microsoft.com/office/drawing/2014/main" id="{39562987-D221-1A99-5D14-6DB4A56876A3}"/>
              </a:ext>
            </a:extLst>
          </p:cNvPr>
          <p:cNvSpPr txBox="1"/>
          <p:nvPr/>
        </p:nvSpPr>
        <p:spPr>
          <a:xfrm>
            <a:off x="6184283" y="1416501"/>
            <a:ext cx="1614668" cy="12225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先进物联网传感技术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   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多触点感知无线传感器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CN" altLang="en-US" sz="11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多维度页面展示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分析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CN" sz="11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AI</a:t>
            </a:r>
            <a:r>
              <a:rPr lang="zh-CN" altLang="en-US" sz="11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赋能运维及决策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A383FC0-489F-523C-8C2A-CD32F339123B}"/>
              </a:ext>
            </a:extLst>
          </p:cNvPr>
          <p:cNvGrpSpPr/>
          <p:nvPr/>
        </p:nvGrpSpPr>
        <p:grpSpPr>
          <a:xfrm>
            <a:off x="11155601" y="705485"/>
            <a:ext cx="614680" cy="581660"/>
            <a:chOff x="11155601" y="705485"/>
            <a:chExt cx="614680" cy="581660"/>
          </a:xfrm>
        </p:grpSpPr>
        <p:sp>
          <p:nvSpPr>
            <p:cNvPr id="82" name="Freihandform: Form 204">
              <a:extLst>
                <a:ext uri="{FF2B5EF4-FFF2-40B4-BE49-F238E27FC236}">
                  <a16:creationId xmlns:a16="http://schemas.microsoft.com/office/drawing/2014/main" id="{60ECED08-A30F-C302-0975-524693626673}"/>
                </a:ext>
              </a:extLst>
            </p:cNvPr>
            <p:cNvSpPr/>
            <p:nvPr/>
          </p:nvSpPr>
          <p:spPr bwMode="gray">
            <a:xfrm>
              <a:off x="11155601" y="705485"/>
              <a:ext cx="614680" cy="581660"/>
            </a:xfrm>
            <a:custGeom>
              <a:avLst/>
              <a:gdLst>
                <a:gd name="connsiteX0" fmla="*/ 0 w 562755"/>
                <a:gd name="connsiteY0" fmla="*/ 0 h 532306"/>
                <a:gd name="connsiteX1" fmla="*/ 30422 w 562755"/>
                <a:gd name="connsiteY1" fmla="*/ 365012 h 532306"/>
                <a:gd name="connsiteX2" fmla="*/ 289895 w 562755"/>
                <a:gd name="connsiteY2" fmla="*/ 365012 h 532306"/>
                <a:gd name="connsiteX3" fmla="*/ 456278 w 562755"/>
                <a:gd name="connsiteY3" fmla="*/ 532306 h 532306"/>
                <a:gd name="connsiteX4" fmla="*/ 456278 w 562755"/>
                <a:gd name="connsiteY4" fmla="*/ 365012 h 532306"/>
                <a:gd name="connsiteX5" fmla="*/ 532333 w 562755"/>
                <a:gd name="connsiteY5" fmla="*/ 365012 h 532306"/>
                <a:gd name="connsiteX6" fmla="*/ 562755 w 562755"/>
                <a:gd name="connsiteY6" fmla="*/ 0 h 532306"/>
                <a:gd name="connsiteX7" fmla="*/ 0 w 562755"/>
                <a:gd name="connsiteY7" fmla="*/ 0 h 53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55" h="532306">
                  <a:moveTo>
                    <a:pt x="0" y="0"/>
                  </a:moveTo>
                  <a:lnTo>
                    <a:pt x="30422" y="365012"/>
                  </a:lnTo>
                  <a:lnTo>
                    <a:pt x="289895" y="365012"/>
                  </a:lnTo>
                  <a:lnTo>
                    <a:pt x="456278" y="532306"/>
                  </a:lnTo>
                  <a:lnTo>
                    <a:pt x="456278" y="365012"/>
                  </a:lnTo>
                  <a:lnTo>
                    <a:pt x="532333" y="365012"/>
                  </a:lnTo>
                  <a:lnTo>
                    <a:pt x="56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3" name="Freihandform: Form 205">
              <a:extLst>
                <a:ext uri="{FF2B5EF4-FFF2-40B4-BE49-F238E27FC236}">
                  <a16:creationId xmlns:a16="http://schemas.microsoft.com/office/drawing/2014/main" id="{C3A54F0C-C4B5-BACB-B6B7-7E1454FE1294}"/>
                </a:ext>
              </a:extLst>
            </p:cNvPr>
            <p:cNvSpPr/>
            <p:nvPr/>
          </p:nvSpPr>
          <p:spPr bwMode="gray">
            <a:xfrm>
              <a:off x="11300381" y="775335"/>
              <a:ext cx="325755" cy="244475"/>
            </a:xfrm>
            <a:custGeom>
              <a:avLst/>
              <a:gdLst>
                <a:gd name="connsiteX0" fmla="*/ 546954 w 546953"/>
                <a:gd name="connsiteY0" fmla="*/ 56337 h 410644"/>
                <a:gd name="connsiteX1" fmla="*/ 191198 w 546953"/>
                <a:gd name="connsiteY1" fmla="*/ 410645 h 410644"/>
                <a:gd name="connsiteX2" fmla="*/ 0 w 546953"/>
                <a:gd name="connsiteY2" fmla="*/ 219071 h 410644"/>
                <a:gd name="connsiteX3" fmla="*/ 56954 w 546953"/>
                <a:gd name="connsiteY3" fmla="*/ 162734 h 410644"/>
                <a:gd name="connsiteX4" fmla="*/ 179447 w 546953"/>
                <a:gd name="connsiteY4" fmla="*/ 269104 h 410644"/>
                <a:gd name="connsiteX5" fmla="*/ 490456 w 546953"/>
                <a:gd name="connsiteY5" fmla="*/ 0 h 410644"/>
                <a:gd name="connsiteX6" fmla="*/ 546954 w 546953"/>
                <a:gd name="connsiteY6" fmla="*/ 56337 h 410644"/>
                <a:gd name="connsiteX7" fmla="*/ 546954 w 546953"/>
                <a:gd name="connsiteY7" fmla="*/ 56337 h 41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6953" h="410644">
                  <a:moveTo>
                    <a:pt x="546954" y="56337"/>
                  </a:moveTo>
                  <a:lnTo>
                    <a:pt x="191198" y="410645"/>
                  </a:lnTo>
                  <a:lnTo>
                    <a:pt x="0" y="219071"/>
                  </a:lnTo>
                  <a:lnTo>
                    <a:pt x="56954" y="162734"/>
                  </a:lnTo>
                  <a:lnTo>
                    <a:pt x="179447" y="269104"/>
                  </a:lnTo>
                  <a:lnTo>
                    <a:pt x="490456" y="0"/>
                  </a:lnTo>
                  <a:lnTo>
                    <a:pt x="546954" y="56337"/>
                  </a:lnTo>
                  <a:lnTo>
                    <a:pt x="546954" y="56337"/>
                  </a:lnTo>
                  <a:close/>
                </a:path>
              </a:pathLst>
            </a:custGeom>
            <a:solidFill>
              <a:schemeClr val="tx1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428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DA4A3-9A24-D821-5276-A3537B072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81A9394-1F13-763A-0B79-6A4A56D221F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4510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624" imgH="623" progId="TCLayout.ActiveDocument.1">
                  <p:embed/>
                </p:oleObj>
              </mc:Choice>
              <mc:Fallback>
                <p:oleObj name="think-cell Slide" r:id="rId4" imgW="624" imgH="62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FD4795-017B-4086-248D-EF4563CEF7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4C5676B-8255-8EC0-8296-61819B149C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719" y="1553845"/>
            <a:ext cx="4696480" cy="44487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E7DA92-1D05-74BE-67AE-B0EF44277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西门子</a:t>
            </a:r>
            <a:r>
              <a:rPr lang="en-US" altLang="zh-CN" dirty="0"/>
              <a:t>AIoT Lighting</a:t>
            </a:r>
            <a:r>
              <a:rPr lang="zh-CN" altLang="en-US" dirty="0"/>
              <a:t>软硬件一体化解决方案 </a:t>
            </a:r>
            <a:r>
              <a:rPr lang="en-US" altLang="zh-CN" dirty="0"/>
              <a:t>– </a:t>
            </a:r>
            <a:r>
              <a:rPr lang="zh-CN" altLang="en-US" dirty="0">
                <a:solidFill>
                  <a:srgbClr val="FF9000"/>
                </a:solidFill>
              </a:rPr>
              <a:t>空间场景</a:t>
            </a:r>
            <a:r>
              <a:rPr lang="en-US" altLang="zh-CN" dirty="0">
                <a:solidFill>
                  <a:srgbClr val="FF9000"/>
                </a:solidFill>
              </a:rPr>
              <a:t>AI</a:t>
            </a:r>
            <a:r>
              <a:rPr lang="zh-CN" altLang="en-US" dirty="0">
                <a:solidFill>
                  <a:srgbClr val="FF9000"/>
                </a:solidFill>
              </a:rPr>
              <a:t>赋能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760DB-EE67-A291-957B-C3E7E63B11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2025 | SI B CN | AIoT Lighting V1.0 | 2025-10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2A3737-40B7-C05C-695E-87C121425A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17FA54A-119E-9D40-C04E-3E777F7D958D}"/>
              </a:ext>
            </a:extLst>
          </p:cNvPr>
          <p:cNvGrpSpPr/>
          <p:nvPr/>
        </p:nvGrpSpPr>
        <p:grpSpPr>
          <a:xfrm>
            <a:off x="11155601" y="705485"/>
            <a:ext cx="614680" cy="581660"/>
            <a:chOff x="11155601" y="705485"/>
            <a:chExt cx="614680" cy="581660"/>
          </a:xfrm>
        </p:grpSpPr>
        <p:sp>
          <p:nvSpPr>
            <p:cNvPr id="22" name="Freihandform: Form 204">
              <a:extLst>
                <a:ext uri="{FF2B5EF4-FFF2-40B4-BE49-F238E27FC236}">
                  <a16:creationId xmlns:a16="http://schemas.microsoft.com/office/drawing/2014/main" id="{57DC56C5-0A1C-82AC-971C-27E368549EA1}"/>
                </a:ext>
              </a:extLst>
            </p:cNvPr>
            <p:cNvSpPr/>
            <p:nvPr/>
          </p:nvSpPr>
          <p:spPr bwMode="gray">
            <a:xfrm>
              <a:off x="11155601" y="705485"/>
              <a:ext cx="614680" cy="581660"/>
            </a:xfrm>
            <a:custGeom>
              <a:avLst/>
              <a:gdLst>
                <a:gd name="connsiteX0" fmla="*/ 0 w 562755"/>
                <a:gd name="connsiteY0" fmla="*/ 0 h 532306"/>
                <a:gd name="connsiteX1" fmla="*/ 30422 w 562755"/>
                <a:gd name="connsiteY1" fmla="*/ 365012 h 532306"/>
                <a:gd name="connsiteX2" fmla="*/ 289895 w 562755"/>
                <a:gd name="connsiteY2" fmla="*/ 365012 h 532306"/>
                <a:gd name="connsiteX3" fmla="*/ 456278 w 562755"/>
                <a:gd name="connsiteY3" fmla="*/ 532306 h 532306"/>
                <a:gd name="connsiteX4" fmla="*/ 456278 w 562755"/>
                <a:gd name="connsiteY4" fmla="*/ 365012 h 532306"/>
                <a:gd name="connsiteX5" fmla="*/ 532333 w 562755"/>
                <a:gd name="connsiteY5" fmla="*/ 365012 h 532306"/>
                <a:gd name="connsiteX6" fmla="*/ 562755 w 562755"/>
                <a:gd name="connsiteY6" fmla="*/ 0 h 532306"/>
                <a:gd name="connsiteX7" fmla="*/ 0 w 562755"/>
                <a:gd name="connsiteY7" fmla="*/ 0 h 53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55" h="532306">
                  <a:moveTo>
                    <a:pt x="0" y="0"/>
                  </a:moveTo>
                  <a:lnTo>
                    <a:pt x="30422" y="365012"/>
                  </a:lnTo>
                  <a:lnTo>
                    <a:pt x="289895" y="365012"/>
                  </a:lnTo>
                  <a:lnTo>
                    <a:pt x="456278" y="532306"/>
                  </a:lnTo>
                  <a:lnTo>
                    <a:pt x="456278" y="365012"/>
                  </a:lnTo>
                  <a:lnTo>
                    <a:pt x="532333" y="365012"/>
                  </a:lnTo>
                  <a:lnTo>
                    <a:pt x="56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Freihandform: Form 205">
              <a:extLst>
                <a:ext uri="{FF2B5EF4-FFF2-40B4-BE49-F238E27FC236}">
                  <a16:creationId xmlns:a16="http://schemas.microsoft.com/office/drawing/2014/main" id="{67FBD78D-B1EE-008E-7323-7928AEEEB2F1}"/>
                </a:ext>
              </a:extLst>
            </p:cNvPr>
            <p:cNvSpPr/>
            <p:nvPr/>
          </p:nvSpPr>
          <p:spPr bwMode="gray">
            <a:xfrm>
              <a:off x="11300381" y="775335"/>
              <a:ext cx="325755" cy="244475"/>
            </a:xfrm>
            <a:custGeom>
              <a:avLst/>
              <a:gdLst>
                <a:gd name="connsiteX0" fmla="*/ 546954 w 546953"/>
                <a:gd name="connsiteY0" fmla="*/ 56337 h 410644"/>
                <a:gd name="connsiteX1" fmla="*/ 191198 w 546953"/>
                <a:gd name="connsiteY1" fmla="*/ 410645 h 410644"/>
                <a:gd name="connsiteX2" fmla="*/ 0 w 546953"/>
                <a:gd name="connsiteY2" fmla="*/ 219071 h 410644"/>
                <a:gd name="connsiteX3" fmla="*/ 56954 w 546953"/>
                <a:gd name="connsiteY3" fmla="*/ 162734 h 410644"/>
                <a:gd name="connsiteX4" fmla="*/ 179447 w 546953"/>
                <a:gd name="connsiteY4" fmla="*/ 269104 h 410644"/>
                <a:gd name="connsiteX5" fmla="*/ 490456 w 546953"/>
                <a:gd name="connsiteY5" fmla="*/ 0 h 410644"/>
                <a:gd name="connsiteX6" fmla="*/ 546954 w 546953"/>
                <a:gd name="connsiteY6" fmla="*/ 56337 h 410644"/>
                <a:gd name="connsiteX7" fmla="*/ 546954 w 546953"/>
                <a:gd name="connsiteY7" fmla="*/ 56337 h 41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6953" h="410644">
                  <a:moveTo>
                    <a:pt x="546954" y="56337"/>
                  </a:moveTo>
                  <a:lnTo>
                    <a:pt x="191198" y="410645"/>
                  </a:lnTo>
                  <a:lnTo>
                    <a:pt x="0" y="219071"/>
                  </a:lnTo>
                  <a:lnTo>
                    <a:pt x="56954" y="162734"/>
                  </a:lnTo>
                  <a:lnTo>
                    <a:pt x="179447" y="269104"/>
                  </a:lnTo>
                  <a:lnTo>
                    <a:pt x="490456" y="0"/>
                  </a:lnTo>
                  <a:lnTo>
                    <a:pt x="546954" y="56337"/>
                  </a:lnTo>
                  <a:lnTo>
                    <a:pt x="546954" y="56337"/>
                  </a:lnTo>
                  <a:close/>
                </a:path>
              </a:pathLst>
            </a:custGeom>
            <a:solidFill>
              <a:schemeClr val="tx1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1154DE0-61EF-B03F-7DCF-B222ED0EEB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6621" y="1891044"/>
            <a:ext cx="2151467" cy="44487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0837CA-5F93-78DA-D243-C812F75808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7846" y="3905250"/>
            <a:ext cx="4094216" cy="24345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7785B3B-EA5D-32D4-5F29-89AEEAB14885}"/>
              </a:ext>
            </a:extLst>
          </p:cNvPr>
          <p:cNvGrpSpPr/>
          <p:nvPr/>
        </p:nvGrpSpPr>
        <p:grpSpPr>
          <a:xfrm>
            <a:off x="5332446" y="1900764"/>
            <a:ext cx="4094216" cy="1864077"/>
            <a:chOff x="5085326" y="1401524"/>
            <a:chExt cx="5498568" cy="2479431"/>
          </a:xfrm>
        </p:grpSpPr>
        <p:pic>
          <p:nvPicPr>
            <p:cNvPr id="11" name="Picture 10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AC34BC96-5E0E-8C4C-19AA-B908DC80F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11045" y="1401524"/>
              <a:ext cx="2419546" cy="162779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39CA071-2F50-10EA-33F9-5F165CAD3E68}"/>
                </a:ext>
              </a:extLst>
            </p:cNvPr>
            <p:cNvSpPr txBox="1"/>
            <p:nvPr/>
          </p:nvSpPr>
          <p:spPr>
            <a:xfrm>
              <a:off x="5085326" y="3144076"/>
              <a:ext cx="5498568" cy="7368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获得图像背后的信息和知识，而不再仅仅是图像本身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输入是图像和文字，输出也可以是图像和文字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适用于楼宇运维中需要图像辅助的领域，新的</a:t>
              </a:r>
              <a:r>
                <a:rPr lang="en-US" altLang="zh-CN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AI</a:t>
              </a: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赋能的运维模式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2D6EC6A-250A-F5F7-1880-EF830FCB2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213449" y="1401524"/>
              <a:ext cx="2897596" cy="162779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ABC72AA-224A-6CFC-CAFF-B878B21EECDB}"/>
              </a:ext>
            </a:extLst>
          </p:cNvPr>
          <p:cNvSpPr txBox="1"/>
          <p:nvPr/>
        </p:nvSpPr>
        <p:spPr>
          <a:xfrm>
            <a:off x="5645064" y="1030319"/>
            <a:ext cx="58914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9000"/>
                </a:solidFill>
                <a:latin typeface="+mj-ea"/>
              </a:rPr>
              <a:t>AI Agent</a:t>
            </a:r>
          </a:p>
          <a:p>
            <a:pPr algn="ctr"/>
            <a:r>
              <a:rPr lang="zh-CN" altLang="en-US" b="1" dirty="0">
                <a:solidFill>
                  <a:srgbClr val="FF9000"/>
                </a:solidFill>
                <a:latin typeface="+mj-ea"/>
              </a:rPr>
              <a:t>（支持本地或云端的西门子楼宇大模型或第三方模型）</a:t>
            </a:r>
            <a:endParaRPr lang="en-US" b="1" dirty="0">
              <a:solidFill>
                <a:srgbClr val="FF9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E737D9-07DA-7ED7-7842-68835A682C4D}"/>
              </a:ext>
            </a:extLst>
          </p:cNvPr>
          <p:cNvSpPr txBox="1"/>
          <p:nvPr/>
        </p:nvSpPr>
        <p:spPr>
          <a:xfrm>
            <a:off x="787273" y="1030319"/>
            <a:ext cx="38193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9000"/>
                </a:solidFill>
                <a:latin typeface="+mj-ea"/>
              </a:rPr>
              <a:t>FIN Intelligence</a:t>
            </a:r>
          </a:p>
          <a:p>
            <a:pPr algn="ctr"/>
            <a:r>
              <a:rPr lang="zh-CN" altLang="en-US" b="1" dirty="0">
                <a:solidFill>
                  <a:srgbClr val="FF9000"/>
                </a:solidFill>
                <a:latin typeface="+mj-ea"/>
              </a:rPr>
              <a:t>（</a:t>
            </a:r>
            <a:r>
              <a:rPr lang="en-US" altLang="zh-CN" b="1" dirty="0">
                <a:solidFill>
                  <a:srgbClr val="FF9000"/>
                </a:solidFill>
                <a:latin typeface="+mj-ea"/>
              </a:rPr>
              <a:t>FIN Framework</a:t>
            </a:r>
            <a:r>
              <a:rPr lang="zh-CN" altLang="en-US" b="1" dirty="0">
                <a:solidFill>
                  <a:srgbClr val="FF9000"/>
                </a:solidFill>
                <a:latin typeface="+mj-ea"/>
              </a:rPr>
              <a:t> </a:t>
            </a:r>
            <a:r>
              <a:rPr lang="en-US" altLang="zh-CN" b="1" dirty="0">
                <a:solidFill>
                  <a:srgbClr val="FF9000"/>
                </a:solidFill>
                <a:latin typeface="+mj-ea"/>
              </a:rPr>
              <a:t>AI</a:t>
            </a:r>
            <a:r>
              <a:rPr lang="zh-CN" altLang="en-US" b="1" dirty="0">
                <a:solidFill>
                  <a:srgbClr val="FF9000"/>
                </a:solidFill>
                <a:latin typeface="+mj-ea"/>
              </a:rPr>
              <a:t>功能模块）</a:t>
            </a:r>
            <a:endParaRPr lang="en-US" b="1" dirty="0">
              <a:solidFill>
                <a:srgbClr val="FF9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355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59DF2-CE0B-5B1D-8148-E612C52F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4981172-5E72-05E9-03D6-02F24FED4B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2345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81172-5E72-05E9-03D6-02F24FED4B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193881-8DF9-13E6-5160-149B6C7A3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2025 | SI B CN | AIoT Lighting V1.0 | 2025-10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4F07079-40C7-788F-E6A6-573C50D89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59D8B-41AF-DD08-AFB0-2BC3E2AFCC56}"/>
              </a:ext>
            </a:extLst>
          </p:cNvPr>
          <p:cNvSpPr txBox="1"/>
          <p:nvPr/>
        </p:nvSpPr>
        <p:spPr>
          <a:xfrm>
            <a:off x="362775" y="1347684"/>
            <a:ext cx="5552251" cy="199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127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PingFang SC Regular" panose="020B0400000000000000" charset="-122"/>
              </a:defRPr>
            </a:pPr>
            <a:r>
              <a:rPr kumimoji="0" lang="zh-CN" altLang="en-US" sz="14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PingFang SC Regular" panose="020B0400000000000000" charset="-122"/>
              </a:rPr>
              <a:t>建筑面积：</a:t>
            </a:r>
            <a:r>
              <a:rPr lang="en-US" altLang="zh-CN" sz="1400" kern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PingFang SC Regular" panose="020B0400000000000000" charset="-122"/>
              </a:rPr>
              <a:t>3</a:t>
            </a:r>
            <a:r>
              <a:rPr kumimoji="0" lang="en-US" altLang="zh-CN" sz="14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PingFang SC Regular" panose="020B0400000000000000" charset="-122"/>
              </a:rPr>
              <a:t>00~2,000</a:t>
            </a:r>
            <a:r>
              <a:rPr kumimoji="0" lang="zh-CN" altLang="en-US" sz="14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PingFang SC Regular" panose="020B0400000000000000" charset="-122"/>
              </a:rPr>
              <a:t>平米</a:t>
            </a:r>
            <a:endParaRPr kumimoji="0" lang="en-US" altLang="zh-CN" sz="1400" b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PingFang SC Regular" panose="020B0400000000000000" charset="-122"/>
            </a:endParaRPr>
          </a:p>
          <a:p>
            <a:pPr marL="0" marR="0" lvl="0" indent="127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PingFang SC Regular" panose="020B0400000000000000" charset="-122"/>
              </a:defRPr>
            </a:pPr>
            <a:r>
              <a:rPr kumimoji="0" lang="zh-CN" altLang="en-US" sz="14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PingFang SC Regular" panose="020B0400000000000000" charset="-122"/>
              </a:rPr>
              <a:t>解决方案：将智能灯控、智能遮阳、智能环境监测等设备连接成完整的智能化系统方案，为门店打造了安防模式、营业模式、迎宾模式、品鉴模式、自动讲解模式、下班模式等多个智能场景，从个性化、智能化、数字化进行全面升级，以更亲切更年轻的形象向消费者靠拢，旨在颠覆式提升门店服务质量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90D0BD-340A-CDC1-B270-EE4DEFBFDD0A}"/>
              </a:ext>
            </a:extLst>
          </p:cNvPr>
          <p:cNvSpPr txBox="1"/>
          <p:nvPr/>
        </p:nvSpPr>
        <p:spPr>
          <a:xfrm>
            <a:off x="478957" y="544973"/>
            <a:ext cx="579801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kern="1200" dirty="0">
                <a:solidFill>
                  <a:prstClr val="white"/>
                </a:solidFill>
                <a:latin typeface="Arial"/>
                <a:ea typeface="+mn-ea"/>
                <a:cs typeface="+mn-cs"/>
              </a:rPr>
              <a:t>部分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案例参考：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专卖店、连锁餐饮、无人超市、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以及其他各类自助门店</a:t>
            </a:r>
            <a:endParaRPr kumimoji="0" lang="en-US" sz="2000" b="1" i="0" u="none" strike="noStrike" kern="1200" cap="none" spc="0" normalizeH="0" baseline="0" noProof="0" dirty="0" err="1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565223-1F8E-3055-57C7-7841D898E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620" y="579688"/>
            <a:ext cx="5506218" cy="2886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8B6C40-3A60-03B4-109D-1EB9606A9B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620" y="3530328"/>
            <a:ext cx="5487166" cy="28388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474F2A-BFD7-1C4E-7480-7ED2684EDC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957" y="3528080"/>
            <a:ext cx="5706271" cy="281979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EE01981-1D85-A822-5E47-BF56E8234566}"/>
              </a:ext>
            </a:extLst>
          </p:cNvPr>
          <p:cNvGrpSpPr/>
          <p:nvPr/>
        </p:nvGrpSpPr>
        <p:grpSpPr>
          <a:xfrm>
            <a:off x="11155601" y="705485"/>
            <a:ext cx="614680" cy="581660"/>
            <a:chOff x="11155601" y="705485"/>
            <a:chExt cx="614680" cy="581660"/>
          </a:xfrm>
        </p:grpSpPr>
        <p:sp>
          <p:nvSpPr>
            <p:cNvPr id="6" name="Freihandform: Form 204">
              <a:extLst>
                <a:ext uri="{FF2B5EF4-FFF2-40B4-BE49-F238E27FC236}">
                  <a16:creationId xmlns:a16="http://schemas.microsoft.com/office/drawing/2014/main" id="{478D70B5-A5D1-3837-D716-D71A8CAB484F}"/>
                </a:ext>
              </a:extLst>
            </p:cNvPr>
            <p:cNvSpPr/>
            <p:nvPr/>
          </p:nvSpPr>
          <p:spPr bwMode="gray">
            <a:xfrm>
              <a:off x="11155601" y="705485"/>
              <a:ext cx="614680" cy="581660"/>
            </a:xfrm>
            <a:custGeom>
              <a:avLst/>
              <a:gdLst>
                <a:gd name="connsiteX0" fmla="*/ 0 w 562755"/>
                <a:gd name="connsiteY0" fmla="*/ 0 h 532306"/>
                <a:gd name="connsiteX1" fmla="*/ 30422 w 562755"/>
                <a:gd name="connsiteY1" fmla="*/ 365012 h 532306"/>
                <a:gd name="connsiteX2" fmla="*/ 289895 w 562755"/>
                <a:gd name="connsiteY2" fmla="*/ 365012 h 532306"/>
                <a:gd name="connsiteX3" fmla="*/ 456278 w 562755"/>
                <a:gd name="connsiteY3" fmla="*/ 532306 h 532306"/>
                <a:gd name="connsiteX4" fmla="*/ 456278 w 562755"/>
                <a:gd name="connsiteY4" fmla="*/ 365012 h 532306"/>
                <a:gd name="connsiteX5" fmla="*/ 532333 w 562755"/>
                <a:gd name="connsiteY5" fmla="*/ 365012 h 532306"/>
                <a:gd name="connsiteX6" fmla="*/ 562755 w 562755"/>
                <a:gd name="connsiteY6" fmla="*/ 0 h 532306"/>
                <a:gd name="connsiteX7" fmla="*/ 0 w 562755"/>
                <a:gd name="connsiteY7" fmla="*/ 0 h 53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55" h="532306">
                  <a:moveTo>
                    <a:pt x="0" y="0"/>
                  </a:moveTo>
                  <a:lnTo>
                    <a:pt x="30422" y="365012"/>
                  </a:lnTo>
                  <a:lnTo>
                    <a:pt x="289895" y="365012"/>
                  </a:lnTo>
                  <a:lnTo>
                    <a:pt x="456278" y="532306"/>
                  </a:lnTo>
                  <a:lnTo>
                    <a:pt x="456278" y="365012"/>
                  </a:lnTo>
                  <a:lnTo>
                    <a:pt x="532333" y="365012"/>
                  </a:lnTo>
                  <a:lnTo>
                    <a:pt x="56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Freihandform: Form 205">
              <a:extLst>
                <a:ext uri="{FF2B5EF4-FFF2-40B4-BE49-F238E27FC236}">
                  <a16:creationId xmlns:a16="http://schemas.microsoft.com/office/drawing/2014/main" id="{2BBA08C0-48C9-5275-D14A-9CA03019D91C}"/>
                </a:ext>
              </a:extLst>
            </p:cNvPr>
            <p:cNvSpPr/>
            <p:nvPr/>
          </p:nvSpPr>
          <p:spPr bwMode="gray">
            <a:xfrm>
              <a:off x="11300381" y="775335"/>
              <a:ext cx="325755" cy="244475"/>
            </a:xfrm>
            <a:custGeom>
              <a:avLst/>
              <a:gdLst>
                <a:gd name="connsiteX0" fmla="*/ 546954 w 546953"/>
                <a:gd name="connsiteY0" fmla="*/ 56337 h 410644"/>
                <a:gd name="connsiteX1" fmla="*/ 191198 w 546953"/>
                <a:gd name="connsiteY1" fmla="*/ 410645 h 410644"/>
                <a:gd name="connsiteX2" fmla="*/ 0 w 546953"/>
                <a:gd name="connsiteY2" fmla="*/ 219071 h 410644"/>
                <a:gd name="connsiteX3" fmla="*/ 56954 w 546953"/>
                <a:gd name="connsiteY3" fmla="*/ 162734 h 410644"/>
                <a:gd name="connsiteX4" fmla="*/ 179447 w 546953"/>
                <a:gd name="connsiteY4" fmla="*/ 269104 h 410644"/>
                <a:gd name="connsiteX5" fmla="*/ 490456 w 546953"/>
                <a:gd name="connsiteY5" fmla="*/ 0 h 410644"/>
                <a:gd name="connsiteX6" fmla="*/ 546954 w 546953"/>
                <a:gd name="connsiteY6" fmla="*/ 56337 h 410644"/>
                <a:gd name="connsiteX7" fmla="*/ 546954 w 546953"/>
                <a:gd name="connsiteY7" fmla="*/ 56337 h 41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6953" h="410644">
                  <a:moveTo>
                    <a:pt x="546954" y="56337"/>
                  </a:moveTo>
                  <a:lnTo>
                    <a:pt x="191198" y="410645"/>
                  </a:lnTo>
                  <a:lnTo>
                    <a:pt x="0" y="219071"/>
                  </a:lnTo>
                  <a:lnTo>
                    <a:pt x="56954" y="162734"/>
                  </a:lnTo>
                  <a:lnTo>
                    <a:pt x="179447" y="269104"/>
                  </a:lnTo>
                  <a:lnTo>
                    <a:pt x="490456" y="0"/>
                  </a:lnTo>
                  <a:lnTo>
                    <a:pt x="546954" y="56337"/>
                  </a:lnTo>
                  <a:lnTo>
                    <a:pt x="546954" y="56337"/>
                  </a:lnTo>
                  <a:close/>
                </a:path>
              </a:pathLst>
            </a:custGeom>
            <a:solidFill>
              <a:schemeClr val="tx1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0273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C07D0-8A92-3EED-06BB-1FA256B4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1A2D2F5-AFE7-680C-7420-7846CA0E5A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7982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A2D2F5-AFE7-680C-7420-7846CA0E5A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56F1D06-7BD0-4D30-FB6E-B53BCD01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西门子</a:t>
            </a:r>
            <a:r>
              <a:rPr lang="en-US" altLang="zh-CN" dirty="0"/>
              <a:t>AIoT Lighting</a:t>
            </a:r>
            <a:r>
              <a:rPr lang="zh-CN" altLang="en-US" dirty="0"/>
              <a:t>软硬件一体化解决方案 </a:t>
            </a:r>
            <a:r>
              <a:rPr lang="en-US" altLang="zh-CN" dirty="0"/>
              <a:t>– </a:t>
            </a:r>
            <a:r>
              <a:rPr lang="zh-CN" altLang="en-US" dirty="0">
                <a:solidFill>
                  <a:srgbClr val="FF9000"/>
                </a:solidFill>
              </a:rPr>
              <a:t>方案构成及参考价格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0A003-8914-94F3-BB67-A0056D8710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rtl="0">
              <a:buClrTx/>
              <a:defRPr/>
            </a:pPr>
            <a:r>
              <a:rPr lang="en-US" kern="1200">
                <a:solidFill>
                  <a:prstClr val="white"/>
                </a:solidFill>
              </a:rPr>
              <a:t>Restricted | © Siemens 2025 | SI B CN | AIoT Lighting V1.0 | 2025-10</a:t>
            </a:r>
            <a:endParaRPr lang="en-US" kern="1200" dirty="0">
              <a:solidFill>
                <a:prstClr val="whit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E957F-EC28-35EB-CE8B-BFBC9AC003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BC495FD-1859-9F02-77FB-7ED7E1E21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917571"/>
              </p:ext>
            </p:extLst>
          </p:nvPr>
        </p:nvGraphicFramePr>
        <p:xfrm>
          <a:off x="410400" y="1496359"/>
          <a:ext cx="7733140" cy="456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022">
                  <a:extLst>
                    <a:ext uri="{9D8B030D-6E8A-4147-A177-3AD203B41FA5}">
                      <a16:colId xmlns:a16="http://schemas.microsoft.com/office/drawing/2014/main" val="2243272752"/>
                    </a:ext>
                  </a:extLst>
                </a:gridCol>
                <a:gridCol w="968707">
                  <a:extLst>
                    <a:ext uri="{9D8B030D-6E8A-4147-A177-3AD203B41FA5}">
                      <a16:colId xmlns:a16="http://schemas.microsoft.com/office/drawing/2014/main" val="2170139143"/>
                    </a:ext>
                  </a:extLst>
                </a:gridCol>
                <a:gridCol w="1475112">
                  <a:extLst>
                    <a:ext uri="{9D8B030D-6E8A-4147-A177-3AD203B41FA5}">
                      <a16:colId xmlns:a16="http://schemas.microsoft.com/office/drawing/2014/main" val="211967218"/>
                    </a:ext>
                  </a:extLst>
                </a:gridCol>
                <a:gridCol w="795438">
                  <a:extLst>
                    <a:ext uri="{9D8B030D-6E8A-4147-A177-3AD203B41FA5}">
                      <a16:colId xmlns:a16="http://schemas.microsoft.com/office/drawing/2014/main" val="3049954558"/>
                    </a:ext>
                  </a:extLst>
                </a:gridCol>
                <a:gridCol w="1485458">
                  <a:extLst>
                    <a:ext uri="{9D8B030D-6E8A-4147-A177-3AD203B41FA5}">
                      <a16:colId xmlns:a16="http://schemas.microsoft.com/office/drawing/2014/main" val="1922678737"/>
                    </a:ext>
                  </a:extLst>
                </a:gridCol>
                <a:gridCol w="2453403">
                  <a:extLst>
                    <a:ext uri="{9D8B030D-6E8A-4147-A177-3AD203B41FA5}">
                      <a16:colId xmlns:a16="http://schemas.microsoft.com/office/drawing/2014/main" val="576470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序号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类别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名称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单位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配置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备注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70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边缘引擎</a:t>
                      </a:r>
                      <a:endParaRPr lang="en-US" altLang="zh-CN" sz="1400" dirty="0"/>
                    </a:p>
                    <a:p>
                      <a:pPr algn="ctr"/>
                      <a:r>
                        <a:rPr lang="zh-CN" altLang="en-US" sz="1400" dirty="0"/>
                        <a:t>硬件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台</a:t>
                      </a:r>
                      <a:endParaRPr lang="en-U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bg1"/>
                          </a:solidFill>
                        </a:rPr>
                        <a:t>二选一，可根据项目点位数量和实际情况配置</a:t>
                      </a:r>
                      <a:endParaRPr lang="en-US" altLang="zh-CN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chemeClr val="bg1"/>
                          </a:solidFill>
                        </a:rPr>
                        <a:t>支持最大点位数 </a:t>
                      </a:r>
                      <a:r>
                        <a:rPr lang="en-US" altLang="zh-CN" sz="1400" b="0" dirty="0">
                          <a:solidFill>
                            <a:schemeClr val="bg1"/>
                          </a:solidFill>
                        </a:rPr>
                        <a:t>&lt;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CN" sz="1400" b="0" dirty="0">
                          <a:solidFill>
                            <a:schemeClr val="bg1"/>
                          </a:solidFill>
                        </a:rPr>
                        <a:t>3,000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</a:rPr>
                        <a:t>点</a:t>
                      </a:r>
                      <a:r>
                        <a:rPr lang="en-US" altLang="zh-CN" sz="1400" b="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</a:rPr>
                        <a:t>台</a:t>
                      </a:r>
                      <a:endParaRPr lang="en-US" altLang="zh-CN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88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NEXIO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台</a:t>
                      </a:r>
                      <a:endParaRPr 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</a:rPr>
                        <a:t>支持最大点位数 </a:t>
                      </a:r>
                      <a:r>
                        <a:rPr lang="en-US" altLang="zh-CN" sz="1400" b="0" dirty="0">
                          <a:solidFill>
                            <a:schemeClr val="bg1"/>
                          </a:solidFill>
                        </a:rPr>
                        <a:t>&lt; 5,000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</a:rPr>
                        <a:t>点</a:t>
                      </a:r>
                      <a:r>
                        <a:rPr lang="en-US" altLang="zh-CN" sz="1400" b="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</a:rPr>
                        <a:t>台</a:t>
                      </a:r>
                      <a:endParaRPr lang="en-US" altLang="zh-CN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644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软件授权</a:t>
                      </a:r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边缘引擎版</a:t>
                      </a:r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点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配合边缘引擎硬件使用</a:t>
                      </a:r>
                      <a:endParaRPr lang="en-US" altLang="zh-CN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i="0" dirty="0"/>
                        <a:t>内置</a:t>
                      </a:r>
                      <a:r>
                        <a:rPr lang="en-US" altLang="zh-CN" sz="1400" i="0" dirty="0"/>
                        <a:t>FIN Framework</a:t>
                      </a:r>
                      <a:r>
                        <a:rPr lang="zh-CN" altLang="en-US" sz="1400" dirty="0"/>
                        <a:t>，最小点位数</a:t>
                      </a:r>
                      <a:r>
                        <a:rPr lang="en-US" altLang="zh-CN" sz="1400" dirty="0"/>
                        <a:t>100</a:t>
                      </a:r>
                      <a:r>
                        <a:rPr lang="zh-CN" altLang="en-US" sz="1400" dirty="0"/>
                        <a:t>，点位扩展包有</a:t>
                      </a:r>
                      <a:r>
                        <a:rPr lang="en-US" altLang="zh-CN" sz="1400" dirty="0"/>
                        <a:t>100/500/1000</a:t>
                      </a:r>
                      <a:r>
                        <a:rPr lang="zh-CN" altLang="en-US" sz="1400" dirty="0"/>
                        <a:t>点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5869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服务器版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点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Option</a:t>
                      </a:r>
                      <a:r>
                        <a:rPr lang="zh-CN" altLang="en-US" sz="1400" dirty="0"/>
                        <a:t>可选</a:t>
                      </a:r>
                      <a:endParaRPr 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77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IoT</a:t>
                      </a:r>
                    </a:p>
                    <a:p>
                      <a:pPr algn="ctr"/>
                      <a:r>
                        <a:rPr lang="zh-CN" altLang="en-US" sz="1400" dirty="0"/>
                        <a:t>无线设备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产品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套</a:t>
                      </a:r>
                      <a:endParaRPr lang="en-U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参见典型建筑面积方案配置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zh-CN" altLang="en-US" sz="1400" dirty="0"/>
                        <a:t>典型建筑面积方案配置清单，另见附件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2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安装调试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项</a:t>
                      </a:r>
                      <a:endParaRPr 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08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i="0" dirty="0"/>
                        <a:t>AI</a:t>
                      </a:r>
                      <a:r>
                        <a:rPr lang="zh-CN" altLang="en-US" sz="1400" i="0" dirty="0"/>
                        <a:t>功能</a:t>
                      </a:r>
                      <a:endParaRPr lang="en-US" altLang="zh-CN" sz="14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0" dirty="0"/>
                        <a:t>FIN</a:t>
                      </a:r>
                      <a:r>
                        <a:rPr lang="zh-CN" altLang="en-US" sz="1400" i="0" dirty="0"/>
                        <a:t> </a:t>
                      </a:r>
                      <a:r>
                        <a:rPr lang="en-US" altLang="zh-CN" sz="1400" i="0" dirty="0"/>
                        <a:t>Intelligence</a:t>
                      </a:r>
                      <a:endParaRPr lang="en-US" sz="14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项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Option</a:t>
                      </a:r>
                      <a:r>
                        <a:rPr lang="zh-CN" altLang="en-US" sz="1400" dirty="0"/>
                        <a:t>可选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Demo</a:t>
                      </a:r>
                      <a:r>
                        <a:rPr lang="zh-CN" altLang="en-US" sz="1400" dirty="0"/>
                        <a:t>演示试用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79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AI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项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Option</a:t>
                      </a:r>
                      <a:r>
                        <a:rPr lang="zh-CN" altLang="en-US" sz="1400" dirty="0"/>
                        <a:t>可选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支持本地或云端的西门子楼宇大模型或第三方模型，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rgbClr val="FF9000"/>
                          </a:solidFill>
                          <a:latin typeface="+mn-lt"/>
                          <a:ea typeface="+mn-ea"/>
                          <a:cs typeface="+mn-cs"/>
                        </a:rPr>
                        <a:t>即日起</a:t>
                      </a:r>
                      <a:r>
                        <a:rPr lang="zh-CN" altLang="en-US" sz="1400" b="1" dirty="0">
                          <a:solidFill>
                            <a:srgbClr val="FF9000"/>
                          </a:solidFill>
                        </a:rPr>
                        <a:t>新签项目可免费试用至</a:t>
                      </a:r>
                      <a:r>
                        <a:rPr lang="en-US" altLang="zh-CN" sz="1400" b="1" dirty="0">
                          <a:solidFill>
                            <a:srgbClr val="FF9000"/>
                          </a:solidFill>
                        </a:rPr>
                        <a:t>2026</a:t>
                      </a:r>
                      <a:r>
                        <a:rPr lang="zh-CN" altLang="en-US" sz="1400" b="1" dirty="0">
                          <a:solidFill>
                            <a:srgbClr val="FF9000"/>
                          </a:solidFill>
                        </a:rPr>
                        <a:t>年</a:t>
                      </a:r>
                      <a:r>
                        <a:rPr lang="en-US" altLang="zh-CN" sz="1400" b="1" dirty="0">
                          <a:solidFill>
                            <a:srgbClr val="FF9000"/>
                          </a:solidFill>
                        </a:rPr>
                        <a:t>4</a:t>
                      </a:r>
                      <a:r>
                        <a:rPr lang="zh-CN" altLang="en-US" sz="1400" b="1" dirty="0">
                          <a:solidFill>
                            <a:srgbClr val="FF9000"/>
                          </a:solidFill>
                        </a:rPr>
                        <a:t>月底，接入西门子云端的楼宇大模型测试环境</a:t>
                      </a:r>
                      <a:endParaRPr lang="en-US" sz="1400" b="1" dirty="0">
                        <a:solidFill>
                          <a:srgbClr val="FF9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34886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776D07E-061E-1CD1-5B9C-B017A27267ED}"/>
              </a:ext>
            </a:extLst>
          </p:cNvPr>
          <p:cNvSpPr txBox="1"/>
          <p:nvPr/>
        </p:nvSpPr>
        <p:spPr>
          <a:xfrm>
            <a:off x="8574997" y="1486197"/>
            <a:ext cx="3163573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600" b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基于项目实践，汇总</a:t>
            </a:r>
            <a:r>
              <a:rPr kumimoji="0" lang="en-US" altLang="zh-CN" sz="1600" b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3</a:t>
            </a:r>
            <a:r>
              <a:rPr kumimoji="0" lang="zh-CN" altLang="en-US" sz="1600" b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种典型建筑面积配置的价格供参考：</a:t>
            </a:r>
            <a:endParaRPr kumimoji="0" lang="en-US" altLang="zh-CN" sz="16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+mn-ea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1600" kern="1200" dirty="0">
              <a:solidFill>
                <a:prstClr val="white"/>
              </a:solidFill>
              <a:latin typeface="Arial" panose="020B0604020202020204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16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  <a:sym typeface="+mn-ea"/>
              </a:rPr>
              <a:t>300</a:t>
            </a:r>
            <a:r>
              <a:rPr lang="zh-CN" altLang="en-US" sz="16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  <a:sym typeface="+mn-ea"/>
              </a:rPr>
              <a:t>平米：   </a:t>
            </a:r>
            <a:r>
              <a:rPr lang="en-US" altLang="zh-CN" sz="1600" b="1" kern="1200" dirty="0">
                <a:solidFill>
                  <a:schemeClr val="accent2"/>
                </a:solidFill>
                <a:latin typeface="Arial" panose="020B0604020202020204"/>
                <a:ea typeface="+mn-ea"/>
                <a:cs typeface="+mn-cs"/>
                <a:sym typeface="+mn-ea"/>
              </a:rPr>
              <a:t>180~230</a:t>
            </a:r>
            <a:r>
              <a:rPr lang="zh-CN" altLang="en-US" sz="1600" b="1" kern="1200" dirty="0">
                <a:solidFill>
                  <a:schemeClr val="accent2"/>
                </a:solidFill>
                <a:latin typeface="Arial" panose="020B0604020202020204"/>
                <a:ea typeface="+mn-ea"/>
                <a:cs typeface="+mn-cs"/>
                <a:sym typeface="+mn-ea"/>
              </a:rPr>
              <a:t>元</a:t>
            </a:r>
            <a:r>
              <a:rPr lang="en-US" altLang="zh-CN" sz="1600" b="1" kern="1200" dirty="0">
                <a:solidFill>
                  <a:schemeClr val="accent2"/>
                </a:solidFill>
                <a:latin typeface="Arial" panose="020B0604020202020204"/>
                <a:ea typeface="+mn-ea"/>
                <a:cs typeface="+mn-cs"/>
                <a:sym typeface="+mn-ea"/>
              </a:rPr>
              <a:t>/</a:t>
            </a:r>
            <a:r>
              <a:rPr lang="zh-CN" altLang="en-US" sz="1600" b="1" kern="1200" dirty="0">
                <a:solidFill>
                  <a:schemeClr val="accent2"/>
                </a:solidFill>
                <a:latin typeface="Arial" panose="020B0604020202020204"/>
                <a:ea typeface="+mn-ea"/>
                <a:cs typeface="+mn-cs"/>
                <a:sym typeface="+mn-ea"/>
              </a:rPr>
              <a:t>平米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+mn-ea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lvl="0" indent="-285750" algn="l" rtl="0">
              <a:buClrTx/>
              <a:buFont typeface="Wingdings" panose="05000000000000000000" pitchFamily="2" charset="2"/>
              <a:buChar char="Ø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平米：</a:t>
            </a:r>
            <a:r>
              <a:rPr lang="en-US" altLang="zh-CN" sz="1600" kern="1200" dirty="0">
                <a:solidFill>
                  <a:prstClr val="white"/>
                </a:solidFill>
                <a:latin typeface="Arial" panose="020B0604020202020204"/>
                <a:sym typeface="+mn-ea"/>
              </a:rPr>
              <a:t> </a:t>
            </a:r>
            <a:r>
              <a:rPr lang="en-US" altLang="zh-CN" sz="1600" b="1" kern="1200" dirty="0">
                <a:solidFill>
                  <a:schemeClr val="accent2"/>
                </a:solidFill>
                <a:latin typeface="Arial" panose="020B0604020202020204"/>
                <a:ea typeface="+mn-ea"/>
                <a:cs typeface="+mn-cs"/>
                <a:sym typeface="+mn-ea"/>
              </a:rPr>
              <a:t>130~200</a:t>
            </a:r>
            <a:r>
              <a:rPr lang="zh-CN" altLang="en-US" sz="1600" b="1" kern="1200" dirty="0">
                <a:solidFill>
                  <a:schemeClr val="accent2"/>
                </a:solidFill>
                <a:latin typeface="Arial" panose="020B0604020202020204"/>
                <a:ea typeface="+mn-ea"/>
                <a:cs typeface="+mn-cs"/>
                <a:sym typeface="+mn-ea"/>
              </a:rPr>
              <a:t>元</a:t>
            </a:r>
            <a:r>
              <a:rPr lang="en-US" altLang="zh-CN" sz="1600" b="1" kern="1200" dirty="0">
                <a:solidFill>
                  <a:schemeClr val="accent2"/>
                </a:solidFill>
                <a:latin typeface="Arial" panose="020B0604020202020204"/>
                <a:ea typeface="+mn-ea"/>
                <a:cs typeface="+mn-cs"/>
                <a:sym typeface="+mn-ea"/>
              </a:rPr>
              <a:t>/</a:t>
            </a:r>
            <a:r>
              <a:rPr lang="zh-CN" altLang="en-US" sz="1600" b="1" kern="1200" dirty="0">
                <a:solidFill>
                  <a:schemeClr val="accent2"/>
                </a:solidFill>
                <a:latin typeface="Arial" panose="020B0604020202020204"/>
                <a:ea typeface="+mn-ea"/>
                <a:cs typeface="+mn-cs"/>
                <a:sym typeface="+mn-ea"/>
              </a:rPr>
              <a:t>平米</a:t>
            </a:r>
            <a:endParaRPr lang="en-US" altLang="zh-CN" sz="1600" b="1" kern="1200" dirty="0">
              <a:solidFill>
                <a:schemeClr val="accent2"/>
              </a:solidFill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sz="1600" kern="1200" dirty="0">
              <a:solidFill>
                <a:prstClr val="white"/>
              </a:solidFill>
              <a:latin typeface="Arial" panose="020B0604020202020204"/>
              <a:ea typeface="+mn-ea"/>
              <a:cs typeface="+mn-cs"/>
            </a:endParaRPr>
          </a:p>
          <a:p>
            <a:pPr marL="285750" lvl="0" indent="-285750" algn="l" rtl="0">
              <a:buClrTx/>
              <a:buFont typeface="Wingdings" panose="05000000000000000000" pitchFamily="2" charset="2"/>
              <a:buChar char="Ø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2000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平米：</a:t>
            </a:r>
            <a:r>
              <a:rPr lang="en-US" altLang="zh-CN" sz="1600" kern="1200" dirty="0">
                <a:solidFill>
                  <a:prstClr val="white"/>
                </a:solidFill>
                <a:latin typeface="Arial" panose="020B0604020202020204"/>
                <a:sym typeface="+mn-ea"/>
              </a:rPr>
              <a:t>   </a:t>
            </a:r>
            <a:r>
              <a:rPr lang="en-US" altLang="zh-CN" sz="1600" b="1" kern="1200" dirty="0">
                <a:solidFill>
                  <a:schemeClr val="accent2"/>
                </a:solidFill>
                <a:latin typeface="Arial" panose="020B0604020202020204"/>
                <a:ea typeface="+mn-ea"/>
                <a:cs typeface="+mn-cs"/>
                <a:sym typeface="+mn-ea"/>
              </a:rPr>
              <a:t>90~150</a:t>
            </a:r>
            <a:r>
              <a:rPr lang="zh-CN" altLang="en-US" sz="1600" b="1" kern="1200" dirty="0">
                <a:solidFill>
                  <a:schemeClr val="accent2"/>
                </a:solidFill>
                <a:latin typeface="Arial" panose="020B0604020202020204"/>
                <a:ea typeface="+mn-ea"/>
                <a:cs typeface="+mn-cs"/>
                <a:sym typeface="+mn-ea"/>
              </a:rPr>
              <a:t>元</a:t>
            </a:r>
            <a:r>
              <a:rPr lang="en-US" altLang="zh-CN" sz="1600" b="1" kern="1200" dirty="0">
                <a:solidFill>
                  <a:schemeClr val="accent2"/>
                </a:solidFill>
                <a:latin typeface="Arial" panose="020B0604020202020204"/>
                <a:ea typeface="+mn-ea"/>
                <a:cs typeface="+mn-cs"/>
                <a:sym typeface="+mn-ea"/>
              </a:rPr>
              <a:t>/</a:t>
            </a:r>
            <a:r>
              <a:rPr lang="zh-CN" altLang="en-US" sz="1600" b="1" kern="1200" dirty="0">
                <a:solidFill>
                  <a:schemeClr val="accent2"/>
                </a:solidFill>
                <a:latin typeface="Arial" panose="020B0604020202020204"/>
                <a:ea typeface="+mn-ea"/>
                <a:cs typeface="+mn-cs"/>
                <a:sym typeface="+mn-ea"/>
              </a:rPr>
              <a:t>平米</a:t>
            </a:r>
            <a:endParaRPr lang="en-US" altLang="zh-CN" sz="1600" b="1" kern="1200" dirty="0">
              <a:solidFill>
                <a:schemeClr val="accent2"/>
              </a:solidFill>
              <a:latin typeface="Arial" panose="020B0604020202020204"/>
              <a:ea typeface="+mn-ea"/>
              <a:cs typeface="+mn-cs"/>
              <a:sym typeface="+mn-ea"/>
            </a:endParaRPr>
          </a:p>
          <a:p>
            <a:pPr marL="285750" lvl="0" indent="-285750" algn="l" rtl="0">
              <a:buClrTx/>
              <a:buFont typeface="Wingdings" panose="05000000000000000000" pitchFamily="2" charset="2"/>
              <a:buChar char="Ø"/>
              <a:defRPr/>
            </a:pPr>
            <a:endParaRPr lang="en-US" sz="1600" b="1" kern="1200" dirty="0">
              <a:solidFill>
                <a:schemeClr val="accent2"/>
              </a:solidFill>
              <a:latin typeface="Arial" panose="020B0604020202020204"/>
              <a:ea typeface="+mn-ea"/>
              <a:cs typeface="+mn-cs"/>
              <a:sym typeface="+mn-ea"/>
            </a:endParaRPr>
          </a:p>
          <a:p>
            <a:pPr lvl="0" algn="l" rtl="0">
              <a:buClrTx/>
              <a:defRPr/>
            </a:pPr>
            <a:endParaRPr lang="en-US" altLang="zh-CN" b="1" kern="1200" dirty="0">
              <a:solidFill>
                <a:srgbClr val="FF9000"/>
              </a:solidFill>
              <a:latin typeface="Arial" panose="020B0604020202020204"/>
              <a:ea typeface="+mn-ea"/>
              <a:cs typeface="+mn-cs"/>
              <a:sym typeface="+mn-ea"/>
            </a:endParaRPr>
          </a:p>
          <a:p>
            <a:pPr lvl="0" algn="l" rtl="0">
              <a:buClrTx/>
              <a:defRPr/>
            </a:pPr>
            <a:endParaRPr lang="en-US" altLang="zh-CN" sz="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  <a:sym typeface="+mn-ea"/>
            </a:endParaRPr>
          </a:p>
          <a:p>
            <a:pPr lvl="0" algn="l" rtl="0">
              <a:buClrTx/>
              <a:defRPr/>
            </a:pPr>
            <a:endParaRPr lang="en-US" altLang="zh-CN" sz="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  <a:sym typeface="+mn-ea"/>
            </a:endParaRPr>
          </a:p>
          <a:p>
            <a:pPr lvl="0" algn="l" rtl="0">
              <a:buClrTx/>
              <a:defRPr/>
            </a:pPr>
            <a:endParaRPr lang="en-US" altLang="zh-CN" sz="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  <a:sym typeface="+mn-ea"/>
            </a:endParaRPr>
          </a:p>
          <a:p>
            <a:pPr lvl="0" algn="l" rtl="0">
              <a:buClrTx/>
              <a:defRPr/>
            </a:pPr>
            <a:r>
              <a:rPr lang="zh-CN" altLang="en-US" sz="1600" kern="1200" dirty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  <a:sym typeface="+mn-ea"/>
              </a:rPr>
              <a:t>（</a:t>
            </a:r>
            <a:r>
              <a:rPr lang="en-US" altLang="zh-CN" sz="1600" kern="1200" dirty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  <a:sym typeface="+mn-ea"/>
              </a:rPr>
              <a:t>1</a:t>
            </a:r>
            <a:r>
              <a:rPr lang="zh-CN" altLang="en-US" sz="1600" kern="1200" dirty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  <a:sym typeface="+mn-ea"/>
              </a:rPr>
              <a:t>）</a:t>
            </a:r>
            <a:r>
              <a:rPr lang="zh-CN" altLang="en-US" sz="1600" kern="1200" dirty="0">
                <a:solidFill>
                  <a:schemeClr val="tx1"/>
                </a:solidFill>
                <a:latin typeface="Arial" panose="020B0604020202020204"/>
                <a:sym typeface="+mn-ea"/>
              </a:rPr>
              <a:t>仅</a:t>
            </a:r>
            <a:r>
              <a:rPr lang="zh-CN" altLang="en-US" sz="1600" kern="1200" dirty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  <a:sym typeface="+mn-ea"/>
              </a:rPr>
              <a:t>供区域销售和合作伙伴价格预估参考，最终以确认的项目方案中配置的软硬件设备数量为准；</a:t>
            </a:r>
            <a:endParaRPr lang="en-US" altLang="zh-CN" sz="16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  <a:sym typeface="+mn-ea"/>
            </a:endParaRPr>
          </a:p>
          <a:p>
            <a:pPr lvl="0" algn="l" rtl="0">
              <a:buClrTx/>
              <a:defRPr/>
            </a:pPr>
            <a:r>
              <a:rPr lang="zh-CN" altLang="en-US" sz="1600" kern="1200" dirty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  <a:sym typeface="+mn-ea"/>
              </a:rPr>
              <a:t>（</a:t>
            </a:r>
            <a:r>
              <a:rPr lang="en-US" altLang="zh-CN" sz="1600" kern="1200" dirty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  <a:sym typeface="+mn-ea"/>
              </a:rPr>
              <a:t>2</a:t>
            </a:r>
            <a:r>
              <a:rPr lang="zh-CN" altLang="en-US" sz="1600" kern="1200" dirty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  <a:sym typeface="+mn-ea"/>
              </a:rPr>
              <a:t>）</a:t>
            </a:r>
            <a:r>
              <a:rPr lang="zh-CN" altLang="en-US" sz="1600" kern="1200" dirty="0">
                <a:solidFill>
                  <a:schemeClr val="tx1"/>
                </a:solidFill>
                <a:latin typeface="Arial" panose="020B0604020202020204"/>
                <a:sym typeface="+mn-ea"/>
              </a:rPr>
              <a:t>上述含税</a:t>
            </a:r>
            <a:r>
              <a:rPr lang="en-US" altLang="zh-CN" sz="1600" kern="1200" dirty="0">
                <a:solidFill>
                  <a:schemeClr val="tx1"/>
                </a:solidFill>
                <a:latin typeface="Arial" panose="020B0604020202020204"/>
                <a:sym typeface="+mn-ea"/>
              </a:rPr>
              <a:t>13%</a:t>
            </a:r>
            <a:r>
              <a:rPr lang="zh-CN" altLang="en-US" sz="1600" kern="1200" dirty="0">
                <a:solidFill>
                  <a:schemeClr val="tx1"/>
                </a:solidFill>
                <a:latin typeface="Arial" panose="020B0604020202020204"/>
                <a:sym typeface="+mn-ea"/>
              </a:rPr>
              <a:t>的价格未考虑</a:t>
            </a:r>
            <a:r>
              <a:rPr lang="en-US" altLang="zh-CN" sz="1600" kern="1200" dirty="0">
                <a:solidFill>
                  <a:schemeClr val="tx1"/>
                </a:solidFill>
                <a:latin typeface="Arial" panose="020B0604020202020204"/>
                <a:sym typeface="+mn-ea"/>
              </a:rPr>
              <a:t>Option</a:t>
            </a:r>
            <a:r>
              <a:rPr lang="zh-CN" altLang="en-US" sz="1600" kern="1200" dirty="0">
                <a:solidFill>
                  <a:schemeClr val="tx1"/>
                </a:solidFill>
                <a:latin typeface="Arial" panose="020B0604020202020204"/>
                <a:sym typeface="+mn-ea"/>
              </a:rPr>
              <a:t>可选部分，质保一年；</a:t>
            </a:r>
            <a:endParaRPr lang="en-US" sz="16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31C40C-098C-AA6C-9935-86CF9E8A8934}"/>
              </a:ext>
            </a:extLst>
          </p:cNvPr>
          <p:cNvSpPr txBox="1"/>
          <p:nvPr/>
        </p:nvSpPr>
        <p:spPr>
          <a:xfrm>
            <a:off x="342900" y="1088837"/>
            <a:ext cx="2333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9000"/>
                </a:solidFill>
              </a:rPr>
              <a:t>方案构成：</a:t>
            </a:r>
            <a:endParaRPr 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5A2D41-F7C0-AB26-57CB-1EB9E08CC257}"/>
              </a:ext>
            </a:extLst>
          </p:cNvPr>
          <p:cNvSpPr txBox="1"/>
          <p:nvPr/>
        </p:nvSpPr>
        <p:spPr>
          <a:xfrm>
            <a:off x="8515211" y="1035047"/>
            <a:ext cx="2333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9000"/>
                </a:solidFill>
              </a:rPr>
              <a:t>参考价格：</a:t>
            </a:r>
            <a:endParaRPr lang="en-US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1831D1-D8DD-8D2D-87DA-0FDABB2AEB9B}"/>
              </a:ext>
            </a:extLst>
          </p:cNvPr>
          <p:cNvSpPr/>
          <p:nvPr/>
        </p:nvSpPr>
        <p:spPr>
          <a:xfrm>
            <a:off x="8574997" y="1511959"/>
            <a:ext cx="3163573" cy="2298491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AA12ED-FF32-B620-7FDF-A908A5A0D924}"/>
              </a:ext>
            </a:extLst>
          </p:cNvPr>
          <p:cNvSpPr/>
          <p:nvPr/>
        </p:nvSpPr>
        <p:spPr>
          <a:xfrm>
            <a:off x="8570753" y="4287490"/>
            <a:ext cx="3163573" cy="1775789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518374-7E2F-C98F-D9F6-A08BFC7D3554}"/>
              </a:ext>
            </a:extLst>
          </p:cNvPr>
          <p:cNvSpPr txBox="1"/>
          <p:nvPr/>
        </p:nvSpPr>
        <p:spPr>
          <a:xfrm>
            <a:off x="8515211" y="3918158"/>
            <a:ext cx="2333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9000"/>
                </a:solidFill>
              </a:rPr>
              <a:t>说明：</a:t>
            </a:r>
            <a:endParaRPr lang="en-US" b="1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142216E-178D-EF1B-1827-09AE30501A7C}"/>
              </a:ext>
            </a:extLst>
          </p:cNvPr>
          <p:cNvGrpSpPr/>
          <p:nvPr/>
        </p:nvGrpSpPr>
        <p:grpSpPr>
          <a:xfrm>
            <a:off x="11155601" y="705485"/>
            <a:ext cx="614680" cy="581660"/>
            <a:chOff x="11155601" y="705485"/>
            <a:chExt cx="614680" cy="581660"/>
          </a:xfrm>
        </p:grpSpPr>
        <p:sp>
          <p:nvSpPr>
            <p:cNvPr id="30" name="Freihandform: Form 204">
              <a:extLst>
                <a:ext uri="{FF2B5EF4-FFF2-40B4-BE49-F238E27FC236}">
                  <a16:creationId xmlns:a16="http://schemas.microsoft.com/office/drawing/2014/main" id="{7E942562-4806-68CC-336B-C08900AC0FE5}"/>
                </a:ext>
              </a:extLst>
            </p:cNvPr>
            <p:cNvSpPr/>
            <p:nvPr/>
          </p:nvSpPr>
          <p:spPr bwMode="gray">
            <a:xfrm>
              <a:off x="11155601" y="705485"/>
              <a:ext cx="614680" cy="581660"/>
            </a:xfrm>
            <a:custGeom>
              <a:avLst/>
              <a:gdLst>
                <a:gd name="connsiteX0" fmla="*/ 0 w 562755"/>
                <a:gd name="connsiteY0" fmla="*/ 0 h 532306"/>
                <a:gd name="connsiteX1" fmla="*/ 30422 w 562755"/>
                <a:gd name="connsiteY1" fmla="*/ 365012 h 532306"/>
                <a:gd name="connsiteX2" fmla="*/ 289895 w 562755"/>
                <a:gd name="connsiteY2" fmla="*/ 365012 h 532306"/>
                <a:gd name="connsiteX3" fmla="*/ 456278 w 562755"/>
                <a:gd name="connsiteY3" fmla="*/ 532306 h 532306"/>
                <a:gd name="connsiteX4" fmla="*/ 456278 w 562755"/>
                <a:gd name="connsiteY4" fmla="*/ 365012 h 532306"/>
                <a:gd name="connsiteX5" fmla="*/ 532333 w 562755"/>
                <a:gd name="connsiteY5" fmla="*/ 365012 h 532306"/>
                <a:gd name="connsiteX6" fmla="*/ 562755 w 562755"/>
                <a:gd name="connsiteY6" fmla="*/ 0 h 532306"/>
                <a:gd name="connsiteX7" fmla="*/ 0 w 562755"/>
                <a:gd name="connsiteY7" fmla="*/ 0 h 53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55" h="532306">
                  <a:moveTo>
                    <a:pt x="0" y="0"/>
                  </a:moveTo>
                  <a:lnTo>
                    <a:pt x="30422" y="365012"/>
                  </a:lnTo>
                  <a:lnTo>
                    <a:pt x="289895" y="365012"/>
                  </a:lnTo>
                  <a:lnTo>
                    <a:pt x="456278" y="532306"/>
                  </a:lnTo>
                  <a:lnTo>
                    <a:pt x="456278" y="365012"/>
                  </a:lnTo>
                  <a:lnTo>
                    <a:pt x="532333" y="365012"/>
                  </a:lnTo>
                  <a:lnTo>
                    <a:pt x="56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1" name="Freihandform: Form 205">
              <a:extLst>
                <a:ext uri="{FF2B5EF4-FFF2-40B4-BE49-F238E27FC236}">
                  <a16:creationId xmlns:a16="http://schemas.microsoft.com/office/drawing/2014/main" id="{1DEB6ADC-5C2D-F686-D8F6-5D2D77C862A1}"/>
                </a:ext>
              </a:extLst>
            </p:cNvPr>
            <p:cNvSpPr/>
            <p:nvPr/>
          </p:nvSpPr>
          <p:spPr bwMode="gray">
            <a:xfrm>
              <a:off x="11300381" y="775335"/>
              <a:ext cx="325755" cy="244475"/>
            </a:xfrm>
            <a:custGeom>
              <a:avLst/>
              <a:gdLst>
                <a:gd name="connsiteX0" fmla="*/ 546954 w 546953"/>
                <a:gd name="connsiteY0" fmla="*/ 56337 h 410644"/>
                <a:gd name="connsiteX1" fmla="*/ 191198 w 546953"/>
                <a:gd name="connsiteY1" fmla="*/ 410645 h 410644"/>
                <a:gd name="connsiteX2" fmla="*/ 0 w 546953"/>
                <a:gd name="connsiteY2" fmla="*/ 219071 h 410644"/>
                <a:gd name="connsiteX3" fmla="*/ 56954 w 546953"/>
                <a:gd name="connsiteY3" fmla="*/ 162734 h 410644"/>
                <a:gd name="connsiteX4" fmla="*/ 179447 w 546953"/>
                <a:gd name="connsiteY4" fmla="*/ 269104 h 410644"/>
                <a:gd name="connsiteX5" fmla="*/ 490456 w 546953"/>
                <a:gd name="connsiteY5" fmla="*/ 0 h 410644"/>
                <a:gd name="connsiteX6" fmla="*/ 546954 w 546953"/>
                <a:gd name="connsiteY6" fmla="*/ 56337 h 410644"/>
                <a:gd name="connsiteX7" fmla="*/ 546954 w 546953"/>
                <a:gd name="connsiteY7" fmla="*/ 56337 h 41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6953" h="410644">
                  <a:moveTo>
                    <a:pt x="546954" y="56337"/>
                  </a:moveTo>
                  <a:lnTo>
                    <a:pt x="191198" y="410645"/>
                  </a:lnTo>
                  <a:lnTo>
                    <a:pt x="0" y="219071"/>
                  </a:lnTo>
                  <a:lnTo>
                    <a:pt x="56954" y="162734"/>
                  </a:lnTo>
                  <a:lnTo>
                    <a:pt x="179447" y="269104"/>
                  </a:lnTo>
                  <a:lnTo>
                    <a:pt x="490456" y="0"/>
                  </a:lnTo>
                  <a:lnTo>
                    <a:pt x="546954" y="56337"/>
                  </a:lnTo>
                  <a:lnTo>
                    <a:pt x="546954" y="56337"/>
                  </a:lnTo>
                  <a:close/>
                </a:path>
              </a:pathLst>
            </a:custGeom>
            <a:solidFill>
              <a:schemeClr val="tx1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4743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F92213-C15A-CFC6-633D-87CC30F85DE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" r="9388"/>
          <a:stretch/>
        </p:blipFill>
        <p:spPr>
          <a:xfrm>
            <a:off x="4297679" y="0"/>
            <a:ext cx="7894321" cy="6858000"/>
          </a:xfrm>
          <a:prstGeom prst="rect">
            <a:avLst/>
          </a:prstGeom>
        </p:spPr>
      </p:pic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F4D67291-BFF9-3D4C-36B0-78BADF229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F4D67291-BFF9-3D4C-36B0-78BADF2293B0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Rechteck 47">
            <a:extLst>
              <a:ext uri="{FF2B5EF4-FFF2-40B4-BE49-F238E27FC236}">
                <a16:creationId xmlns:a16="http://schemas.microsoft.com/office/drawing/2014/main" id="{831B061E-4705-B068-8CC9-432A59294B0D}"/>
              </a:ext>
            </a:extLst>
          </p:cNvPr>
          <p:cNvSpPr>
            <a:spLocks/>
          </p:cNvSpPr>
          <p:nvPr/>
        </p:nvSpPr>
        <p:spPr bwMode="gray">
          <a:xfrm>
            <a:off x="1183482" y="891806"/>
            <a:ext cx="1903964" cy="178471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numCol="1" spcCol="7200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rPr>
              <a:t>勇担责任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rPr>
              <a:t>追求卓越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rPr>
              <a:t>矢志创新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CAAEEF7-FB16-FC11-453F-D1E21E6C6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297680" y="5353050"/>
            <a:ext cx="7894320" cy="150494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2" name="Siemens Logo">
            <a:extLst>
              <a:ext uri="{FF2B5EF4-FFF2-40B4-BE49-F238E27FC236}">
                <a16:creationId xmlns:a16="http://schemas.microsoft.com/office/drawing/2014/main" id="{3ECE2C99-B0DD-02AE-36D0-467EA8A0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B6D927D-84E1-0429-3296-E87E1A04C9C8}"/>
              </a:ext>
            </a:extLst>
          </p:cNvPr>
          <p:cNvSpPr/>
          <p:nvPr/>
        </p:nvSpPr>
        <p:spPr>
          <a:xfrm>
            <a:off x="735710" y="3049500"/>
            <a:ext cx="35619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rPr>
              <a:t>更多信息，敬请关注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rPr>
              <a:t>西门子</a:t>
            </a:r>
            <a:r>
              <a:rPr lang="zh-CN" altLang="en-US" sz="1600" kern="1200" dirty="0">
                <a:solidFill>
                  <a:prstClr val="white"/>
                </a:solidFill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rPr>
              <a:t>智能建筑公众号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554D2A-45E8-F87A-804F-3F5EAF0928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2025 | SI B CN | AIoT Lighting V1.0 | 2025-10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7C207B1-472F-9782-7552-A18AF515FD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76D3184-4B1E-CA26-17EA-32ADD91E5297}"/>
              </a:ext>
            </a:extLst>
          </p:cNvPr>
          <p:cNvSpPr txBox="1">
            <a:spLocks/>
          </p:cNvSpPr>
          <p:nvPr/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8F75478-E6B8-E7DF-7459-490FADFD2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54" y="3710475"/>
            <a:ext cx="261937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2070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52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_heNEicqEp_o3RUa6XsZ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INTERSECT_SLIDE" val="False"/>
  <p:tag name="CDT_NAVBARONTHISSLIDE" val="True"/>
  <p:tag name="CDT_DESIGNS_NAME" val="Siemens 2013 – 16:9"/>
  <p:tag name="CDT_MASTERS_NAME" val="Title fullscreen (big bar up)"/>
  <p:tag name="CDT_LAYOUT_TYPE" val="1"/>
  <p:tag name="CDT_ORIGINAL_DESIGNS_NAME" val="Siemens 2013 – 16:9"/>
  <p:tag name="CDT_ORIGINAL_MASTERS_NAME" val="Title fullscreen (big bar up)"/>
  <p:tag name="CDT_ORIGINAL_LAYOUT_TYPE" val="1"/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eubML3QvCkPQnYdnHm4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1_1"/>
  <p:tag name="KSO_WM_UNIT_PRESET_TEXT" val="单击添加项标题"/>
  <p:tag name="KSO_WM_UNIT_TEXT_TYPE" val="1"/>
  <p:tag name="KSO_WM_UNIT_TYPE" val="l_h_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1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3_1"/>
  <p:tag name="KSO_WM_UNIT_PRESET_TEXT" val="单击添加项标题"/>
  <p:tag name="KSO_WM_UNIT_TEXT_TYPE" val="1"/>
  <p:tag name="KSO_WM_UNIT_TYPE" val="l_h_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3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2_1"/>
  <p:tag name="KSO_WM_UNIT_PRESET_TEXT" val="单击添加项标题"/>
  <p:tag name="KSO_WM_UNIT_TEXT_TYPE" val="1"/>
  <p:tag name="KSO_WM_UNIT_TYPE" val="l_h_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2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4_1"/>
  <p:tag name="KSO_WM_UNIT_PRESET_TEXT" val="单击添加项标题"/>
  <p:tag name="KSO_WM_UNIT_TEXT_TYPE" val="1"/>
  <p:tag name="KSO_WM_UNIT_TYPE" val="l_h_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4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8544_1*i*1"/>
  <p:tag name="KSO_WM_TEMPLATE_CATEGORY" val="custom"/>
  <p:tag name="KSO_WM_TEMPLATE_INDEX" val="20238544"/>
  <p:tag name="KSO_WM_UNIT_LAYERLEVEL" val="1"/>
  <p:tag name="KSO_WM_TAG_VERSION" val="3.0"/>
  <p:tag name="KSO_WM_UNIT_PIC_EFFECT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8544_1*i*1"/>
  <p:tag name="KSO_WM_TEMPLATE_CATEGORY" val="custom"/>
  <p:tag name="KSO_WM_TEMPLATE_INDEX" val="20238544"/>
  <p:tag name="KSO_WM_UNIT_LAYERLEVEL" val="1"/>
  <p:tag name="KSO_WM_TAG_VERSION" val="3.0"/>
  <p:tag name="KSO_WM_UNIT_PIC_EFFECT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8544_1*i*1"/>
  <p:tag name="KSO_WM_TEMPLATE_CATEGORY" val="custom"/>
  <p:tag name="KSO_WM_TEMPLATE_INDEX" val="20238544"/>
  <p:tag name="KSO_WM_UNIT_LAYERLEVEL" val="1"/>
  <p:tag name="KSO_WM_TAG_VERSION" val="3.0"/>
  <p:tag name="KSO_WM_UNIT_PIC_EFFECT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C1B6"/>
      </a:hlink>
      <a:folHlink>
        <a:srgbClr val="00C1B6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Siemens Petrol | 0 153 153">
      <a:srgbClr val="009999"/>
    </a:custClr>
    <a:custClr name="Petrol Light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Petrol Light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Petrol Light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</Words>
  <Application>Microsoft Office PowerPoint</Application>
  <PresentationFormat>Widescreen</PresentationFormat>
  <Paragraphs>232</Paragraphs>
  <Slides>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Siemens Sans Global</vt:lpstr>
      <vt:lpstr>微软雅黑</vt:lpstr>
      <vt:lpstr>Arial</vt:lpstr>
      <vt:lpstr>Calibri</vt:lpstr>
      <vt:lpstr>Open Sans</vt:lpstr>
      <vt:lpstr>Open Sans Semibold</vt:lpstr>
      <vt:lpstr>Wingdings</vt:lpstr>
      <vt:lpstr>Siemens 2022</vt:lpstr>
      <vt:lpstr>think-cell Slide</vt:lpstr>
      <vt:lpstr>西门子AIoT智域光（AIoT Lighting） 软硬件一体化解决方案V1.0  西门子智能基础设施集团 智能建筑事业部 2025-10</vt:lpstr>
      <vt:lpstr>西门子AIoT Lighting解决方案 - 软硬件一体化解决方案 差异化解决方案 - 无线照明+IoT物联+场景控制+边缘引擎</vt:lpstr>
      <vt:lpstr> 西门子AIoT Lighting软硬件一体化解决方案 – 单站点或多站点分布式应用场景</vt:lpstr>
      <vt:lpstr>PowerPoint Presentation</vt:lpstr>
      <vt:lpstr>PowerPoint Presentation</vt:lpstr>
      <vt:lpstr>西门子AIoT Lighting软硬件一体化解决方案 – 空间场景AI赋能</vt:lpstr>
      <vt:lpstr>PowerPoint Presentation</vt:lpstr>
      <vt:lpstr>西门子AIoT Lighting软硬件一体化解决方案 – 方案构成及参考价格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AIoT_Lighting_V1.0</dc:title>
  <dc:creator/>
  <cp:keywords/>
  <dc:description/>
  <cp:lastModifiedBy>Fan, Lei (RC-CN SI B S V APP)</cp:lastModifiedBy>
  <cp:revision>172</cp:revision>
  <dcterms:created xsi:type="dcterms:W3CDTF">2024-05-14T17:21:30Z</dcterms:created>
  <dcterms:modified xsi:type="dcterms:W3CDTF">2025-11-14T03:02:13Z</dcterms:modified>
</cp:coreProperties>
</file>